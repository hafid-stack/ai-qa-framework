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[name], and this is my end-of-studies project for the Master in Big Data and Cloud Computing, supervised by [supervisor]. Thank you to the members of the jury.
The project asks one question: when you automate the writing of Selenium page objects, how much of that job should a language model actually do?
The answer I'll give is not an opinion. I built both approaches, ran them under identical conditions, and measured them against a metric set fixed before any measuring began.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I'll proceed.
The context first — why UI testing is expensive and why the obvious language-model answer deserves examining. Then the methodology and evaluation protocol, because the empirical claims later depend on it. Then the design of the system, the implementation, and finally the experimental evaluation, which is where the contribution lives.
About twenty-five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begin with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talk in one sentence.
Nobody disputes that a model can read HTML and produce a plausible page object. I built that; it works; you'll see its output.
The interesting question is the second one. The task looks like one job but it's two. Structure — which elements exist, how they repeat, how to address them durably. Semantics — what a thing should be called. Those have different economics, and a system respecting the boundary beats either pure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context: why this problem is worth solving, and why the obvious answer deserves examining.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Automated testing is organised in layers — the pyramid on the right. Unit tests at the bottom: fast, numerous, cheap. End-to-end browser tests at the top: slow, few, and the only ones that exercise the system the way a user does. This project is about that top layer.
Before a test can click a button it has to find that button among several hundred DOM nodes. That one operation is where all the cost lives, and it costs in three ways: every locator has to be authored, locators break when the document changes, and — the one this project turns on — not all locators are equally fragile.
An attribute put there for testing has no reason to change when the page is restyled. Visible text is the least stable thing on the page. That ordering is settled knowledge; it doesn't require judgement. It can be written down as a rule — and if it can be written down as a rule, a program can apply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engineering answer to locator fragility is the Page Object Model, and it's a good answer: no test contains a locator, all structural knowledge sits in one class per page. When the login button's identifier changes, one line changes and every test keeps passing.
But notice what it does. It makes the cost maintainable; it doesn't make it small. Every page still needs a class, every element still needs a locator and a method. And the work is extremely regular — find, choose, emit, repeat. Anything that regular is a candidate for automation. That's where this project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obvious proposal: hand the HTML to a model and ask for the page object. It's attractive, and it's being pursued commercially.
I want to be careful here, because it would be easy to sound like I'm attacking language models, and I'm not. Four properties are worth examining rather than assuming away.
Non-determinism — the same prompt twice may give different code, which matters for an artefact that goes into version control. Hallucination — invented method names are plausible in context, and only the compiler finds out. Cost proportional to input — you pay for the whole document, every regeneration. And no traceability — when a rule picks a locator I can tell you which rule fired; when a model picks one, there's no such account.
None of these says don't use a model. They say where you use it is a design decision with consequences — and that the question is empirical.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research questions.
RQ1 is the baseline comparison: can rules match a model on quality, given the same page?
RQ2 is the actual contribution, and it's worth reading carefully because it has two halves. Can the deterministic layer detect its own weakness — not "is it weak", but "does it know when it is weak"? And if it can, does escalating only those cases beat submitting the whole page?
RQ3 is the honest question. Not "which one wins", which would be the wrong shape of question, but on which dimensions each wins, and what we should build as a result.
I'll answer all three with measurements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subsystems, and the requirements split along that line. On the left a conventional test framework — which is the validation harness, not scaffolding. On the right the generation pipeline.
Three on the right are worth pointing at: record which rule produced each locator, which makes the output traceable; mark as low-confidence anything matched only by text, which is the gate; and degrade gracefully on model failure — if the model is unreachable you lose the review, not the page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non-functional requirements. The first three are what the architecture exists to satisfy, and what I measure in the evaluation: determinism, traceability, and cost proportional to ambiguity.
The note bottom-right is an engineering decision I got wrong first. Baseline output originally went into the source tree — until I realised a single non-compiling response would break the build for the whole project, including CI. So build safety became a requirement mid-project. It's recorded as added during the work rather than quietly corrected, because the reasoning is part of the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work was carried out, and — at greater length, because the empirical claims depend on it — how the evaluation was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incremental, evidence-driven approach rather than formal agile ceremony, which would be artificial for a single developer. Each increment: smallest useful capability, exercised against a real live site rather than a fixture, failures diagnosed to root cause.
The insistence on real sites matters more than it sounds. Two examples: a SauceDemo product is literally named "test dot allTheThings T-Shirt Red", producing attribute values with characters illegal in Java identifiers. And the second site used data-qa where the first used data-test — revealing I'd hard-coded the convention rather than configured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timeline, reconstructed from version-control history rather than drawn up afterwards — so it records what happened rather than a plan.
Roughly four weeks. First the framework foundation and both CI pipelines, then a robustness pass. The second half is the generation pipeline: fetcher and parser, then generator and AI layer, then the naive baseline, then repeated-component detection with its end-to-end validation. The last rows are the measurement campaign and the post-campaign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empirical claims here rest on a comparison, so the comparison has to be defined.
Nine metrics — and this matters — fixed before I started measuring, not chosen afterwards once I knew what looked good.
Fairness of the baseline is the obvious attack on a study like this: that the author built a straw man. The prompt is genuinely helpful — prefer stable attributes, skip hidden inputs, extend the same base class. Formatting artefacts are stripped rather than penalised. And both pipelines get identical HTML from the same session.
Then the box on the right, which I'd rather raise myself than have you raise. Pipeline A is my system; I designed the metrics and did the measuring. That's a real conflict of interest and it can't be argued away — but it can be constrained, in the three ways listed. And you'll see shortly that the worst defect in this entire study is in my own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stated the threats up front rather than burying them at the end, because I think that's what distinguishes a measured evaluation from a demonstration.
Construct: the metrics are proxies. Compilability is strong evidence of usability, but it is not maintainability — the property that ultimately matters and which I couldn't measure in the time available.
Internal: ground truth was counted by one observer, me. And a hosted model can be updated without notice, so the baseline may drift independently of anything I did.
External: two sites, one page in depth, both English-language e-commerce sites. Single-page applications with heavy re-rendering are not covered.
Reliability: Pipeline A's measurements reproduce exactly. Pipeline B's cannot, by the very property under study — so its results are reported per run, and the variance is itself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of the system, presented through UML, so the reasoning can be assessed independently of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actors. The QA engineer is the primary human one — and note the word "reviews": this actor reviews low-confidence output rather than merely consuming it. The system is deliberately human-in-the-loop; it never silently modifies an element on a model's opinion.
The CI server is realised twice over, which also demonstrates the portability requirement. And the LLM service is external, with availability that is not guaranteed — that last clause is a design constraint, not an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use cases: two belong to the test framework, four to the generation pipeline.
The one I'll spend a moment on is "review low-confidence selectors", because its precondition is the whole point of the architecture: extraction must have produced at least one selector matched only by text. If it hasn't, this use case never fires, no prompt is constructed, and nothing is spent.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matters most. If you remember one thing, remember this one.
On the left, the priority order: a dedicated test attribute first, then id, then name, and only if all three fail, the element's visible text. That's the durability gradient from earlier, encoded as a rule.
Now the part that makes this different from just generating carefully. Every selector records which rule produced it, in one field called matchedVia. Because it records that, the pipeline can look at its own output and say: this one came from the text fallback, so I could not find a stable way to address it. That is what isLowConfidence means, and it is one line of code.
That one line is the architecture. The model isn't called on the page, or on every element. It is called only on the elements the deterministic layer has itself flagged as weak. So the number of model calls is a function of how well the page is instrumented, not of how big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generation sequence. The engineer supplies a URL and a class name. The fetcher renders through Selenium — the input is the DOM after JavaScript has run, which for a client-rendered app is a completely different document from the HTTP response.
The parser isolates the regions. Component detection strips the cards it finds before the flat extraction happens, so the two extractions physically cannot disagree. The priority finder tags each selector with how it was matched.
And the last message back is the one that matters: n selectors, k of them low-confidence. That k is the number the architecture exists to drive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review path, and the thing to notice is where it starts: with a filter. Only low-confidence selectors enter this diagram at all.
Each gets a single-element prompt, not a whole-page one — a focused prompt gives a focused answer, one malformed element can't corrupt the rest, and cost scales with ambiguity.
And look at the alternative flow. If the service is unreachable or returns something unparseable, the element is reported as unreviewed and processing continues. You lose the review; you never lose the page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concerns, each in its own package. Data carriers hold what was observed and what was decided — including matchedVia, the hinge of the whole system. Processors do extraction, detection, selection and emission, one responsibility each.
And the AI abstraction is a single-method interface. That's dependency inversion applied for a concrete reason rather than as decoration: swapping the cloud model for a local one is a one-line change and no other class is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least obvious part of the design and, I think, the most interesting.
A page showing thirty products should not produce thirty near-identical fields. It should produce one component class instantiated thirty times.
The naive way to find those is to group by CSS class. That fails on real pages, because framework classes like row and container recur across unrelated regions. What actually characterises a repeated list is that its members share a parent — so the key is parent identity, tag and first class, with a threshold of three, because two similar siblings are a coincidence and three are a structure.
Two more rules. Only the outermost boundary is kept, because the outer element is the true card. And each detected card is physically removed from the document as it's captured — so whatever is extracted afterwards cannot contain a card's elements. That removes an entire category of bug rather than defending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technical realisation: layers, stack, and continuous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and two points worth stating.
The test framework at the bottom is not scaffolding — it's the validation harness. Without it, "these page objects are usable" is a claim; with it, it's a demonstration.
And the AI layer sits above everything rather than inside it. Delete it entirely and the generator produces exactly the same page objects — you simply lose the review of elements it already told you it was unsure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Java with Selenium and TestNG was retained because it remains dominant in the enterprise QA market this targets — and because the architectural contribution is not language-specific; the same gating idea would work in Playwright.
Two entries worth pointing at. The cloud model identifier is stated exactly, because an earlier phase used a different model and results from the two must never be mixed. And there are two backends, because a dependency on one hosted service was itself something I wanted to be able to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pipelines. GitHub Actions runs on every push on a clean machine — and the value of the clean machine is easily understated: it proves the project builds from the repository alone, without depending on state that happens to exist on my laptop.
Jenkins runs self-hosted in Docker with three separate stages, so the dashboard distinguishes a compilation failure from a test failure. It presented a concrete problem — a different processor architecture shipping Chromium rather than Chrome — solved by supplying the browser paths as environment variables. One test base class serves three environments with no conditional logic in any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system actually running, and what it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tool running. The engineer picks a pipeline, gives a URL and a class name.
Look at what it reports: two repeating patterns found — a four-item menu and a six-item product grid — then the summary, three flat selectors, zero low-confidence.
That zero is the measurement. Nothing met the escalation condition, so no prompt was constructed and the model was never called. This page object cost zero tokens — not small,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unedited apart from a few repeated lines removed for space.
The locators are attribute selectors, and the second uses data-test because that's what is on that element — which sounds obvious, and is a defect I'll come back to.
The class extends the same BasePage my hand-written page objects extend, so it inherits the same waiting strategy and click fallback. And the component getter returns six instances from one method — the class doesn't know how many products the shop has, and doesn't need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validation. An end-to-end test that adds two products to a cart on the second site and verifies the contents — and the navigation and interaction are driven entirely by generated page objects. No locator in that part was typed by hand.
I want to be precise rather than overstate it: the cart-side assertions do use hand-written locators, because I never generated a cart page object. So it isn't "no hand-written locators anywhere" — it's that everything the generator produced was good enough to drive a real purchase flow on a real site.
And notice getRoot. The generator can't anticipate everything, so every component exposes its root as an escape hatch. Here the test needs it because the add-to-cart control only appears on hover. That's the abstraction admitting its own limits, which I prefer to pretending it has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goes through a TestNG listener, so no test class contains any reporting code — adding a test costs nothing in reporting effort.
On the left, the retained run: eleven tests, all passing. On the right, a screenshot the framework captured itself.
I'll be honest about the mechanism. The listener obtains the driver by reflection over the test's superclass — which works, but assumes a particular hierarchy. It's the framework's weakest point, and it's recorded as future work rather than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project about testing whose own generator is untested is in an awkward position, and for most of this project mine was. That's now corrected.
Thirty-seven unit tests cover the three stages that contain the logic. They run against small hand-written fixtures — no browser, no network, no live site. That matters for a specific reason: a failure is always a defect in this project rather than an outage somewhere else. CI runs them first, as a fast gate.
And they're written against behaviour that has actually been wrong, not against the implementation. Each defect I'm about to show you has a test named after the property it violated.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now the measurements, which are the heart of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three runs per pipeline, same day, same environment, model identifier stated exactly.
The box on the right is what I'd most like noted. Everything both pipelines consumed and produced is retained, and the report ships with scripts that recompute the counts, the resolution, the compilability and the digests from those files alone, offline. Nobody has to take my word for any figure that follows.
And the red box, before you ask: one page in depth. Enough for categorical findings. Not enough for generalisation, and none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one. Each pipeline run three times on the same page, nothing changed in between, outputs hashed after normalising the class name — the only difference between runs that is intended.
Pipeline A: the same digest three times. Byte-identical. Five artefacts of that page are retained and all five give that digest.
Pipeline B: three different digests. Not slightly different — eighty lines, then fifty-two, then fifty.
The detail I'd point at is the package declaration. Run two used a different package from runs one and three, so in a real project the generated file would land in a different directory each time you regenerate.
And the footnote matters: prompt tokens were identical on all three runs, which confirms the input genuinely did not vary. The variation is entirely on the output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two. The baseline invented a Selenium API. By.dataTest does not exist — the By class declares exactly eight static factory methods, and I verified that against the official javadoc rather than from memory.
Eleven occurrences in run one, fifteen in run two. Both artefacts fail to compile. Run three expressed the same intent correctly — which tells you it isn't that the model doesn't know how. It's that whether it knows varies between invocations.
Three of three compile for the structured pipeline; one of three for the baseline.
And the box at the bottom is the structural point rather than a scoreboard point. Pipeline A cannot make this mistake. Not "did not" — cannot. It writes By.cssSelector and By.xpath from a fixed template over selectors observed in the document. There's no code path by which a method that doesn't exist could enter its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three, and this is where the gate pays off.
Pipeline A consumed zero tokens on this page. The reason is exactly the mechanism from the design chapter: zero low-confidence selectors, so nothing met the escalation condition, so no model call was made.
The baseline consumed 13,732 tokens for a single generation of the same page — about 13,100 of that just the HTML going up as prompt.
In money, three baseline runs cost about one and a third cents. I'd rather say plainly that's trivial for one page than dress it up. The point is the shape, not the size: the baseline's cost is a function of document size and is paid on every regeneration, while Pipeline A's would rise only if the page became less well instrumented.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four is about structure rather than counting.
Pipeline A produced three page-level selectors plus two component classes — a menu covering four items, a product card covering six. Pipeline B produced six individually hard-coded methods, one per product that happened to be on the page at that moment.
Functionally these are comparable; both let you add any product to the cart. Structurally they are not the same thing. The baseline encoded the shop's catalogue into the page object's public interface. Add a seventh product and the class is silently incomplete; remove one and there's a method that can no longer work.
Pipeline A's abstraction is indifferent to the number of products, because it addresses the repeating structure rather than its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I care most about getting right.
If I showed you only the baseline's defects this would be an advertisement. So here are mine — and the worst defect found anywhere in this study is in my own pipeline.
The code on screen was generated by Pipeline A. It looks reasonable. It compiles. And it can never work: the repeating card is itself an anchor with class bm-item, and the locator searches inside that anchor for another anchor with the same class. The cause is a mismatch between two libraries — jsoup's select includes the element you call it on, Selenium's findElement searches descendants only. Zero of four instances resolve.
Why didn't I catch it? Because no test ever executed that component. It compiled, it read correctly, and nobody ran it. That is itself a finding, and an uncomfortable one for a project about testing.
And the number on the right cuts against me too: the one baseline run that compiled had all nineteen locators correct. So the claim narrows, and I think correctly — the deterministic layer is not better at reading markup. It is better at being reproducible while doing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the measurements support? Not "language models are unsuited to this". Something more specific: the task decomposes, and the two approaches fail in different places.
Pipeline A is strong on structure and weak on semantics — its own names show that better than I could argue it: click6Polo, getText5HM. Pipeline B is the mirror image. It named things well, and on the second site inferred the data-qa convention unprompted, which my pipeline could only do because I configured it to. And it produced code that doesn't always compile and never reproduces.
Taking the questions in order: RQ1, yes, with the qualification that two of my component locators didn't resolve. RQ2, decisively on this page. RQ3, each dominates on different dimensions — and that is the useful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SLIDE IS YOURS TO REWRITE. What follows is a starting point, not a script — the jury can tell, and this is the one moment where they're listening to you rather than to the work. ⟧
What I take away is mostly about method rather than technology.
The diagnostic habit is the biggest one. The password-dialog defect took several attempts, and what solved it was not another flag but realising the dialog was not part of the page at all — Selenium drives the DOM, and that dialog is browser chrome. I wouldn't have got there by trying more things.
Second, working against real sites rather than fixtures. Everything interesting I found came from a real page being messier than I expected.
And third, measuring rather than asserting. Fixing the metric set before running anything, then reporting the results that went against my own system, was uncomfortable and is the part of this work I'm most confident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principal recommendation, and an architecture neither pipeline implements.
Use the deterministic layer to build the skeleton, then hand that skeleton to the model and ask for names and pruning.
Three reasons. The model gets a compact structured description instead of raw markup, so the cost collapses. Its output is names rather than code, so a hallucinated method physically cannot enter the artefact. And the pipeline already knows exactly which names it could not derive — that set is the natural thing to escalate.
It's the confidence gate applied one level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boundary between the two approaches turns out to be the boundary between structure and semantics. Structure is better handled deterministically, because determinism purchases three things a model cannot give you: reproducibility, traceability, and zero marginal cost. Semantics is where a model contributes something rules cannot supply.
Pipeline A won on determinism, cost, reliability, traceability and structural abstraction. Pipeline B won on naming, and on inferring a convention I had not told it about. Both produced defects, and both sets are reported at the same severity.
The result supports neither an endorsement nor a rejection of language models for this task. It supports a division of labour between them, along a line the measurements make visible.
Thank you for your attention. I'm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Two questions I'd expect, with short answers ready.
"Your evaluation covers one page — why should I believe it?" Because the findings that rest on it are categorical, not statistical. Non-determinism, a hallucinated API, zero escalation cost — each established by direct observation. And the report never states a rate; it says "these three runs".
"You designed the metrics, built one of the systems, and did the measuring." Yes. Three constraints: the metric set was frozen before the campaign; the worst defect in the study is in my own pipeline and is reported at the same severity as the baseline's; and every artefact is retained with scripts, so anyone can recompute the numbers without trusting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after this point is backup for questions. Do not present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full metric table for page 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full defect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detection algorithm in full,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img/enset-logo.png">    </p:cNvPr>
          <p:cNvPicPr>
            <a:picLocks noChangeAspect="1"/>
          </p:cNvPicPr>
          <p:nvPr/>
        </p:nvPicPr>
        <p:blipFill>
          <a:blip r:embed="rId1"/>
          <a:stretch>
            <a:fillRect/>
          </a:stretch>
        </p:blipFill>
        <p:spPr>
          <a:xfrm>
            <a:off x="411480" y="320040"/>
            <a:ext cx="1508760" cy="347472"/>
          </a:xfrm>
          <a:prstGeom prst="rect">
            <a:avLst/>
          </a:prstGeom>
        </p:spPr>
      </p:pic>
      <p:sp>
        <p:nvSpPr>
          <p:cNvPr id="3" name="Text 0"/>
          <p:cNvSpPr/>
          <p:nvPr/>
        </p:nvSpPr>
        <p:spPr>
          <a:xfrm>
            <a:off x="2194560" y="347472"/>
            <a:ext cx="7680960" cy="292608"/>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Département Mathématiques et Informatique</a:t>
            </a:r>
            <a:endParaRPr lang="en-US" sz="1150" dirty="0"/>
          </a:p>
        </p:txBody>
      </p:sp>
      <p:sp>
        <p:nvSpPr>
          <p:cNvPr id="4" name="Shape 1"/>
          <p:cNvSpPr/>
          <p:nvPr/>
        </p:nvSpPr>
        <p:spPr>
          <a:xfrm>
            <a:off x="411480" y="841248"/>
            <a:ext cx="11384280" cy="0"/>
          </a:xfrm>
          <a:prstGeom prst="line">
            <a:avLst/>
          </a:prstGeom>
          <a:noFill/>
          <a:ln w="9525">
            <a:solidFill>
              <a:srgbClr val="B9C0C4"/>
            </a:solidFill>
            <a:prstDash val="solid"/>
          </a:ln>
        </p:spPr>
      </p:sp>
      <p:sp>
        <p:nvSpPr>
          <p:cNvPr id="5" name="Text 2"/>
          <p:cNvSpPr/>
          <p:nvPr/>
        </p:nvSpPr>
        <p:spPr>
          <a:xfrm>
            <a:off x="640080" y="1078992"/>
            <a:ext cx="10881360" cy="411480"/>
          </a:xfrm>
          <a:prstGeom prst="rect">
            <a:avLst/>
          </a:prstGeom>
          <a:noFill/>
          <a:ln/>
        </p:spPr>
        <p:txBody>
          <a:bodyPr wrap="square" lIns="0" tIns="0" rIns="0" bIns="0" rtlCol="0" anchor="ctr"/>
          <a:lstStyle/>
          <a:p>
            <a:pPr algn="ctr" indent="0" marL="0">
              <a:buNone/>
            </a:pPr>
            <a:r>
              <a:rPr lang="en-US" sz="2000" b="1" dirty="0">
                <a:solidFill>
                  <a:srgbClr val="1A1A1A"/>
                </a:solidFill>
                <a:latin typeface="Calibri" pitchFamily="34" charset="0"/>
                <a:ea typeface="Calibri" pitchFamily="34" charset="-122"/>
                <a:cs typeface="Calibri" pitchFamily="34" charset="-120"/>
              </a:rPr>
              <a:t>SOUTENANCE DE PROJET DE FIN D’ÉTUDES</a:t>
            </a:r>
            <a:endParaRPr lang="en-US" sz="2000" dirty="0"/>
          </a:p>
        </p:txBody>
      </p:sp>
      <p:sp>
        <p:nvSpPr>
          <p:cNvPr id="6" name="Text 3"/>
          <p:cNvSpPr/>
          <p:nvPr/>
        </p:nvSpPr>
        <p:spPr>
          <a:xfrm>
            <a:off x="640080" y="1499616"/>
            <a:ext cx="10881360" cy="548640"/>
          </a:xfrm>
          <a:prstGeom prst="rect">
            <a:avLst/>
          </a:prstGeom>
          <a:noFill/>
          <a:ln/>
        </p:spPr>
        <p:txBody>
          <a:bodyPr wrap="square" lIns="0" tIns="0" rIns="0" bIns="0" rtlCol="0" anchor="ctr"/>
          <a:lstStyle/>
          <a:p>
            <a:pPr algn="ctr" indent="0" marL="0">
              <a:buNone/>
            </a:pPr>
            <a:r>
              <a:rPr lang="en-US" sz="1250" dirty="0">
                <a:solidFill>
                  <a:srgbClr val="6E7377"/>
                </a:solidFill>
                <a:latin typeface="Calibri" pitchFamily="34" charset="0"/>
                <a:ea typeface="Calibri" pitchFamily="34" charset="-122"/>
                <a:cs typeface="Calibri" pitchFamily="34" charset="-120"/>
              </a:rPr>
              <a:t>Pour l’obtention du diplôme de Master Professionnel</a:t>
            </a:r>
            <a:endParaRPr lang="en-US" sz="1250" dirty="0"/>
          </a:p>
          <a:p>
            <a:pPr algn="ctr" indent="0" marL="0">
              <a:buNone/>
            </a:pPr>
            <a:r>
              <a:rPr lang="en-US" sz="1250" dirty="0">
                <a:solidFill>
                  <a:srgbClr val="6E7377"/>
                </a:solidFill>
                <a:latin typeface="Calibri" pitchFamily="34" charset="0"/>
                <a:ea typeface="Calibri" pitchFamily="34" charset="-122"/>
                <a:cs typeface="Calibri" pitchFamily="34" charset="-120"/>
              </a:rPr>
              <a:t>en « Big Data &amp; Cloud Computing » — BDCC</a:t>
            </a:r>
            <a:endParaRPr lang="en-US" sz="1250" dirty="0"/>
          </a:p>
        </p:txBody>
      </p:sp>
      <p:sp>
        <p:nvSpPr>
          <p:cNvPr id="7" name="Shape 4"/>
          <p:cNvSpPr/>
          <p:nvPr/>
        </p:nvSpPr>
        <p:spPr>
          <a:xfrm>
            <a:off x="1371600" y="2194560"/>
            <a:ext cx="9418320" cy="1234440"/>
          </a:xfrm>
          <a:prstGeom prst="roundRect">
            <a:avLst>
              <a:gd name="adj" fmla="val 4444"/>
            </a:avLst>
          </a:prstGeom>
          <a:solidFill>
            <a:srgbClr val="F2F5F7"/>
          </a:solidFill>
          <a:ln w="9525">
            <a:solidFill>
              <a:srgbClr val="B9C0C4"/>
            </a:solidFill>
            <a:prstDash val="solid"/>
          </a:ln>
        </p:spPr>
      </p:sp>
      <p:sp>
        <p:nvSpPr>
          <p:cNvPr id="8" name="Text 5"/>
          <p:cNvSpPr/>
          <p:nvPr/>
        </p:nvSpPr>
        <p:spPr>
          <a:xfrm>
            <a:off x="1554480" y="2304288"/>
            <a:ext cx="9052560" cy="457200"/>
          </a:xfrm>
          <a:prstGeom prst="rect">
            <a:avLst/>
          </a:prstGeom>
          <a:noFill/>
          <a:ln/>
        </p:spPr>
        <p:txBody>
          <a:bodyPr wrap="square" lIns="0" tIns="0" rIns="0" bIns="0" rtlCol="0" anchor="ctr"/>
          <a:lstStyle/>
          <a:p>
            <a:pPr algn="ctr" indent="0" marL="0">
              <a:buNone/>
            </a:pPr>
            <a:r>
              <a:rPr lang="en-US" sz="2100" b="1" dirty="0">
                <a:solidFill>
                  <a:srgbClr val="074D83"/>
                </a:solidFill>
                <a:latin typeface="Cambria" pitchFamily="34" charset="0"/>
                <a:ea typeface="Cambria" pitchFamily="34" charset="-122"/>
                <a:cs typeface="Cambria" pitchFamily="34" charset="-120"/>
              </a:rPr>
              <a:t>AI-Assisted Generation of Selenium Page Objects</a:t>
            </a:r>
            <a:endParaRPr lang="en-US" sz="2100" dirty="0"/>
          </a:p>
        </p:txBody>
      </p:sp>
      <p:sp>
        <p:nvSpPr>
          <p:cNvPr id="9" name="Text 6"/>
          <p:cNvSpPr/>
          <p:nvPr/>
        </p:nvSpPr>
        <p:spPr>
          <a:xfrm>
            <a:off x="1554480" y="2761488"/>
            <a:ext cx="9052560" cy="566928"/>
          </a:xfrm>
          <a:prstGeom prst="rect">
            <a:avLst/>
          </a:prstGeom>
          <a:noFill/>
          <a:ln/>
        </p:spPr>
        <p:txBody>
          <a:bodyPr wrap="square" lIns="0" tIns="0" rIns="0" bIns="0" rtlCol="0" anchor="ctr"/>
          <a:lstStyle/>
          <a:p>
            <a:pPr algn="ctr" indent="0" marL="0">
              <a:buNone/>
            </a:pPr>
            <a:r>
              <a:rPr lang="en-US" sz="1300" dirty="0">
                <a:solidFill>
                  <a:srgbClr val="1A1A1A"/>
                </a:solidFill>
                <a:latin typeface="Calibri" pitchFamily="34" charset="0"/>
                <a:ea typeface="Calibri" pitchFamily="34" charset="-122"/>
                <a:cs typeface="Calibri" pitchFamily="34" charset="-120"/>
              </a:rPr>
              <a:t>A Structured Pipeline Compared Against Direct Large Language Model Generation</a:t>
            </a:r>
            <a:endParaRPr lang="en-US" sz="1300" dirty="0"/>
          </a:p>
        </p:txBody>
      </p:sp>
      <p:sp>
        <p:nvSpPr>
          <p:cNvPr id="10" name="Text 7"/>
          <p:cNvSpPr/>
          <p:nvPr/>
        </p:nvSpPr>
        <p:spPr>
          <a:xfrm>
            <a:off x="640080" y="3794760"/>
            <a:ext cx="3383280" cy="274320"/>
          </a:xfrm>
          <a:prstGeom prst="rect">
            <a:avLst/>
          </a:prstGeom>
          <a:noFill/>
          <a:ln/>
        </p:spPr>
        <p:txBody>
          <a:bodyPr wrap="square" lIns="0" tIns="0" rIns="0" bIns="0" rtlCol="0" anchor="ctr"/>
          <a:lstStyle/>
          <a:p>
            <a:pPr indent="0" marL="0">
              <a:buNone/>
            </a:pPr>
            <a:r>
              <a:rPr lang="en-US" sz="1150" b="1" dirty="0">
                <a:solidFill>
                  <a:srgbClr val="074D83"/>
                </a:solidFill>
                <a:latin typeface="Calibri" pitchFamily="34" charset="0"/>
                <a:ea typeface="Calibri" pitchFamily="34" charset="-122"/>
                <a:cs typeface="Calibri" pitchFamily="34" charset="-120"/>
              </a:rPr>
              <a:t>Soutenu le</a:t>
            </a:r>
            <a:endParaRPr lang="en-US" sz="1150" dirty="0"/>
          </a:p>
        </p:txBody>
      </p:sp>
      <p:sp>
        <p:nvSpPr>
          <p:cNvPr id="11" name="Shape 8"/>
          <p:cNvSpPr/>
          <p:nvPr/>
        </p:nvSpPr>
        <p:spPr>
          <a:xfrm>
            <a:off x="640080" y="4078224"/>
            <a:ext cx="3108960" cy="0"/>
          </a:xfrm>
          <a:prstGeom prst="line">
            <a:avLst/>
          </a:prstGeom>
          <a:noFill/>
          <a:ln w="9525">
            <a:solidFill>
              <a:srgbClr val="B9C0C4"/>
            </a:solidFill>
            <a:prstDash val="solid"/>
          </a:ln>
        </p:spPr>
      </p:sp>
      <p:sp>
        <p:nvSpPr>
          <p:cNvPr id="12" name="Text 9"/>
          <p:cNvSpPr/>
          <p:nvPr/>
        </p:nvSpPr>
        <p:spPr>
          <a:xfrm>
            <a:off x="640080" y="4160520"/>
            <a:ext cx="3383280" cy="1371600"/>
          </a:xfrm>
          <a:prstGeom prst="rect">
            <a:avLst/>
          </a:prstGeom>
          <a:noFill/>
          <a:ln/>
        </p:spPr>
        <p:txBody>
          <a:bodyPr wrap="square" lIns="0" tIns="0" rIns="0" bIns="0" rtlCol="0" anchor="ctr"/>
          <a:lstStyle/>
          <a:p>
            <a:pPr indent="0" marL="0">
              <a:lnSpc>
                <a:spcPts val="1700"/>
              </a:lnSpc>
              <a:buNone/>
            </a:pPr>
            <a:r>
              <a:rPr lang="en-US" sz="1150" dirty="0">
                <a:solidFill>
                  <a:srgbClr val="1A1A1A"/>
                </a:solidFill>
                <a:latin typeface="Calibri" pitchFamily="34" charset="0"/>
                <a:ea typeface="Calibri" pitchFamily="34" charset="-122"/>
                <a:cs typeface="Calibri" pitchFamily="34" charset="-120"/>
              </a:rPr>
              <a:t>[ defence date ]</a:t>
            </a:r>
            <a:endParaRPr lang="en-US" sz="1150" dirty="0"/>
          </a:p>
          <a:p>
            <a:pPr indent="0" marL="0">
              <a:lnSpc>
                <a:spcPts val="1700"/>
              </a:lnSpc>
              <a:buNone/>
            </a:pPr>
            <a:endParaRPr lang="en-US" sz="1150" dirty="0"/>
          </a:p>
          <a:p>
            <a:pPr indent="0" marL="0">
              <a:lnSpc>
                <a:spcPts val="1700"/>
              </a:lnSpc>
              <a:buNone/>
            </a:pPr>
            <a:r>
              <a:rPr lang="en-US" sz="1150" dirty="0">
                <a:solidFill>
                  <a:srgbClr val="1A1A1A"/>
                </a:solidFill>
                <a:latin typeface="Calibri" pitchFamily="34" charset="0"/>
                <a:ea typeface="Calibri" pitchFamily="34" charset="-122"/>
                <a:cs typeface="Calibri" pitchFamily="34" charset="-120"/>
              </a:rPr>
              <a:t>par : [ YOUR NAME ]</a:t>
            </a:r>
            <a:endParaRPr lang="en-US" sz="1150" dirty="0"/>
          </a:p>
        </p:txBody>
      </p:sp>
      <p:sp>
        <p:nvSpPr>
          <p:cNvPr id="13" name="Text 10"/>
          <p:cNvSpPr/>
          <p:nvPr/>
        </p:nvSpPr>
        <p:spPr>
          <a:xfrm>
            <a:off x="4434840" y="3794760"/>
            <a:ext cx="3383280" cy="274320"/>
          </a:xfrm>
          <a:prstGeom prst="rect">
            <a:avLst/>
          </a:prstGeom>
          <a:noFill/>
          <a:ln/>
        </p:spPr>
        <p:txBody>
          <a:bodyPr wrap="square" lIns="0" tIns="0" rIns="0" bIns="0" rtlCol="0" anchor="ctr"/>
          <a:lstStyle/>
          <a:p>
            <a:pPr indent="0" marL="0">
              <a:buNone/>
            </a:pPr>
            <a:r>
              <a:rPr lang="en-US" sz="1150" b="1" dirty="0">
                <a:solidFill>
                  <a:srgbClr val="074D83"/>
                </a:solidFill>
                <a:latin typeface="Calibri" pitchFamily="34" charset="0"/>
                <a:ea typeface="Calibri" pitchFamily="34" charset="-122"/>
                <a:cs typeface="Calibri" pitchFamily="34" charset="-120"/>
              </a:rPr>
              <a:t>Encadré par</a:t>
            </a:r>
            <a:endParaRPr lang="en-US" sz="1150" dirty="0"/>
          </a:p>
        </p:txBody>
      </p:sp>
      <p:sp>
        <p:nvSpPr>
          <p:cNvPr id="14" name="Shape 11"/>
          <p:cNvSpPr/>
          <p:nvPr/>
        </p:nvSpPr>
        <p:spPr>
          <a:xfrm>
            <a:off x="4434840" y="4078224"/>
            <a:ext cx="3108960" cy="0"/>
          </a:xfrm>
          <a:prstGeom prst="line">
            <a:avLst/>
          </a:prstGeom>
          <a:noFill/>
          <a:ln w="9525">
            <a:solidFill>
              <a:srgbClr val="B9C0C4"/>
            </a:solidFill>
            <a:prstDash val="solid"/>
          </a:ln>
        </p:spPr>
      </p:sp>
      <p:sp>
        <p:nvSpPr>
          <p:cNvPr id="15" name="Text 12"/>
          <p:cNvSpPr/>
          <p:nvPr/>
        </p:nvSpPr>
        <p:spPr>
          <a:xfrm>
            <a:off x="4434840" y="4160520"/>
            <a:ext cx="3383280" cy="1371600"/>
          </a:xfrm>
          <a:prstGeom prst="rect">
            <a:avLst/>
          </a:prstGeom>
          <a:noFill/>
          <a:ln/>
        </p:spPr>
        <p:txBody>
          <a:bodyPr wrap="square" lIns="0" tIns="0" rIns="0" bIns="0" rtlCol="0" anchor="ctr"/>
          <a:lstStyle/>
          <a:p>
            <a:pPr indent="0" marL="0">
              <a:lnSpc>
                <a:spcPts val="1700"/>
              </a:lnSpc>
              <a:buNone/>
            </a:pPr>
            <a:r>
              <a:rPr lang="en-US" sz="1150" dirty="0">
                <a:solidFill>
                  <a:srgbClr val="1A1A1A"/>
                </a:solidFill>
                <a:latin typeface="Calibri" pitchFamily="34" charset="0"/>
                <a:ea typeface="Calibri" pitchFamily="34" charset="-122"/>
                <a:cs typeface="Calibri" pitchFamily="34" charset="-120"/>
              </a:rPr>
              <a:t>[ supervisor name(s) ]</a:t>
            </a:r>
            <a:endParaRPr lang="en-US" sz="1150" dirty="0"/>
          </a:p>
        </p:txBody>
      </p:sp>
      <p:sp>
        <p:nvSpPr>
          <p:cNvPr id="16" name="Text 13"/>
          <p:cNvSpPr/>
          <p:nvPr/>
        </p:nvSpPr>
        <p:spPr>
          <a:xfrm>
            <a:off x="8229600" y="3794760"/>
            <a:ext cx="3383280" cy="274320"/>
          </a:xfrm>
          <a:prstGeom prst="rect">
            <a:avLst/>
          </a:prstGeom>
          <a:noFill/>
          <a:ln/>
        </p:spPr>
        <p:txBody>
          <a:bodyPr wrap="square" lIns="0" tIns="0" rIns="0" bIns="0" rtlCol="0" anchor="ctr"/>
          <a:lstStyle/>
          <a:p>
            <a:pPr indent="0" marL="0">
              <a:buNone/>
            </a:pPr>
            <a:r>
              <a:rPr lang="en-US" sz="1150" b="1" dirty="0">
                <a:solidFill>
                  <a:srgbClr val="074D83"/>
                </a:solidFill>
                <a:latin typeface="Calibri" pitchFamily="34" charset="0"/>
                <a:ea typeface="Calibri" pitchFamily="34" charset="-122"/>
                <a:cs typeface="Calibri" pitchFamily="34" charset="-120"/>
              </a:rPr>
              <a:t>Membres du jury</a:t>
            </a:r>
            <a:endParaRPr lang="en-US" sz="1150" dirty="0"/>
          </a:p>
        </p:txBody>
      </p:sp>
      <p:sp>
        <p:nvSpPr>
          <p:cNvPr id="17" name="Shape 14"/>
          <p:cNvSpPr/>
          <p:nvPr/>
        </p:nvSpPr>
        <p:spPr>
          <a:xfrm>
            <a:off x="8229600" y="4078224"/>
            <a:ext cx="3108960" cy="0"/>
          </a:xfrm>
          <a:prstGeom prst="line">
            <a:avLst/>
          </a:prstGeom>
          <a:noFill/>
          <a:ln w="9525">
            <a:solidFill>
              <a:srgbClr val="B9C0C4"/>
            </a:solidFill>
            <a:prstDash val="solid"/>
          </a:ln>
        </p:spPr>
      </p:sp>
      <p:sp>
        <p:nvSpPr>
          <p:cNvPr id="18" name="Text 15"/>
          <p:cNvSpPr/>
          <p:nvPr/>
        </p:nvSpPr>
        <p:spPr>
          <a:xfrm>
            <a:off x="8229600" y="4160520"/>
            <a:ext cx="3383280" cy="1371600"/>
          </a:xfrm>
          <a:prstGeom prst="rect">
            <a:avLst/>
          </a:prstGeom>
          <a:noFill/>
          <a:ln/>
        </p:spPr>
        <p:txBody>
          <a:bodyPr wrap="square" lIns="0" tIns="0" rIns="0" bIns="0" rtlCol="0" anchor="ctr"/>
          <a:lstStyle/>
          <a:p>
            <a:pPr indent="0" marL="0">
              <a:lnSpc>
                <a:spcPts val="1700"/>
              </a:lnSpc>
              <a:buNone/>
            </a:pPr>
            <a:r>
              <a:rPr lang="en-US" sz="1150" dirty="0">
                <a:solidFill>
                  <a:srgbClr val="1A1A1A"/>
                </a:solidFill>
                <a:latin typeface="Calibri" pitchFamily="34" charset="0"/>
                <a:ea typeface="Calibri" pitchFamily="34" charset="-122"/>
                <a:cs typeface="Calibri" pitchFamily="34" charset="-120"/>
              </a:rPr>
              <a:t>[ jury member 1 ]</a:t>
            </a:r>
            <a:endParaRPr lang="en-US" sz="1150" dirty="0"/>
          </a:p>
          <a:p>
            <a:pPr indent="0" marL="0">
              <a:lnSpc>
                <a:spcPts val="1700"/>
              </a:lnSpc>
              <a:buNone/>
            </a:pPr>
            <a:r>
              <a:rPr lang="en-US" sz="1150" dirty="0">
                <a:solidFill>
                  <a:srgbClr val="1A1A1A"/>
                </a:solidFill>
                <a:latin typeface="Calibri" pitchFamily="34" charset="0"/>
                <a:ea typeface="Calibri" pitchFamily="34" charset="-122"/>
                <a:cs typeface="Calibri" pitchFamily="34" charset="-120"/>
              </a:rPr>
              <a:t>[ jury member 2 ]</a:t>
            </a:r>
            <a:endParaRPr lang="en-US" sz="1150" dirty="0"/>
          </a:p>
          <a:p>
            <a:pPr indent="0" marL="0">
              <a:lnSpc>
                <a:spcPts val="1700"/>
              </a:lnSpc>
              <a:buNone/>
            </a:pPr>
            <a:r>
              <a:rPr lang="en-US" sz="1150" dirty="0">
                <a:solidFill>
                  <a:srgbClr val="1A1A1A"/>
                </a:solidFill>
                <a:latin typeface="Calibri" pitchFamily="34" charset="0"/>
                <a:ea typeface="Calibri" pitchFamily="34" charset="-122"/>
                <a:cs typeface="Calibri" pitchFamily="34" charset="-120"/>
              </a:rPr>
              <a:t>[ jury member 3 ]</a:t>
            </a:r>
            <a:endParaRPr lang="en-US" sz="1150" dirty="0"/>
          </a:p>
        </p:txBody>
      </p:sp>
      <p:sp>
        <p:nvSpPr>
          <p:cNvPr id="19" name="Shape 16"/>
          <p:cNvSpPr/>
          <p:nvPr/>
        </p:nvSpPr>
        <p:spPr>
          <a:xfrm>
            <a:off x="411480" y="5989320"/>
            <a:ext cx="11384280" cy="0"/>
          </a:xfrm>
          <a:prstGeom prst="line">
            <a:avLst/>
          </a:prstGeom>
          <a:noFill/>
          <a:ln w="9525">
            <a:solidFill>
              <a:srgbClr val="B9C0C4"/>
            </a:solidFill>
            <a:prstDash val="solid"/>
          </a:ln>
        </p:spPr>
      </p:sp>
      <p:sp>
        <p:nvSpPr>
          <p:cNvPr id="20" name="Text 17"/>
          <p:cNvSpPr/>
          <p:nvPr/>
        </p:nvSpPr>
        <p:spPr>
          <a:xfrm>
            <a:off x="411480" y="6053328"/>
            <a:ext cx="11384280" cy="320040"/>
          </a:xfrm>
          <a:prstGeom prst="rect">
            <a:avLst/>
          </a:prstGeom>
          <a:noFill/>
          <a:ln/>
        </p:spPr>
        <p:txBody>
          <a:bodyPr wrap="square" lIns="0" tIns="0" rIns="0" bIns="0" rtlCol="0" anchor="ctr"/>
          <a:lstStyle/>
          <a:p>
            <a:pPr algn="ctr" indent="0" marL="0">
              <a:buNone/>
            </a:pPr>
            <a:r>
              <a:rPr lang="en-US" sz="1050" dirty="0">
                <a:solidFill>
                  <a:srgbClr val="6E7377"/>
                </a:solidFill>
                <a:latin typeface="Calibri" pitchFamily="34" charset="0"/>
                <a:ea typeface="Calibri" pitchFamily="34" charset="-122"/>
                <a:cs typeface="Calibri" pitchFamily="34" charset="-120"/>
              </a:rPr>
              <a:t>ANNÉE UNIVERSITAIRE 2025 –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PLAN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PLAN</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Text 7"/>
          <p:cNvSpPr/>
          <p:nvPr/>
        </p:nvSpPr>
        <p:spPr>
          <a:xfrm>
            <a:off x="3657600" y="1673352"/>
            <a:ext cx="6035040" cy="365760"/>
          </a:xfrm>
          <a:prstGeom prst="rect">
            <a:avLst/>
          </a:prstGeom>
          <a:noFill/>
          <a:ln/>
        </p:spPr>
        <p:txBody>
          <a:bodyPr wrap="square" lIns="0" tIns="0" rIns="0" bIns="0" rtlCol="0" anchor="ctr"/>
          <a:lstStyle/>
          <a:p>
            <a:pPr indent="0" marL="0">
              <a:buNone/>
            </a:pPr>
            <a:r>
              <a:rPr lang="en-US" sz="1400" b="1" dirty="0">
                <a:solidFill>
                  <a:srgbClr val="6E7377"/>
                </a:solidFill>
                <a:latin typeface="Calibri" pitchFamily="34" charset="0"/>
                <a:ea typeface="Calibri" pitchFamily="34" charset="-122"/>
                <a:cs typeface="Calibri" pitchFamily="34" charset="-120"/>
              </a:rPr>
              <a:t>INTRODUCTION</a:t>
            </a:r>
            <a:endParaRPr lang="en-US" sz="1400" dirty="0"/>
          </a:p>
        </p:txBody>
      </p:sp>
      <p:sp>
        <p:nvSpPr>
          <p:cNvPr id="10" name="Shape 8"/>
          <p:cNvSpPr/>
          <p:nvPr/>
        </p:nvSpPr>
        <p:spPr>
          <a:xfrm>
            <a:off x="3017520" y="2231136"/>
            <a:ext cx="384048" cy="384048"/>
          </a:xfrm>
          <a:prstGeom prst="ellipse">
            <a:avLst/>
          </a:prstGeom>
          <a:solidFill>
            <a:srgbClr val="FFFFFF"/>
          </a:solidFill>
          <a:ln w="12700">
            <a:solidFill>
              <a:srgbClr val="074D83"/>
            </a:solidFill>
            <a:prstDash val="solid"/>
          </a:ln>
        </p:spPr>
      </p:sp>
      <p:sp>
        <p:nvSpPr>
          <p:cNvPr id="11" name="Text 9"/>
          <p:cNvSpPr/>
          <p:nvPr/>
        </p:nvSpPr>
        <p:spPr>
          <a:xfrm>
            <a:off x="3017520" y="2231136"/>
            <a:ext cx="384048" cy="384048"/>
          </a:xfrm>
          <a:prstGeom prst="rect">
            <a:avLst/>
          </a:prstGeom>
          <a:noFill/>
          <a:ln/>
        </p:spPr>
        <p:txBody>
          <a:bodyPr wrap="square" lIns="0" tIns="0" rIns="0" bIns="0" rtlCol="0" anchor="ctr"/>
          <a:lstStyle/>
          <a:p>
            <a:pPr algn="ctr" indent="0" marL="0">
              <a:buNone/>
            </a:pPr>
            <a:r>
              <a:rPr lang="en-US" sz="1300" dirty="0">
                <a:solidFill>
                  <a:srgbClr val="074D83"/>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3657600" y="2240280"/>
            <a:ext cx="6035040" cy="36576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GENERAL CONTEXT AND PROBLEM STATEMENT</a:t>
            </a:r>
            <a:endParaRPr lang="en-US" sz="1400" dirty="0"/>
          </a:p>
        </p:txBody>
      </p:sp>
      <p:sp>
        <p:nvSpPr>
          <p:cNvPr id="13" name="Shape 11"/>
          <p:cNvSpPr/>
          <p:nvPr/>
        </p:nvSpPr>
        <p:spPr>
          <a:xfrm>
            <a:off x="3017520" y="2798064"/>
            <a:ext cx="384048" cy="384048"/>
          </a:xfrm>
          <a:prstGeom prst="ellipse">
            <a:avLst/>
          </a:prstGeom>
          <a:solidFill>
            <a:srgbClr val="FFFFFF"/>
          </a:solidFill>
          <a:ln w="12700">
            <a:solidFill>
              <a:srgbClr val="074D83"/>
            </a:solidFill>
            <a:prstDash val="solid"/>
          </a:ln>
        </p:spPr>
      </p:sp>
      <p:sp>
        <p:nvSpPr>
          <p:cNvPr id="14" name="Text 12"/>
          <p:cNvSpPr/>
          <p:nvPr/>
        </p:nvSpPr>
        <p:spPr>
          <a:xfrm>
            <a:off x="3017520" y="2798064"/>
            <a:ext cx="384048" cy="384048"/>
          </a:xfrm>
          <a:prstGeom prst="rect">
            <a:avLst/>
          </a:prstGeom>
          <a:noFill/>
          <a:ln/>
        </p:spPr>
        <p:txBody>
          <a:bodyPr wrap="square" lIns="0" tIns="0" rIns="0" bIns="0" rtlCol="0" anchor="ctr"/>
          <a:lstStyle/>
          <a:p>
            <a:pPr algn="ctr" indent="0" marL="0">
              <a:buNone/>
            </a:pPr>
            <a:r>
              <a:rPr lang="en-US" sz="1300" dirty="0">
                <a:solidFill>
                  <a:srgbClr val="074D83"/>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3657600" y="2807208"/>
            <a:ext cx="6035040" cy="36576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METHODOLOGY, PLANNING AND EVALUATION PROTOCOL</a:t>
            </a:r>
            <a:endParaRPr lang="en-US" sz="1400" dirty="0"/>
          </a:p>
        </p:txBody>
      </p:sp>
      <p:sp>
        <p:nvSpPr>
          <p:cNvPr id="16" name="Shape 14"/>
          <p:cNvSpPr/>
          <p:nvPr/>
        </p:nvSpPr>
        <p:spPr>
          <a:xfrm>
            <a:off x="3017520" y="3364992"/>
            <a:ext cx="384048" cy="384048"/>
          </a:xfrm>
          <a:prstGeom prst="ellipse">
            <a:avLst/>
          </a:prstGeom>
          <a:solidFill>
            <a:srgbClr val="FFFFFF"/>
          </a:solidFill>
          <a:ln w="12700">
            <a:solidFill>
              <a:srgbClr val="074D83"/>
            </a:solidFill>
            <a:prstDash val="solid"/>
          </a:ln>
        </p:spPr>
      </p:sp>
      <p:sp>
        <p:nvSpPr>
          <p:cNvPr id="17" name="Text 15"/>
          <p:cNvSpPr/>
          <p:nvPr/>
        </p:nvSpPr>
        <p:spPr>
          <a:xfrm>
            <a:off x="3017520" y="3364992"/>
            <a:ext cx="384048" cy="384048"/>
          </a:xfrm>
          <a:prstGeom prst="rect">
            <a:avLst/>
          </a:prstGeom>
          <a:noFill/>
          <a:ln/>
        </p:spPr>
        <p:txBody>
          <a:bodyPr wrap="square" lIns="0" tIns="0" rIns="0" bIns="0" rtlCol="0" anchor="ctr"/>
          <a:lstStyle/>
          <a:p>
            <a:pPr algn="ctr" indent="0" marL="0">
              <a:buNone/>
            </a:pPr>
            <a:r>
              <a:rPr lang="en-US" sz="1300" dirty="0">
                <a:solidFill>
                  <a:srgbClr val="074D83"/>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3657600" y="3374136"/>
            <a:ext cx="6035040" cy="36576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FUNCTIONAL DESIGN</a:t>
            </a:r>
            <a:endParaRPr lang="en-US" sz="1400" dirty="0"/>
          </a:p>
        </p:txBody>
      </p:sp>
      <p:sp>
        <p:nvSpPr>
          <p:cNvPr id="19" name="Shape 17"/>
          <p:cNvSpPr/>
          <p:nvPr/>
        </p:nvSpPr>
        <p:spPr>
          <a:xfrm>
            <a:off x="3017520" y="3931920"/>
            <a:ext cx="384048" cy="384048"/>
          </a:xfrm>
          <a:prstGeom prst="ellipse">
            <a:avLst/>
          </a:prstGeom>
          <a:solidFill>
            <a:srgbClr val="FFFFFF"/>
          </a:solidFill>
          <a:ln w="12700">
            <a:solidFill>
              <a:srgbClr val="074D83"/>
            </a:solidFill>
            <a:prstDash val="solid"/>
          </a:ln>
        </p:spPr>
      </p:sp>
      <p:sp>
        <p:nvSpPr>
          <p:cNvPr id="20" name="Text 18"/>
          <p:cNvSpPr/>
          <p:nvPr/>
        </p:nvSpPr>
        <p:spPr>
          <a:xfrm>
            <a:off x="3017520" y="3931920"/>
            <a:ext cx="384048" cy="384048"/>
          </a:xfrm>
          <a:prstGeom prst="rect">
            <a:avLst/>
          </a:prstGeom>
          <a:noFill/>
          <a:ln/>
        </p:spPr>
        <p:txBody>
          <a:bodyPr wrap="square" lIns="0" tIns="0" rIns="0" bIns="0" rtlCol="0" anchor="ctr"/>
          <a:lstStyle/>
          <a:p>
            <a:pPr algn="ctr" indent="0" marL="0">
              <a:buNone/>
            </a:pPr>
            <a:r>
              <a:rPr lang="en-US" sz="1300" dirty="0">
                <a:solidFill>
                  <a:srgbClr val="074D83"/>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3657600" y="3941064"/>
            <a:ext cx="6035040" cy="36576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TECHNICAL DESIGN</a:t>
            </a:r>
            <a:endParaRPr lang="en-US" sz="1400" dirty="0"/>
          </a:p>
        </p:txBody>
      </p:sp>
      <p:sp>
        <p:nvSpPr>
          <p:cNvPr id="22" name="Shape 20"/>
          <p:cNvSpPr/>
          <p:nvPr/>
        </p:nvSpPr>
        <p:spPr>
          <a:xfrm>
            <a:off x="3017520" y="4498848"/>
            <a:ext cx="384048" cy="384048"/>
          </a:xfrm>
          <a:prstGeom prst="ellipse">
            <a:avLst/>
          </a:prstGeom>
          <a:solidFill>
            <a:srgbClr val="FFFFFF"/>
          </a:solidFill>
          <a:ln w="12700">
            <a:solidFill>
              <a:srgbClr val="074D83"/>
            </a:solidFill>
            <a:prstDash val="solid"/>
          </a:ln>
        </p:spPr>
      </p:sp>
      <p:sp>
        <p:nvSpPr>
          <p:cNvPr id="23" name="Text 21"/>
          <p:cNvSpPr/>
          <p:nvPr/>
        </p:nvSpPr>
        <p:spPr>
          <a:xfrm>
            <a:off x="3017520" y="4498848"/>
            <a:ext cx="384048" cy="384048"/>
          </a:xfrm>
          <a:prstGeom prst="rect">
            <a:avLst/>
          </a:prstGeom>
          <a:noFill/>
          <a:ln/>
        </p:spPr>
        <p:txBody>
          <a:bodyPr wrap="square" lIns="0" tIns="0" rIns="0" bIns="0" rtlCol="0" anchor="ctr"/>
          <a:lstStyle/>
          <a:p>
            <a:pPr algn="ctr" indent="0" marL="0">
              <a:buNone/>
            </a:pPr>
            <a:r>
              <a:rPr lang="en-US" sz="1300" dirty="0">
                <a:solidFill>
                  <a:srgbClr val="074D83"/>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3657600" y="4507992"/>
            <a:ext cx="6035040" cy="36576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IMPLEMENTATION</a:t>
            </a:r>
            <a:endParaRPr lang="en-US" sz="1400" dirty="0"/>
          </a:p>
        </p:txBody>
      </p:sp>
      <p:sp>
        <p:nvSpPr>
          <p:cNvPr id="25" name="Shape 23"/>
          <p:cNvSpPr/>
          <p:nvPr/>
        </p:nvSpPr>
        <p:spPr>
          <a:xfrm>
            <a:off x="3017520" y="5065776"/>
            <a:ext cx="384048" cy="384048"/>
          </a:xfrm>
          <a:prstGeom prst="ellipse">
            <a:avLst/>
          </a:prstGeom>
          <a:solidFill>
            <a:srgbClr val="FFFFFF"/>
          </a:solidFill>
          <a:ln w="12700">
            <a:solidFill>
              <a:srgbClr val="074D83"/>
            </a:solidFill>
            <a:prstDash val="solid"/>
          </a:ln>
        </p:spPr>
      </p:sp>
      <p:sp>
        <p:nvSpPr>
          <p:cNvPr id="26" name="Text 24"/>
          <p:cNvSpPr/>
          <p:nvPr/>
        </p:nvSpPr>
        <p:spPr>
          <a:xfrm>
            <a:off x="3017520" y="5065776"/>
            <a:ext cx="384048" cy="384048"/>
          </a:xfrm>
          <a:prstGeom prst="rect">
            <a:avLst/>
          </a:prstGeom>
          <a:noFill/>
          <a:ln/>
        </p:spPr>
        <p:txBody>
          <a:bodyPr wrap="square" lIns="0" tIns="0" rIns="0" bIns="0" rtlCol="0" anchor="ctr"/>
          <a:lstStyle/>
          <a:p>
            <a:pPr algn="ctr" indent="0" marL="0">
              <a:buNone/>
            </a:pPr>
            <a:r>
              <a:rPr lang="en-US" sz="1300" dirty="0">
                <a:solidFill>
                  <a:srgbClr val="074D83"/>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3657600" y="5074920"/>
            <a:ext cx="6035040" cy="36576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EXPERIMENTAL EVALUATION</a:t>
            </a:r>
            <a:endParaRPr lang="en-US" sz="1400" dirty="0"/>
          </a:p>
        </p:txBody>
      </p:sp>
      <p:sp>
        <p:nvSpPr>
          <p:cNvPr id="28" name="Text 26"/>
          <p:cNvSpPr/>
          <p:nvPr/>
        </p:nvSpPr>
        <p:spPr>
          <a:xfrm>
            <a:off x="3657600" y="5641848"/>
            <a:ext cx="6035040" cy="365760"/>
          </a:xfrm>
          <a:prstGeom prst="rect">
            <a:avLst/>
          </a:prstGeom>
          <a:noFill/>
          <a:ln/>
        </p:spPr>
        <p:txBody>
          <a:bodyPr wrap="square" lIns="0" tIns="0" rIns="0" bIns="0" rtlCol="0" anchor="ctr"/>
          <a:lstStyle/>
          <a:p>
            <a:pPr indent="0" marL="0">
              <a:buNone/>
            </a:pPr>
            <a:r>
              <a:rPr lang="en-US" sz="1400" b="1" dirty="0">
                <a:solidFill>
                  <a:srgbClr val="6E7377"/>
                </a:solidFill>
                <a:latin typeface="Calibri" pitchFamily="34" charset="0"/>
                <a:ea typeface="Calibri" pitchFamily="34" charset="-122"/>
                <a:cs typeface="Calibri" pitchFamily="34" charset="-120"/>
              </a:rPr>
              <a:t>PERSONAL ASSESSMENT · PERSPECTIVES · CONCLUSION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INTRODUCTION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3108960" y="3310128"/>
            <a:ext cx="5943600" cy="0"/>
          </a:xfrm>
          <a:prstGeom prst="line">
            <a:avLst/>
          </a:prstGeom>
          <a:noFill/>
          <a:ln w="12700">
            <a:solidFill>
              <a:srgbClr val="B9C0C4"/>
            </a:solidFill>
            <a:prstDash val="solid"/>
          </a:ln>
        </p:spPr>
      </p:sp>
      <p:sp>
        <p:nvSpPr>
          <p:cNvPr id="8" name="Text 6"/>
          <p:cNvSpPr/>
          <p:nvPr/>
        </p:nvSpPr>
        <p:spPr>
          <a:xfrm>
            <a:off x="1280160" y="3429000"/>
            <a:ext cx="9601200" cy="68580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INTRODUCTION</a:t>
            </a:r>
            <a:endParaRPr lang="en-US" sz="2600" dirty="0"/>
          </a:p>
        </p:txBody>
      </p:sp>
      <p:sp>
        <p:nvSpPr>
          <p:cNvPr id="9" name="Shape 7"/>
          <p:cNvSpPr/>
          <p:nvPr/>
        </p:nvSpPr>
        <p:spPr>
          <a:xfrm>
            <a:off x="3108960" y="4206240"/>
            <a:ext cx="5943600" cy="0"/>
          </a:xfrm>
          <a:prstGeom prst="line">
            <a:avLst/>
          </a:prstGeom>
          <a:noFill/>
          <a:ln w="12700">
            <a:solidFill>
              <a:srgbClr val="B9C0C4"/>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INTRODUCTION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1280160" y="914400"/>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A language model can write a page object.</a:t>
            </a:r>
            <a:endParaRPr lang="en-US" sz="1900" dirty="0"/>
          </a:p>
          <a:p>
            <a:pPr algn="ctr" indent="0" marL="0">
              <a:buNone/>
            </a:pPr>
            <a:r>
              <a:rPr lang="en-US" sz="1900" b="1" dirty="0">
                <a:solidFill>
                  <a:srgbClr val="1A1A1A"/>
                </a:solidFill>
                <a:latin typeface="Calibri" pitchFamily="34" charset="0"/>
                <a:ea typeface="Calibri" pitchFamily="34" charset="-122"/>
                <a:cs typeface="Calibri" pitchFamily="34" charset="-120"/>
              </a:rPr>
              <a:t>The question is whether it should write all of it.</a:t>
            </a:r>
            <a:endParaRPr lang="en-US" sz="1900" dirty="0"/>
          </a:p>
        </p:txBody>
      </p:sp>
      <p:sp>
        <p:nvSpPr>
          <p:cNvPr id="8" name="Shape 6"/>
          <p:cNvSpPr/>
          <p:nvPr/>
        </p:nvSpPr>
        <p:spPr>
          <a:xfrm>
            <a:off x="3657600" y="1335024"/>
            <a:ext cx="4846320" cy="0"/>
          </a:xfrm>
          <a:prstGeom prst="line">
            <a:avLst/>
          </a:prstGeom>
          <a:noFill/>
          <a:ln w="12700">
            <a:solidFill>
              <a:srgbClr val="1A1A1A"/>
            </a:solidFill>
            <a:prstDash val="solid"/>
          </a:ln>
        </p:spPr>
      </p:sp>
      <p:sp>
        <p:nvSpPr>
          <p:cNvPr id="9" name="Shape 7"/>
          <p:cNvSpPr/>
          <p:nvPr/>
        </p:nvSpPr>
        <p:spPr>
          <a:xfrm>
            <a:off x="822960" y="2148840"/>
            <a:ext cx="4937760" cy="3017520"/>
          </a:xfrm>
          <a:prstGeom prst="roundRect">
            <a:avLst>
              <a:gd name="adj" fmla="val 1818"/>
            </a:avLst>
          </a:prstGeom>
          <a:solidFill>
            <a:srgbClr val="F2F5F7"/>
          </a:solidFill>
          <a:ln w="9525">
            <a:solidFill>
              <a:srgbClr val="B9C0C4"/>
            </a:solidFill>
            <a:prstDash val="solid"/>
          </a:ln>
        </p:spPr>
      </p:sp>
      <p:sp>
        <p:nvSpPr>
          <p:cNvPr id="10" name="Text 8"/>
          <p:cNvSpPr/>
          <p:nvPr/>
        </p:nvSpPr>
        <p:spPr>
          <a:xfrm>
            <a:off x="1143000" y="2377440"/>
            <a:ext cx="4389120" cy="292608"/>
          </a:xfrm>
          <a:prstGeom prst="rect">
            <a:avLst/>
          </a:prstGeom>
          <a:noFill/>
          <a:ln/>
        </p:spPr>
        <p:txBody>
          <a:bodyPr wrap="square" lIns="0" tIns="0" rIns="0" bIns="0" rtlCol="0" anchor="ctr"/>
          <a:lstStyle/>
          <a:p>
            <a:pPr indent="0" marL="0">
              <a:buNone/>
            </a:pPr>
            <a:r>
              <a:rPr lang="en-US" sz="1300" b="1" dirty="0">
                <a:solidFill>
                  <a:srgbClr val="074D83"/>
                </a:solidFill>
                <a:latin typeface="Calibri" pitchFamily="34" charset="0"/>
                <a:ea typeface="Calibri" pitchFamily="34" charset="-122"/>
                <a:cs typeface="Calibri" pitchFamily="34" charset="-120"/>
              </a:rPr>
              <a:t>What is not in dispute</a:t>
            </a:r>
            <a:endParaRPr lang="en-US" sz="1300" dirty="0"/>
          </a:p>
        </p:txBody>
      </p:sp>
      <p:sp>
        <p:nvSpPr>
          <p:cNvPr id="11" name="Text 9"/>
          <p:cNvSpPr/>
          <p:nvPr/>
        </p:nvSpPr>
        <p:spPr>
          <a:xfrm>
            <a:off x="1143000" y="2743200"/>
            <a:ext cx="4343400" cy="21945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A modern model reads HTML and produces plausible Java.</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I built it. It works. You will see its output.</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The idea is being pursued commercially.</a:t>
            </a:r>
            <a:endParaRPr lang="en-US" sz="1300" dirty="0"/>
          </a:p>
        </p:txBody>
      </p:sp>
      <p:sp>
        <p:nvSpPr>
          <p:cNvPr id="12" name="Shape 10"/>
          <p:cNvSpPr/>
          <p:nvPr/>
        </p:nvSpPr>
        <p:spPr>
          <a:xfrm>
            <a:off x="6355080" y="2148840"/>
            <a:ext cx="4937760" cy="3017520"/>
          </a:xfrm>
          <a:prstGeom prst="roundRect">
            <a:avLst>
              <a:gd name="adj" fmla="val 1818"/>
            </a:avLst>
          </a:prstGeom>
          <a:solidFill>
            <a:srgbClr val="F2F5F7"/>
          </a:solidFill>
          <a:ln w="9525">
            <a:solidFill>
              <a:srgbClr val="B9C0C4"/>
            </a:solidFill>
            <a:prstDash val="solid"/>
          </a:ln>
        </p:spPr>
      </p:sp>
      <p:sp>
        <p:nvSpPr>
          <p:cNvPr id="13" name="Text 11"/>
          <p:cNvSpPr/>
          <p:nvPr/>
        </p:nvSpPr>
        <p:spPr>
          <a:xfrm>
            <a:off x="6675120" y="2377440"/>
            <a:ext cx="4389120" cy="292608"/>
          </a:xfrm>
          <a:prstGeom prst="rect">
            <a:avLst/>
          </a:prstGeom>
          <a:noFill/>
          <a:ln/>
        </p:spPr>
        <p:txBody>
          <a:bodyPr wrap="square" lIns="0" tIns="0" rIns="0" bIns="0" rtlCol="0" anchor="ctr"/>
          <a:lstStyle/>
          <a:p>
            <a:pPr indent="0" marL="0">
              <a:buNone/>
            </a:pPr>
            <a:r>
              <a:rPr lang="en-US" sz="1300" b="1" dirty="0">
                <a:solidFill>
                  <a:srgbClr val="074D83"/>
                </a:solidFill>
                <a:latin typeface="Calibri" pitchFamily="34" charset="0"/>
                <a:ea typeface="Calibri" pitchFamily="34" charset="-122"/>
                <a:cs typeface="Calibri" pitchFamily="34" charset="-120"/>
              </a:rPr>
              <a:t>What this project examines</a:t>
            </a:r>
            <a:endParaRPr lang="en-US" sz="1300" dirty="0"/>
          </a:p>
        </p:txBody>
      </p:sp>
      <p:sp>
        <p:nvSpPr>
          <p:cNvPr id="14" name="Text 12"/>
          <p:cNvSpPr/>
          <p:nvPr/>
        </p:nvSpPr>
        <p:spPr>
          <a:xfrm>
            <a:off x="6675120" y="2743200"/>
            <a:ext cx="4343400" cy="21945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The task looks like one job. It is two.</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Structure: which elements exist, how they repeat, how to address them.</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Semantics: what a thing should be called.</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The two have different economics.</a:t>
            </a:r>
            <a:endParaRPr lang="en-US" sz="1300" dirty="0"/>
          </a:p>
        </p:txBody>
      </p:sp>
      <p:sp>
        <p:nvSpPr>
          <p:cNvPr id="15" name="Text 13"/>
          <p:cNvSpPr/>
          <p:nvPr/>
        </p:nvSpPr>
        <p:spPr>
          <a:xfrm>
            <a:off x="822960" y="5394960"/>
            <a:ext cx="10515600" cy="411480"/>
          </a:xfrm>
          <a:prstGeom prst="rect">
            <a:avLst/>
          </a:prstGeom>
          <a:noFill/>
          <a:ln/>
        </p:spPr>
        <p:txBody>
          <a:bodyPr wrap="square" lIns="0" tIns="0" rIns="0" bIns="0" rtlCol="0" anchor="ctr"/>
          <a:lstStyle/>
          <a:p>
            <a:pPr algn="ctr" indent="0" marL="0">
              <a:buNone/>
            </a:pPr>
            <a:r>
              <a:rPr lang="en-US" sz="1600" i="1" dirty="0">
                <a:solidFill>
                  <a:srgbClr val="1A1A1A"/>
                </a:solidFill>
                <a:latin typeface="Cambria" pitchFamily="34" charset="0"/>
                <a:ea typeface="Cambria" pitchFamily="34" charset="-122"/>
                <a:cs typeface="Cambria" pitchFamily="34" charset="-120"/>
              </a:rPr>
              <a:t>This project divides the task — and measures the division.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GENERAL CONTEXT AND PROBLEM STATEMENT</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5733288" y="2286000"/>
            <a:ext cx="731520" cy="731520"/>
          </a:xfrm>
          <a:prstGeom prst="ellipse">
            <a:avLst/>
          </a:prstGeom>
          <a:solidFill>
            <a:srgbClr val="FFFFFF"/>
          </a:solidFill>
          <a:ln w="15875">
            <a:solidFill>
              <a:srgbClr val="074D83"/>
            </a:solidFill>
            <a:prstDash val="solid"/>
          </a:ln>
        </p:spPr>
      </p:sp>
      <p:sp>
        <p:nvSpPr>
          <p:cNvPr id="8" name="Text 6"/>
          <p:cNvSpPr/>
          <p:nvPr/>
        </p:nvSpPr>
        <p:spPr>
          <a:xfrm>
            <a:off x="5733288" y="2286000"/>
            <a:ext cx="731520" cy="731520"/>
          </a:xfrm>
          <a:prstGeom prst="rect">
            <a:avLst/>
          </a:prstGeom>
          <a:noFill/>
          <a:ln/>
        </p:spPr>
        <p:txBody>
          <a:bodyPr wrap="square" lIns="0" tIns="0" rIns="0" bIns="0" rtlCol="0" anchor="ctr"/>
          <a:lstStyle/>
          <a:p>
            <a:pPr algn="ctr" indent="0" marL="0">
              <a:buNone/>
            </a:pPr>
            <a:r>
              <a:rPr lang="en-US" sz="2000" dirty="0">
                <a:solidFill>
                  <a:srgbClr val="074D83"/>
                </a:solidFill>
                <a:latin typeface="Calibri" pitchFamily="34" charset="0"/>
                <a:ea typeface="Calibri" pitchFamily="34" charset="-122"/>
                <a:cs typeface="Calibri" pitchFamily="34" charset="-120"/>
              </a:rPr>
              <a:t>1</a:t>
            </a:r>
            <a:endParaRPr lang="en-US" sz="2000" dirty="0"/>
          </a:p>
        </p:txBody>
      </p:sp>
      <p:sp>
        <p:nvSpPr>
          <p:cNvPr id="9" name="Shape 7"/>
          <p:cNvSpPr/>
          <p:nvPr/>
        </p:nvSpPr>
        <p:spPr>
          <a:xfrm>
            <a:off x="3108960" y="3310128"/>
            <a:ext cx="5943600" cy="0"/>
          </a:xfrm>
          <a:prstGeom prst="line">
            <a:avLst/>
          </a:prstGeom>
          <a:noFill/>
          <a:ln w="12700">
            <a:solidFill>
              <a:srgbClr val="B9C0C4"/>
            </a:solidFill>
            <a:prstDash val="solid"/>
          </a:ln>
        </p:spPr>
      </p:sp>
      <p:sp>
        <p:nvSpPr>
          <p:cNvPr id="10" name="Text 8"/>
          <p:cNvSpPr/>
          <p:nvPr/>
        </p:nvSpPr>
        <p:spPr>
          <a:xfrm>
            <a:off x="1280160" y="3429000"/>
            <a:ext cx="9601200" cy="68580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GENERAL CONTEXT AND PROBLEM STATEMENT</a:t>
            </a:r>
            <a:endParaRPr lang="en-US" sz="2600" dirty="0"/>
          </a:p>
        </p:txBody>
      </p:sp>
      <p:sp>
        <p:nvSpPr>
          <p:cNvPr id="11" name="Shape 9"/>
          <p:cNvSpPr/>
          <p:nvPr/>
        </p:nvSpPr>
        <p:spPr>
          <a:xfrm>
            <a:off x="3108960" y="4206240"/>
            <a:ext cx="5943600" cy="0"/>
          </a:xfrm>
          <a:prstGeom prst="line">
            <a:avLst/>
          </a:prstGeom>
          <a:noFill/>
          <a:ln w="12700">
            <a:solidFill>
              <a:srgbClr val="B9C0C4"/>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GENERAL CONTEXT</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Problem statement</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pic>
        <p:nvPicPr>
          <p:cNvPr id="9" name="Image 0" descr="img/fig01.png">    </p:cNvPr>
          <p:cNvPicPr>
            <a:picLocks noChangeAspect="1"/>
          </p:cNvPicPr>
          <p:nvPr/>
        </p:nvPicPr>
        <p:blipFill>
          <a:blip r:embed="rId1"/>
          <a:stretch>
            <a:fillRect/>
          </a:stretch>
        </p:blipFill>
        <p:spPr>
          <a:xfrm>
            <a:off x="9235440" y="1600200"/>
            <a:ext cx="2286000" cy="3794760"/>
          </a:xfrm>
          <a:prstGeom prst="rect">
            <a:avLst/>
          </a:prstGeom>
        </p:spPr>
      </p:pic>
      <p:sp>
        <p:nvSpPr>
          <p:cNvPr id="10" name="Shape 7"/>
          <p:cNvSpPr/>
          <p:nvPr/>
        </p:nvSpPr>
        <p:spPr>
          <a:xfrm>
            <a:off x="685800" y="1737360"/>
            <a:ext cx="365760" cy="365760"/>
          </a:xfrm>
          <a:prstGeom prst="ellipse">
            <a:avLst/>
          </a:prstGeom>
          <a:solidFill>
            <a:srgbClr val="FFFFFF"/>
          </a:solidFill>
          <a:ln w="12700">
            <a:solidFill>
              <a:srgbClr val="074D83"/>
            </a:solidFill>
            <a:prstDash val="solid"/>
          </a:ln>
        </p:spPr>
      </p:sp>
      <p:sp>
        <p:nvSpPr>
          <p:cNvPr id="11" name="Text 8"/>
          <p:cNvSpPr/>
          <p:nvPr/>
        </p:nvSpPr>
        <p:spPr>
          <a:xfrm>
            <a:off x="685800" y="1737360"/>
            <a:ext cx="365760" cy="365760"/>
          </a:xfrm>
          <a:prstGeom prst="rect">
            <a:avLst/>
          </a:prstGeom>
          <a:noFill/>
          <a:ln/>
        </p:spPr>
        <p:txBody>
          <a:bodyPr wrap="square" lIns="0" tIns="0" rIns="0" bIns="0" rtlCol="0" anchor="ctr"/>
          <a:lstStyle/>
          <a:p>
            <a:pPr algn="ctr" indent="0" marL="0">
              <a:buNone/>
            </a:pPr>
            <a:r>
              <a:rPr lang="en-US" sz="1200" dirty="0">
                <a:solidFill>
                  <a:srgbClr val="074D83"/>
                </a:solidFill>
                <a:latin typeface="Calibri" pitchFamily="34" charset="0"/>
                <a:ea typeface="Calibri" pitchFamily="34" charset="-122"/>
                <a:cs typeface="Calibri" pitchFamily="34" charset="-120"/>
              </a:rPr>
              <a:t>1</a:t>
            </a:r>
            <a:endParaRPr lang="en-US" sz="1200" dirty="0"/>
          </a:p>
        </p:txBody>
      </p:sp>
      <p:sp>
        <p:nvSpPr>
          <p:cNvPr id="12" name="Text 9"/>
          <p:cNvSpPr/>
          <p:nvPr/>
        </p:nvSpPr>
        <p:spPr>
          <a:xfrm>
            <a:off x="1234440" y="1719072"/>
            <a:ext cx="7589520" cy="347472"/>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Locators must be authored.</a:t>
            </a:r>
            <a:endParaRPr lang="en-US" sz="1500" dirty="0"/>
          </a:p>
        </p:txBody>
      </p:sp>
      <p:sp>
        <p:nvSpPr>
          <p:cNvPr id="13" name="Text 10"/>
          <p:cNvSpPr/>
          <p:nvPr/>
        </p:nvSpPr>
        <p:spPr>
          <a:xfrm>
            <a:off x="1234440" y="2066544"/>
            <a:ext cx="7680960" cy="822960"/>
          </a:xfrm>
          <a:prstGeom prst="rect">
            <a:avLst/>
          </a:prstGeom>
          <a:noFill/>
          <a:ln/>
        </p:spPr>
        <p:txBody>
          <a:bodyPr wrap="square" lIns="0" tIns="0" rIns="0" bIns="0" rtlCol="0" anchor="ctr"/>
          <a:lstStyle/>
          <a:p>
            <a:pPr indent="0" marL="0">
              <a:buNone/>
            </a:pPr>
            <a:r>
              <a:rPr lang="en-US" sz="1250" dirty="0">
                <a:solidFill>
                  <a:srgbClr val="6E7377"/>
                </a:solidFill>
                <a:latin typeface="Calibri" pitchFamily="34" charset="0"/>
                <a:ea typeface="Calibri" pitchFamily="34" charset="-122"/>
                <a:cs typeface="Calibri" pitchFamily="34" charset="-120"/>
              </a:rPr>
              <a:t>Thirty interactive elements is thirty decisions, each needing a look at the markup. Mechanical, and unavoidable.</a:t>
            </a:r>
            <a:endParaRPr lang="en-US" sz="1250" dirty="0"/>
          </a:p>
        </p:txBody>
      </p:sp>
      <p:sp>
        <p:nvSpPr>
          <p:cNvPr id="14" name="Shape 11"/>
          <p:cNvSpPr/>
          <p:nvPr/>
        </p:nvSpPr>
        <p:spPr>
          <a:xfrm>
            <a:off x="685800" y="3108960"/>
            <a:ext cx="365760" cy="365760"/>
          </a:xfrm>
          <a:prstGeom prst="ellipse">
            <a:avLst/>
          </a:prstGeom>
          <a:solidFill>
            <a:srgbClr val="FFFFFF"/>
          </a:solidFill>
          <a:ln w="12700">
            <a:solidFill>
              <a:srgbClr val="074D83"/>
            </a:solidFill>
            <a:prstDash val="solid"/>
          </a:ln>
        </p:spPr>
      </p:sp>
      <p:sp>
        <p:nvSpPr>
          <p:cNvPr id="15" name="Text 12"/>
          <p:cNvSpPr/>
          <p:nvPr/>
        </p:nvSpPr>
        <p:spPr>
          <a:xfrm>
            <a:off x="685800" y="3108960"/>
            <a:ext cx="365760" cy="365760"/>
          </a:xfrm>
          <a:prstGeom prst="rect">
            <a:avLst/>
          </a:prstGeom>
          <a:noFill/>
          <a:ln/>
        </p:spPr>
        <p:txBody>
          <a:bodyPr wrap="square" lIns="0" tIns="0" rIns="0" bIns="0" rtlCol="0" anchor="ctr"/>
          <a:lstStyle/>
          <a:p>
            <a:pPr algn="ctr" indent="0" marL="0">
              <a:buNone/>
            </a:pPr>
            <a:r>
              <a:rPr lang="en-US" sz="1200" dirty="0">
                <a:solidFill>
                  <a:srgbClr val="074D83"/>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234440" y="3090672"/>
            <a:ext cx="7589520" cy="347472"/>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Locators are fragile.</a:t>
            </a:r>
            <a:endParaRPr lang="en-US" sz="1500" dirty="0"/>
          </a:p>
        </p:txBody>
      </p:sp>
      <p:sp>
        <p:nvSpPr>
          <p:cNvPr id="17" name="Text 14"/>
          <p:cNvSpPr/>
          <p:nvPr/>
        </p:nvSpPr>
        <p:spPr>
          <a:xfrm>
            <a:off x="1234440" y="3438144"/>
            <a:ext cx="7680960" cy="822960"/>
          </a:xfrm>
          <a:prstGeom prst="rect">
            <a:avLst/>
          </a:prstGeom>
          <a:noFill/>
          <a:ln/>
        </p:spPr>
        <p:txBody>
          <a:bodyPr wrap="square" lIns="0" tIns="0" rIns="0" bIns="0" rtlCol="0" anchor="ctr"/>
          <a:lstStyle/>
          <a:p>
            <a:pPr indent="0" marL="0">
              <a:buNone/>
            </a:pPr>
            <a:r>
              <a:rPr lang="en-US" sz="1250" dirty="0">
                <a:solidFill>
                  <a:srgbClr val="6E7377"/>
                </a:solidFill>
                <a:latin typeface="Calibri" pitchFamily="34" charset="0"/>
                <a:ea typeface="Calibri" pitchFamily="34" charset="-122"/>
                <a:cs typeface="Calibri" pitchFamily="34" charset="-120"/>
              </a:rPr>
              <a:t>A locator is a claim about a document’s structure. One wrapper element invalidates a positional path; a copy edit invalidates a text match.</a:t>
            </a:r>
            <a:endParaRPr lang="en-US" sz="1250" dirty="0"/>
          </a:p>
        </p:txBody>
      </p:sp>
      <p:sp>
        <p:nvSpPr>
          <p:cNvPr id="18" name="Shape 15"/>
          <p:cNvSpPr/>
          <p:nvPr/>
        </p:nvSpPr>
        <p:spPr>
          <a:xfrm>
            <a:off x="685800" y="4480560"/>
            <a:ext cx="365760" cy="365760"/>
          </a:xfrm>
          <a:prstGeom prst="ellipse">
            <a:avLst/>
          </a:prstGeom>
          <a:solidFill>
            <a:srgbClr val="074D83"/>
          </a:solidFill>
          <a:ln w="12700">
            <a:solidFill>
              <a:srgbClr val="074D83"/>
            </a:solidFill>
            <a:prstDash val="solid"/>
          </a:ln>
        </p:spPr>
      </p:sp>
      <p:sp>
        <p:nvSpPr>
          <p:cNvPr id="19" name="Text 16"/>
          <p:cNvSpPr/>
          <p:nvPr/>
        </p:nvSpPr>
        <p:spPr>
          <a:xfrm>
            <a:off x="685800" y="4480560"/>
            <a:ext cx="365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p:nvPr/>
        </p:nvSpPr>
        <p:spPr>
          <a:xfrm>
            <a:off x="1234440" y="4462272"/>
            <a:ext cx="7589520" cy="347472"/>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Locator quality is not uniform.</a:t>
            </a:r>
            <a:endParaRPr lang="en-US" sz="1500" dirty="0"/>
          </a:p>
        </p:txBody>
      </p:sp>
      <p:sp>
        <p:nvSpPr>
          <p:cNvPr id="21" name="Text 18"/>
          <p:cNvSpPr/>
          <p:nvPr/>
        </p:nvSpPr>
        <p:spPr>
          <a:xfrm>
            <a:off x="1234440" y="4809744"/>
            <a:ext cx="7680960" cy="822960"/>
          </a:xfrm>
          <a:prstGeom prst="rect">
            <a:avLst/>
          </a:prstGeom>
          <a:noFill/>
          <a:ln/>
        </p:spPr>
        <p:txBody>
          <a:bodyPr wrap="square" lIns="0" tIns="0" rIns="0" bIns="0" rtlCol="0" anchor="ctr"/>
          <a:lstStyle/>
          <a:p>
            <a:pPr indent="0" marL="0">
              <a:buNone/>
            </a:pPr>
            <a:r>
              <a:rPr lang="en-US" sz="1250" dirty="0">
                <a:solidFill>
                  <a:srgbClr val="6E7377"/>
                </a:solidFill>
                <a:latin typeface="Calibri" pitchFamily="34" charset="0"/>
                <a:ea typeface="Calibri" pitchFamily="34" charset="-122"/>
                <a:cs typeface="Calibri" pitchFamily="34" charset="-120"/>
              </a:rPr>
              <a:t>A dedicated test attribute has no reason to change. Visible text has every reason to. That gradient can be encoded as a rule.</a:t>
            </a:r>
            <a:endParaRPr lang="en-US" sz="1250" dirty="0"/>
          </a:p>
        </p:txBody>
      </p:sp>
      <p:sp>
        <p:nvSpPr>
          <p:cNvPr id="22" name="Text 19"/>
          <p:cNvSpPr/>
          <p:nvPr/>
        </p:nvSpPr>
        <p:spPr>
          <a:xfrm>
            <a:off x="685800" y="5715000"/>
            <a:ext cx="8321040" cy="457200"/>
          </a:xfrm>
          <a:prstGeom prst="rect">
            <a:avLst/>
          </a:prstGeom>
          <a:noFill/>
          <a:ln/>
        </p:spPr>
        <p:txBody>
          <a:bodyPr wrap="square" lIns="0" tIns="0" rIns="0" bIns="0" rtlCol="0" anchor="ctr"/>
          <a:lstStyle/>
          <a:p>
            <a:pPr indent="0" marL="0">
              <a:buNone/>
            </a:pPr>
            <a:r>
              <a:rPr lang="en-US" sz="1200" i="1" dirty="0">
                <a:solidFill>
                  <a:srgbClr val="6E7377"/>
                </a:solidFill>
                <a:latin typeface="Calibri" pitchFamily="34" charset="0"/>
                <a:ea typeface="Calibri" pitchFamily="34" charset="-122"/>
                <a:cs typeface="Calibri" pitchFamily="34" charset="-120"/>
              </a:rPr>
              <a:t>The user interface is the most valuable layer to test and the most expensive. Both follow from one operation: locating an element.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GENERAL CONTEXT</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The Page Object Model relocates the cost — it does not remove it</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874520"/>
            <a:ext cx="4937760" cy="2286000"/>
          </a:xfrm>
          <a:prstGeom prst="roundRect">
            <a:avLst>
              <a:gd name="adj" fmla="val 2400"/>
            </a:avLst>
          </a:prstGeom>
          <a:solidFill>
            <a:srgbClr val="F2F5F7"/>
          </a:solidFill>
          <a:ln w="9525">
            <a:solidFill>
              <a:srgbClr val="B9C0C4"/>
            </a:solidFill>
            <a:prstDash val="solid"/>
          </a:ln>
        </p:spPr>
      </p:sp>
      <p:sp>
        <p:nvSpPr>
          <p:cNvPr id="10" name="Text 8"/>
          <p:cNvSpPr/>
          <p:nvPr/>
        </p:nvSpPr>
        <p:spPr>
          <a:xfrm>
            <a:off x="1143000" y="2084832"/>
            <a:ext cx="4389120" cy="292608"/>
          </a:xfrm>
          <a:prstGeom prst="rect">
            <a:avLst/>
          </a:prstGeom>
          <a:noFill/>
          <a:ln/>
        </p:spPr>
        <p:txBody>
          <a:bodyPr wrap="square" lIns="0" tIns="0" rIns="0" bIns="0" rtlCol="0" anchor="ctr"/>
          <a:lstStyle/>
          <a:p>
            <a:pPr indent="0" marL="0">
              <a:buNone/>
            </a:pPr>
            <a:r>
              <a:rPr lang="en-US" sz="1300" b="1" dirty="0">
                <a:solidFill>
                  <a:srgbClr val="037C87"/>
                </a:solidFill>
                <a:latin typeface="Calibri" pitchFamily="34" charset="0"/>
                <a:ea typeface="Calibri" pitchFamily="34" charset="-122"/>
                <a:cs typeface="Calibri" pitchFamily="34" charset="-120"/>
              </a:rPr>
              <a:t>What it fixes</a:t>
            </a:r>
            <a:endParaRPr lang="en-US" sz="1300" dirty="0"/>
          </a:p>
        </p:txBody>
      </p:sp>
      <p:sp>
        <p:nvSpPr>
          <p:cNvPr id="11" name="Text 9"/>
          <p:cNvSpPr/>
          <p:nvPr/>
        </p:nvSpPr>
        <p:spPr>
          <a:xfrm>
            <a:off x="1143000" y="2450592"/>
            <a:ext cx="4343400" cy="155448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No test contains a locator.</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All structural knowledge in one class per page.</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A changed identifier is a one-line change.</a:t>
            </a:r>
            <a:endParaRPr lang="en-US" sz="1250" dirty="0"/>
          </a:p>
        </p:txBody>
      </p:sp>
      <p:sp>
        <p:nvSpPr>
          <p:cNvPr id="12" name="Shape 10"/>
          <p:cNvSpPr/>
          <p:nvPr/>
        </p:nvSpPr>
        <p:spPr>
          <a:xfrm>
            <a:off x="6355080" y="1874520"/>
            <a:ext cx="4937760" cy="2286000"/>
          </a:xfrm>
          <a:prstGeom prst="roundRect">
            <a:avLst>
              <a:gd name="adj" fmla="val 2400"/>
            </a:avLst>
          </a:prstGeom>
          <a:solidFill>
            <a:srgbClr val="F2F5F7"/>
          </a:solidFill>
          <a:ln w="9525">
            <a:solidFill>
              <a:srgbClr val="B9C0C4"/>
            </a:solidFill>
            <a:prstDash val="solid"/>
          </a:ln>
        </p:spPr>
      </p:sp>
      <p:sp>
        <p:nvSpPr>
          <p:cNvPr id="13" name="Text 11"/>
          <p:cNvSpPr/>
          <p:nvPr/>
        </p:nvSpPr>
        <p:spPr>
          <a:xfrm>
            <a:off x="6675120" y="2084832"/>
            <a:ext cx="4389120" cy="292608"/>
          </a:xfrm>
          <a:prstGeom prst="rect">
            <a:avLst/>
          </a:prstGeom>
          <a:noFill/>
          <a:ln/>
        </p:spPr>
        <p:txBody>
          <a:bodyPr wrap="square" lIns="0" tIns="0" rIns="0" bIns="0" rtlCol="0" anchor="ctr"/>
          <a:lstStyle/>
          <a:p>
            <a:pPr indent="0" marL="0">
              <a:buNone/>
            </a:pPr>
            <a:r>
              <a:rPr lang="en-US" sz="1300" b="1" dirty="0">
                <a:solidFill>
                  <a:srgbClr val="B85042"/>
                </a:solidFill>
                <a:latin typeface="Calibri" pitchFamily="34" charset="0"/>
                <a:ea typeface="Calibri" pitchFamily="34" charset="-122"/>
                <a:cs typeface="Calibri" pitchFamily="34" charset="-120"/>
              </a:rPr>
              <a:t>What it leaves behind</a:t>
            </a:r>
            <a:endParaRPr lang="en-US" sz="1300" dirty="0"/>
          </a:p>
        </p:txBody>
      </p:sp>
      <p:sp>
        <p:nvSpPr>
          <p:cNvPr id="14" name="Text 12"/>
          <p:cNvSpPr/>
          <p:nvPr/>
        </p:nvSpPr>
        <p:spPr>
          <a:xfrm>
            <a:off x="6675120" y="2450592"/>
            <a:ext cx="4343400" cy="155448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Every page still needs a class.</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Every element still needs a locator and a method.</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The work is regular: find, choose, emit, repeat.</a:t>
            </a:r>
            <a:endParaRPr lang="en-US" sz="1250" dirty="0"/>
          </a:p>
        </p:txBody>
      </p:sp>
      <p:sp>
        <p:nvSpPr>
          <p:cNvPr id="15" name="Text 13"/>
          <p:cNvSpPr/>
          <p:nvPr/>
        </p:nvSpPr>
        <p:spPr>
          <a:xfrm>
            <a:off x="822960" y="4572000"/>
            <a:ext cx="10515600" cy="822960"/>
          </a:xfrm>
          <a:prstGeom prst="rect">
            <a:avLst/>
          </a:prstGeom>
          <a:noFill/>
          <a:ln/>
        </p:spPr>
        <p:txBody>
          <a:bodyPr wrap="square" lIns="0" tIns="0" rIns="0" bIns="0" rtlCol="0" anchor="ctr"/>
          <a:lstStyle/>
          <a:p>
            <a:pPr algn="ctr" indent="0" marL="0">
              <a:buNone/>
            </a:pPr>
            <a:r>
              <a:rPr lang="en-US" sz="1700" i="1" dirty="0">
                <a:solidFill>
                  <a:srgbClr val="1A1A1A"/>
                </a:solidFill>
                <a:latin typeface="Cambria" pitchFamily="34" charset="0"/>
                <a:ea typeface="Cambria" pitchFamily="34" charset="-122"/>
                <a:cs typeface="Cambria" pitchFamily="34" charset="-120"/>
              </a:rPr>
              <a:t>Work that regular is a natural candidate for automation.</a:t>
            </a:r>
            <a:endParaRPr lang="en-US" sz="1700" dirty="0"/>
          </a:p>
          <a:p>
            <a:pPr algn="ctr" indent="0" marL="0">
              <a:buNone/>
            </a:pPr>
            <a:r>
              <a:rPr lang="en-US" sz="1700" i="1" dirty="0">
                <a:solidFill>
                  <a:srgbClr val="1A1A1A"/>
                </a:solidFill>
                <a:latin typeface="Cambria" pitchFamily="34" charset="0"/>
                <a:ea typeface="Cambria" pitchFamily="34" charset="-122"/>
                <a:cs typeface="Cambria" pitchFamily="34" charset="-120"/>
              </a:rPr>
              <a:t>That observation is the origin of this project.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GENERAL CONTEXT</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The obvious solution — and four reasons to examine it rather than adopt it</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828800"/>
            <a:ext cx="4937760" cy="1645920"/>
          </a:xfrm>
          <a:prstGeom prst="roundRect">
            <a:avLst>
              <a:gd name="adj" fmla="val 3333"/>
            </a:avLst>
          </a:prstGeom>
          <a:solidFill>
            <a:srgbClr val="F2F5F7"/>
          </a:solidFill>
          <a:ln w="9525">
            <a:solidFill>
              <a:srgbClr val="B9C0C4"/>
            </a:solidFill>
            <a:prstDash val="solid"/>
          </a:ln>
        </p:spPr>
      </p:sp>
      <p:sp>
        <p:nvSpPr>
          <p:cNvPr id="10" name="Text 8"/>
          <p:cNvSpPr/>
          <p:nvPr/>
        </p:nvSpPr>
        <p:spPr>
          <a:xfrm>
            <a:off x="1115568" y="2011680"/>
            <a:ext cx="4389120" cy="292608"/>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Non-determinism</a:t>
            </a:r>
            <a:endParaRPr lang="en-US" sz="1400" dirty="0"/>
          </a:p>
        </p:txBody>
      </p:sp>
      <p:sp>
        <p:nvSpPr>
          <p:cNvPr id="11" name="Text 9"/>
          <p:cNvSpPr/>
          <p:nvPr/>
        </p:nvSpPr>
        <p:spPr>
          <a:xfrm>
            <a:off x="1115568" y="2359152"/>
            <a:ext cx="4389120" cy="960120"/>
          </a:xfrm>
          <a:prstGeom prst="rect">
            <a:avLst/>
          </a:prstGeom>
          <a:noFill/>
          <a:ln/>
        </p:spPr>
        <p:txBody>
          <a:bodyPr wrap="square" lIns="0" tIns="0" rIns="0" bIns="0" rtlCol="0" anchor="ctr"/>
          <a:lstStyle/>
          <a:p>
            <a:pPr indent="0" marL="0">
              <a:buNone/>
            </a:pPr>
            <a:r>
              <a:rPr lang="en-US" sz="1200" dirty="0">
                <a:solidFill>
                  <a:srgbClr val="6E7377"/>
                </a:solidFill>
                <a:latin typeface="Calibri" pitchFamily="34" charset="0"/>
                <a:ea typeface="Calibri" pitchFamily="34" charset="-122"/>
                <a:cs typeface="Calibri" pitchFamily="34" charset="-120"/>
              </a:rPr>
              <a:t>The same prompt twice may give different code. An artefact that varies between invocations cannot be meaningfully diffed or reviewed.</a:t>
            </a:r>
            <a:endParaRPr lang="en-US" sz="1200" dirty="0"/>
          </a:p>
        </p:txBody>
      </p:sp>
      <p:sp>
        <p:nvSpPr>
          <p:cNvPr id="12" name="Shape 10"/>
          <p:cNvSpPr/>
          <p:nvPr/>
        </p:nvSpPr>
        <p:spPr>
          <a:xfrm>
            <a:off x="6355080" y="1828800"/>
            <a:ext cx="4937760" cy="1645920"/>
          </a:xfrm>
          <a:prstGeom prst="roundRect">
            <a:avLst>
              <a:gd name="adj" fmla="val 3333"/>
            </a:avLst>
          </a:prstGeom>
          <a:solidFill>
            <a:srgbClr val="F2F5F7"/>
          </a:solidFill>
          <a:ln w="9525">
            <a:solidFill>
              <a:srgbClr val="B9C0C4"/>
            </a:solidFill>
            <a:prstDash val="solid"/>
          </a:ln>
        </p:spPr>
      </p:sp>
      <p:sp>
        <p:nvSpPr>
          <p:cNvPr id="13" name="Text 11"/>
          <p:cNvSpPr/>
          <p:nvPr/>
        </p:nvSpPr>
        <p:spPr>
          <a:xfrm>
            <a:off x="6647688" y="2011680"/>
            <a:ext cx="4389120" cy="292608"/>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Hallucination</a:t>
            </a:r>
            <a:endParaRPr lang="en-US" sz="1400" dirty="0"/>
          </a:p>
        </p:txBody>
      </p:sp>
      <p:sp>
        <p:nvSpPr>
          <p:cNvPr id="14" name="Text 12"/>
          <p:cNvSpPr/>
          <p:nvPr/>
        </p:nvSpPr>
        <p:spPr>
          <a:xfrm>
            <a:off x="6647688" y="2359152"/>
            <a:ext cx="4389120" cy="960120"/>
          </a:xfrm>
          <a:prstGeom prst="rect">
            <a:avLst/>
          </a:prstGeom>
          <a:noFill/>
          <a:ln/>
        </p:spPr>
        <p:txBody>
          <a:bodyPr wrap="square" lIns="0" tIns="0" rIns="0" bIns="0" rtlCol="0" anchor="ctr"/>
          <a:lstStyle/>
          <a:p>
            <a:pPr indent="0" marL="0">
              <a:buNone/>
            </a:pPr>
            <a:r>
              <a:rPr lang="en-US" sz="1200" dirty="0">
                <a:solidFill>
                  <a:srgbClr val="6E7377"/>
                </a:solidFill>
                <a:latin typeface="Calibri" pitchFamily="34" charset="0"/>
                <a:ea typeface="Calibri" pitchFamily="34" charset="-122"/>
                <a:cs typeface="Calibri" pitchFamily="34" charset="-120"/>
              </a:rPr>
              <a:t>Models reference APIs that do not exist, because such code is statistically plausible. It looks right; only compilation reveals otherwise.</a:t>
            </a:r>
            <a:endParaRPr lang="en-US" sz="1200" dirty="0"/>
          </a:p>
        </p:txBody>
      </p:sp>
      <p:sp>
        <p:nvSpPr>
          <p:cNvPr id="15" name="Shape 13"/>
          <p:cNvSpPr/>
          <p:nvPr/>
        </p:nvSpPr>
        <p:spPr>
          <a:xfrm>
            <a:off x="822960" y="3703320"/>
            <a:ext cx="4937760" cy="1645920"/>
          </a:xfrm>
          <a:prstGeom prst="roundRect">
            <a:avLst>
              <a:gd name="adj" fmla="val 3333"/>
            </a:avLst>
          </a:prstGeom>
          <a:solidFill>
            <a:srgbClr val="F2F5F7"/>
          </a:solidFill>
          <a:ln w="9525">
            <a:solidFill>
              <a:srgbClr val="B9C0C4"/>
            </a:solidFill>
            <a:prstDash val="solid"/>
          </a:ln>
        </p:spPr>
      </p:sp>
      <p:sp>
        <p:nvSpPr>
          <p:cNvPr id="16" name="Text 14"/>
          <p:cNvSpPr/>
          <p:nvPr/>
        </p:nvSpPr>
        <p:spPr>
          <a:xfrm>
            <a:off x="1115568" y="3886200"/>
            <a:ext cx="4389120" cy="292608"/>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Cost scales with page size</a:t>
            </a:r>
            <a:endParaRPr lang="en-US" sz="1400" dirty="0"/>
          </a:p>
        </p:txBody>
      </p:sp>
      <p:sp>
        <p:nvSpPr>
          <p:cNvPr id="17" name="Text 15"/>
          <p:cNvSpPr/>
          <p:nvPr/>
        </p:nvSpPr>
        <p:spPr>
          <a:xfrm>
            <a:off x="1115568" y="4233672"/>
            <a:ext cx="4389120" cy="960120"/>
          </a:xfrm>
          <a:prstGeom prst="rect">
            <a:avLst/>
          </a:prstGeom>
          <a:noFill/>
          <a:ln/>
        </p:spPr>
        <p:txBody>
          <a:bodyPr wrap="square" lIns="0" tIns="0" rIns="0" bIns="0" rtlCol="0" anchor="ctr"/>
          <a:lstStyle/>
          <a:p>
            <a:pPr indent="0" marL="0">
              <a:buNone/>
            </a:pPr>
            <a:r>
              <a:rPr lang="en-US" sz="1200" dirty="0">
                <a:solidFill>
                  <a:srgbClr val="6E7377"/>
                </a:solidFill>
                <a:latin typeface="Calibri" pitchFamily="34" charset="0"/>
                <a:ea typeface="Calibri" pitchFamily="34" charset="-122"/>
                <a:cs typeface="Calibri" pitchFamily="34" charset="-120"/>
              </a:rPr>
              <a:t>The whole document is submitted every time. A recurring bill proportional to the application, not to the number of hard decisions.</a:t>
            </a:r>
            <a:endParaRPr lang="en-US" sz="1200" dirty="0"/>
          </a:p>
        </p:txBody>
      </p:sp>
      <p:sp>
        <p:nvSpPr>
          <p:cNvPr id="18" name="Shape 16"/>
          <p:cNvSpPr/>
          <p:nvPr/>
        </p:nvSpPr>
        <p:spPr>
          <a:xfrm>
            <a:off x="6355080" y="3703320"/>
            <a:ext cx="4937760" cy="1645920"/>
          </a:xfrm>
          <a:prstGeom prst="roundRect">
            <a:avLst>
              <a:gd name="adj" fmla="val 3333"/>
            </a:avLst>
          </a:prstGeom>
          <a:solidFill>
            <a:srgbClr val="F2F5F7"/>
          </a:solidFill>
          <a:ln w="9525">
            <a:solidFill>
              <a:srgbClr val="B9C0C4"/>
            </a:solidFill>
            <a:prstDash val="solid"/>
          </a:ln>
        </p:spPr>
      </p:sp>
      <p:sp>
        <p:nvSpPr>
          <p:cNvPr id="19" name="Text 17"/>
          <p:cNvSpPr/>
          <p:nvPr/>
        </p:nvSpPr>
        <p:spPr>
          <a:xfrm>
            <a:off x="6647688" y="3886200"/>
            <a:ext cx="4389120" cy="292608"/>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No traceability</a:t>
            </a:r>
            <a:endParaRPr lang="en-US" sz="1400" dirty="0"/>
          </a:p>
        </p:txBody>
      </p:sp>
      <p:sp>
        <p:nvSpPr>
          <p:cNvPr id="20" name="Text 18"/>
          <p:cNvSpPr/>
          <p:nvPr/>
        </p:nvSpPr>
        <p:spPr>
          <a:xfrm>
            <a:off x="6647688" y="4233672"/>
            <a:ext cx="4389120" cy="960120"/>
          </a:xfrm>
          <a:prstGeom prst="rect">
            <a:avLst/>
          </a:prstGeom>
          <a:noFill/>
          <a:ln/>
        </p:spPr>
        <p:txBody>
          <a:bodyPr wrap="square" lIns="0" tIns="0" rIns="0" bIns="0" rtlCol="0" anchor="ctr"/>
          <a:lstStyle/>
          <a:p>
            <a:pPr indent="0" marL="0">
              <a:buNone/>
            </a:pPr>
            <a:r>
              <a:rPr lang="en-US" sz="1200" dirty="0">
                <a:solidFill>
                  <a:srgbClr val="6E7377"/>
                </a:solidFill>
                <a:latin typeface="Calibri" pitchFamily="34" charset="0"/>
                <a:ea typeface="Calibri" pitchFamily="34" charset="-122"/>
                <a:cs typeface="Calibri" pitchFamily="34" charset="-120"/>
              </a:rPr>
              <a:t>When a rule picks a locator, the reason is recoverable. When a model picks one, no account is available.</a:t>
            </a:r>
            <a:endParaRPr lang="en-US" sz="1200" dirty="0"/>
          </a:p>
        </p:txBody>
      </p:sp>
      <p:sp>
        <p:nvSpPr>
          <p:cNvPr id="21" name="Text 19"/>
          <p:cNvSpPr/>
          <p:nvPr/>
        </p:nvSpPr>
        <p:spPr>
          <a:xfrm>
            <a:off x="822960" y="5623560"/>
            <a:ext cx="10515600" cy="457200"/>
          </a:xfrm>
          <a:prstGeom prst="rect">
            <a:avLst/>
          </a:prstGeom>
          <a:noFill/>
          <a:ln/>
        </p:spPr>
        <p:txBody>
          <a:bodyPr wrap="square" lIns="0" tIns="0" rIns="0" bIns="0" rtlCol="0" anchor="ctr"/>
          <a:lstStyle/>
          <a:p>
            <a:pPr algn="ctr" indent="0" marL="0">
              <a:buNone/>
            </a:pPr>
            <a:r>
              <a:rPr lang="en-US" sz="1200" i="1" dirty="0">
                <a:solidFill>
                  <a:srgbClr val="6E7377"/>
                </a:solidFill>
                <a:latin typeface="Calibri" pitchFamily="34" charset="0"/>
                <a:ea typeface="Calibri" pitchFamily="34" charset="-122"/>
                <a:cs typeface="Calibri" pitchFamily="34" charset="-120"/>
              </a:rPr>
              <a:t>None of these says the model should not be used. They say where and how it is used has consequences — and that the question is answerable by measurement.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GENERAL CONTEXT</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Objectives and research questions</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828800"/>
            <a:ext cx="10469880" cy="1170432"/>
          </a:xfrm>
          <a:prstGeom prst="roundRect">
            <a:avLst>
              <a:gd name="adj" fmla="val 4688"/>
            </a:avLst>
          </a:prstGeom>
          <a:solidFill>
            <a:srgbClr val="F2F5F7"/>
          </a:solidFill>
          <a:ln w="9525">
            <a:solidFill>
              <a:srgbClr val="B9C0C4"/>
            </a:solidFill>
            <a:prstDash val="solid"/>
          </a:ln>
        </p:spPr>
      </p:sp>
      <p:sp>
        <p:nvSpPr>
          <p:cNvPr id="10" name="Text 8"/>
          <p:cNvSpPr/>
          <p:nvPr/>
        </p:nvSpPr>
        <p:spPr>
          <a:xfrm>
            <a:off x="1143000" y="2121408"/>
            <a:ext cx="1005840" cy="502920"/>
          </a:xfrm>
          <a:prstGeom prst="rect">
            <a:avLst/>
          </a:prstGeom>
          <a:noFill/>
          <a:ln/>
        </p:spPr>
        <p:txBody>
          <a:bodyPr wrap="square" lIns="0" tIns="0" rIns="0" bIns="0" rtlCol="0" anchor="ctr"/>
          <a:lstStyle/>
          <a:p>
            <a:pPr indent="0" marL="0">
              <a:buNone/>
            </a:pPr>
            <a:r>
              <a:rPr lang="en-US" sz="2100" b="1" dirty="0">
                <a:solidFill>
                  <a:srgbClr val="074D83"/>
                </a:solidFill>
                <a:latin typeface="Cambria" pitchFamily="34" charset="0"/>
                <a:ea typeface="Cambria" pitchFamily="34" charset="-122"/>
                <a:cs typeface="Cambria" pitchFamily="34" charset="-120"/>
              </a:rPr>
              <a:t>RQ1</a:t>
            </a:r>
            <a:endParaRPr lang="en-US" sz="2100" dirty="0"/>
          </a:p>
        </p:txBody>
      </p:sp>
      <p:sp>
        <p:nvSpPr>
          <p:cNvPr id="11" name="Text 9"/>
          <p:cNvSpPr/>
          <p:nvPr/>
        </p:nvSpPr>
        <p:spPr>
          <a:xfrm>
            <a:off x="2103120" y="2029968"/>
            <a:ext cx="8869680" cy="77724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Can a deterministic pipeline, working from a live page’s rendered HTML, produce page objects of a quality comparable to a language model given the same page?</a:t>
            </a:r>
            <a:endParaRPr lang="en-US" sz="1300" dirty="0"/>
          </a:p>
        </p:txBody>
      </p:sp>
      <p:sp>
        <p:nvSpPr>
          <p:cNvPr id="12" name="Shape 10"/>
          <p:cNvSpPr/>
          <p:nvPr/>
        </p:nvSpPr>
        <p:spPr>
          <a:xfrm>
            <a:off x="822960" y="3154680"/>
            <a:ext cx="10469880" cy="1170432"/>
          </a:xfrm>
          <a:prstGeom prst="roundRect">
            <a:avLst>
              <a:gd name="adj" fmla="val 4688"/>
            </a:avLst>
          </a:prstGeom>
          <a:solidFill>
            <a:srgbClr val="F2F5F7"/>
          </a:solidFill>
          <a:ln w="9525">
            <a:solidFill>
              <a:srgbClr val="B9C0C4"/>
            </a:solidFill>
            <a:prstDash val="solid"/>
          </a:ln>
        </p:spPr>
      </p:sp>
      <p:sp>
        <p:nvSpPr>
          <p:cNvPr id="13" name="Text 11"/>
          <p:cNvSpPr/>
          <p:nvPr/>
        </p:nvSpPr>
        <p:spPr>
          <a:xfrm>
            <a:off x="1143000" y="3447288"/>
            <a:ext cx="1005840" cy="502920"/>
          </a:xfrm>
          <a:prstGeom prst="rect">
            <a:avLst/>
          </a:prstGeom>
          <a:noFill/>
          <a:ln/>
        </p:spPr>
        <p:txBody>
          <a:bodyPr wrap="square" lIns="0" tIns="0" rIns="0" bIns="0" rtlCol="0" anchor="ctr"/>
          <a:lstStyle/>
          <a:p>
            <a:pPr indent="0" marL="0">
              <a:buNone/>
            </a:pPr>
            <a:r>
              <a:rPr lang="en-US" sz="2100" b="1" dirty="0">
                <a:solidFill>
                  <a:srgbClr val="074D83"/>
                </a:solidFill>
                <a:latin typeface="Cambria" pitchFamily="34" charset="0"/>
                <a:ea typeface="Cambria" pitchFamily="34" charset="-122"/>
                <a:cs typeface="Cambria" pitchFamily="34" charset="-120"/>
              </a:rPr>
              <a:t>RQ2</a:t>
            </a:r>
            <a:endParaRPr lang="en-US" sz="2100" dirty="0"/>
          </a:p>
        </p:txBody>
      </p:sp>
      <p:sp>
        <p:nvSpPr>
          <p:cNvPr id="14" name="Text 12"/>
          <p:cNvSpPr/>
          <p:nvPr/>
        </p:nvSpPr>
        <p:spPr>
          <a:xfrm>
            <a:off x="2103120" y="3355848"/>
            <a:ext cx="8869680" cy="77724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Where the deterministic layer cannot find a stable locator, can it detect that condition itself — and does escalating only those cases beat sending the whole page?</a:t>
            </a:r>
            <a:endParaRPr lang="en-US" sz="1300" dirty="0"/>
          </a:p>
        </p:txBody>
      </p:sp>
      <p:sp>
        <p:nvSpPr>
          <p:cNvPr id="15" name="Shape 13"/>
          <p:cNvSpPr/>
          <p:nvPr/>
        </p:nvSpPr>
        <p:spPr>
          <a:xfrm>
            <a:off x="822960" y="4480560"/>
            <a:ext cx="10469880" cy="1170432"/>
          </a:xfrm>
          <a:prstGeom prst="roundRect">
            <a:avLst>
              <a:gd name="adj" fmla="val 4688"/>
            </a:avLst>
          </a:prstGeom>
          <a:solidFill>
            <a:srgbClr val="F2F5F7"/>
          </a:solidFill>
          <a:ln w="9525">
            <a:solidFill>
              <a:srgbClr val="B9C0C4"/>
            </a:solidFill>
            <a:prstDash val="solid"/>
          </a:ln>
        </p:spPr>
      </p:sp>
      <p:sp>
        <p:nvSpPr>
          <p:cNvPr id="16" name="Text 14"/>
          <p:cNvSpPr/>
          <p:nvPr/>
        </p:nvSpPr>
        <p:spPr>
          <a:xfrm>
            <a:off x="1143000" y="4773168"/>
            <a:ext cx="1005840" cy="502920"/>
          </a:xfrm>
          <a:prstGeom prst="rect">
            <a:avLst/>
          </a:prstGeom>
          <a:noFill/>
          <a:ln/>
        </p:spPr>
        <p:txBody>
          <a:bodyPr wrap="square" lIns="0" tIns="0" rIns="0" bIns="0" rtlCol="0" anchor="ctr"/>
          <a:lstStyle/>
          <a:p>
            <a:pPr indent="0" marL="0">
              <a:buNone/>
            </a:pPr>
            <a:r>
              <a:rPr lang="en-US" sz="2100" b="1" dirty="0">
                <a:solidFill>
                  <a:srgbClr val="074D83"/>
                </a:solidFill>
                <a:latin typeface="Cambria" pitchFamily="34" charset="0"/>
                <a:ea typeface="Cambria" pitchFamily="34" charset="-122"/>
                <a:cs typeface="Cambria" pitchFamily="34" charset="-120"/>
              </a:rPr>
              <a:t>RQ3</a:t>
            </a:r>
            <a:endParaRPr lang="en-US" sz="2100" dirty="0"/>
          </a:p>
        </p:txBody>
      </p:sp>
      <p:sp>
        <p:nvSpPr>
          <p:cNvPr id="17" name="Text 15"/>
          <p:cNvSpPr/>
          <p:nvPr/>
        </p:nvSpPr>
        <p:spPr>
          <a:xfrm>
            <a:off x="2103120" y="4681728"/>
            <a:ext cx="8869680" cy="77724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On which measurable dimensions does each approach dominate, and what does that imply for how such systems should be built?</a:t>
            </a:r>
            <a:endParaRPr lang="en-US" sz="1300" dirty="0"/>
          </a:p>
        </p:txBody>
      </p:sp>
      <p:sp>
        <p:nvSpPr>
          <p:cNvPr id="18" name="Text 16"/>
          <p:cNvSpPr/>
          <p:nvPr/>
        </p:nvSpPr>
        <p:spPr>
          <a:xfrm>
            <a:off x="822960" y="5806440"/>
            <a:ext cx="10469880" cy="365760"/>
          </a:xfrm>
          <a:prstGeom prst="rect">
            <a:avLst/>
          </a:prstGeom>
          <a:noFill/>
          <a:ln/>
        </p:spPr>
        <p:txBody>
          <a:bodyPr wrap="square" lIns="0" tIns="0" rIns="0" bIns="0" rtlCol="0" anchor="ctr"/>
          <a:lstStyle/>
          <a:p>
            <a:pPr algn="ctr" indent="0" marL="0">
              <a:buNone/>
            </a:pPr>
            <a:r>
              <a:rPr lang="en-US" sz="1200" i="1" dirty="0">
                <a:solidFill>
                  <a:srgbClr val="6E7377"/>
                </a:solidFill>
                <a:latin typeface="Calibri" pitchFamily="34" charset="0"/>
                <a:ea typeface="Calibri" pitchFamily="34" charset="-122"/>
                <a:cs typeface="Calibri" pitchFamily="34" charset="-120"/>
              </a:rPr>
              <a:t>RQ2 is the contribution. Note that it has two halves: can the layer detect its own weakness, and is acting on that detection worth it?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GENERAL CONTEXT</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Functional requirements</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783080"/>
            <a:ext cx="4937760" cy="3977640"/>
          </a:xfrm>
          <a:prstGeom prst="roundRect">
            <a:avLst>
              <a:gd name="adj" fmla="val 1379"/>
            </a:avLst>
          </a:prstGeom>
          <a:solidFill>
            <a:srgbClr val="F2F5F7"/>
          </a:solidFill>
          <a:ln w="9525">
            <a:solidFill>
              <a:srgbClr val="B9C0C4"/>
            </a:solidFill>
            <a:prstDash val="solid"/>
          </a:ln>
        </p:spPr>
      </p:sp>
      <p:sp>
        <p:nvSpPr>
          <p:cNvPr id="10" name="Text 8"/>
          <p:cNvSpPr/>
          <p:nvPr/>
        </p:nvSpPr>
        <p:spPr>
          <a:xfrm>
            <a:off x="1143000" y="1965960"/>
            <a:ext cx="4389120" cy="274320"/>
          </a:xfrm>
          <a:prstGeom prst="rect">
            <a:avLst/>
          </a:prstGeom>
          <a:noFill/>
          <a:ln/>
        </p:spPr>
        <p:txBody>
          <a:bodyPr wrap="square" lIns="0" tIns="0" rIns="0" bIns="0" rtlCol="0" anchor="ctr"/>
          <a:lstStyle/>
          <a:p>
            <a:pPr indent="0" marL="0">
              <a:buNone/>
            </a:pPr>
            <a:r>
              <a:rPr lang="en-US" sz="1300" b="1" dirty="0">
                <a:solidFill>
                  <a:srgbClr val="074D83"/>
                </a:solidFill>
                <a:latin typeface="Calibri" pitchFamily="34" charset="0"/>
                <a:ea typeface="Calibri" pitchFamily="34" charset="-122"/>
                <a:cs typeface="Calibri" pitchFamily="34" charset="-120"/>
              </a:rPr>
              <a:t>Test automation framework</a:t>
            </a:r>
            <a:endParaRPr lang="en-US" sz="1300" dirty="0"/>
          </a:p>
        </p:txBody>
      </p:sp>
      <p:sp>
        <p:nvSpPr>
          <p:cNvPr id="11" name="Text 9"/>
          <p:cNvSpPr/>
          <p:nvPr/>
        </p:nvSpPr>
        <p:spPr>
          <a:xfrm>
            <a:off x="1143000" y="2304288"/>
            <a:ext cx="4343400" cy="3291840"/>
          </a:xfrm>
          <a:prstGeom prst="rect">
            <a:avLst/>
          </a:prstGeom>
          <a:noFill/>
          <a:ln/>
        </p:spPr>
        <p:txBody>
          <a:bodyPr wrap="square" lIns="0" tIns="0" rIns="0" bIns="0" rtlCol="0" anchor="ctr"/>
          <a:lstStyle/>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Drive a real browser against a live application.</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Two browsers, selectable without touching test code.</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Headless by default — local and CI identical.</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Page Object Model; no locator in any test.</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Reusable multi-page journeys (flows).</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All URLs, credentials and messages externalised.</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HTML report, screenshot on failure.</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API tests alongside UI tests.</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Runs on every push through CI.</a:t>
            </a:r>
            <a:endParaRPr lang="en-US" sz="1150" dirty="0"/>
          </a:p>
        </p:txBody>
      </p:sp>
      <p:sp>
        <p:nvSpPr>
          <p:cNvPr id="12" name="Shape 10"/>
          <p:cNvSpPr/>
          <p:nvPr/>
        </p:nvSpPr>
        <p:spPr>
          <a:xfrm>
            <a:off x="6355080" y="1783080"/>
            <a:ext cx="4937760" cy="3977640"/>
          </a:xfrm>
          <a:prstGeom prst="roundRect">
            <a:avLst>
              <a:gd name="adj" fmla="val 1379"/>
            </a:avLst>
          </a:prstGeom>
          <a:solidFill>
            <a:srgbClr val="F2F5F7"/>
          </a:solidFill>
          <a:ln w="9525">
            <a:solidFill>
              <a:srgbClr val="B9C0C4"/>
            </a:solidFill>
            <a:prstDash val="solid"/>
          </a:ln>
        </p:spPr>
      </p:sp>
      <p:sp>
        <p:nvSpPr>
          <p:cNvPr id="13" name="Text 11"/>
          <p:cNvSpPr/>
          <p:nvPr/>
        </p:nvSpPr>
        <p:spPr>
          <a:xfrm>
            <a:off x="6675120" y="1965960"/>
            <a:ext cx="4389120" cy="274320"/>
          </a:xfrm>
          <a:prstGeom prst="rect">
            <a:avLst/>
          </a:prstGeom>
          <a:noFill/>
          <a:ln/>
        </p:spPr>
        <p:txBody>
          <a:bodyPr wrap="square" lIns="0" tIns="0" rIns="0" bIns="0" rtlCol="0" anchor="ctr"/>
          <a:lstStyle/>
          <a:p>
            <a:pPr indent="0" marL="0">
              <a:buNone/>
            </a:pPr>
            <a:r>
              <a:rPr lang="en-US" sz="1300" b="1" dirty="0">
                <a:solidFill>
                  <a:srgbClr val="074D83"/>
                </a:solidFill>
                <a:latin typeface="Calibri" pitchFamily="34" charset="0"/>
                <a:ea typeface="Calibri" pitchFamily="34" charset="-122"/>
                <a:cs typeface="Calibri" pitchFamily="34" charset="-120"/>
              </a:rPr>
              <a:t>Generation pipeline</a:t>
            </a:r>
            <a:endParaRPr lang="en-US" sz="1300" dirty="0"/>
          </a:p>
        </p:txBody>
      </p:sp>
      <p:sp>
        <p:nvSpPr>
          <p:cNvPr id="14" name="Text 12"/>
          <p:cNvSpPr/>
          <p:nvPr/>
        </p:nvSpPr>
        <p:spPr>
          <a:xfrm>
            <a:off x="6675120" y="2304288"/>
            <a:ext cx="4343400" cy="3291840"/>
          </a:xfrm>
          <a:prstGeom prst="rect">
            <a:avLst/>
          </a:prstGeom>
          <a:noFill/>
          <a:ln/>
        </p:spPr>
        <p:txBody>
          <a:bodyPr wrap="square" lIns="0" tIns="0" rIns="0" bIns="0" rtlCol="0" anchor="ctr"/>
          <a:lstStyle/>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Retrieve fully rendered HTML, including behind a login.</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Extract interactive elements; exclude hidden fields.</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Decompose into header, footer and body.</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Detect repeating components; model each once.</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Select the most durable locator by fixed priority.</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Record which rule produced each locator.</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Mark as low-confidence anything matched only by text.</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Emit compilable Java extending the same base class.</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Escalate only low-confidence elements to a model.</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Two model backends behind one interface.</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Degrade gracefully on model failure.</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Provide the naive baseline mode for comparison.</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GENERAL CONTEXT</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Non-functional requirements</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783080"/>
            <a:ext cx="4937760" cy="868680"/>
          </a:xfrm>
          <a:prstGeom prst="roundRect">
            <a:avLst>
              <a:gd name="adj" fmla="val 6316"/>
            </a:avLst>
          </a:prstGeom>
          <a:solidFill>
            <a:srgbClr val="F2F5F7"/>
          </a:solidFill>
          <a:ln w="9525">
            <a:solidFill>
              <a:srgbClr val="B9C0C4"/>
            </a:solidFill>
            <a:prstDash val="solid"/>
          </a:ln>
        </p:spPr>
      </p:sp>
      <p:sp>
        <p:nvSpPr>
          <p:cNvPr id="10" name="Text 8"/>
          <p:cNvSpPr/>
          <p:nvPr/>
        </p:nvSpPr>
        <p:spPr>
          <a:xfrm>
            <a:off x="1097280" y="1892808"/>
            <a:ext cx="438912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Determinism</a:t>
            </a:r>
            <a:endParaRPr lang="en-US" sz="1300" dirty="0"/>
          </a:p>
        </p:txBody>
      </p:sp>
      <p:sp>
        <p:nvSpPr>
          <p:cNvPr id="11" name="Text 9"/>
          <p:cNvSpPr/>
          <p:nvPr/>
        </p:nvSpPr>
        <p:spPr>
          <a:xfrm>
            <a:off x="1097280" y="2185416"/>
            <a:ext cx="4434840" cy="36576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Identical input must produce identical output.</a:t>
            </a:r>
            <a:endParaRPr lang="en-US" sz="1150" dirty="0"/>
          </a:p>
        </p:txBody>
      </p:sp>
      <p:sp>
        <p:nvSpPr>
          <p:cNvPr id="12" name="Shape 10"/>
          <p:cNvSpPr/>
          <p:nvPr/>
        </p:nvSpPr>
        <p:spPr>
          <a:xfrm>
            <a:off x="822960" y="2788920"/>
            <a:ext cx="4937760" cy="868680"/>
          </a:xfrm>
          <a:prstGeom prst="roundRect">
            <a:avLst>
              <a:gd name="adj" fmla="val 6316"/>
            </a:avLst>
          </a:prstGeom>
          <a:solidFill>
            <a:srgbClr val="F2F5F7"/>
          </a:solidFill>
          <a:ln w="9525">
            <a:solidFill>
              <a:srgbClr val="B9C0C4"/>
            </a:solidFill>
            <a:prstDash val="solid"/>
          </a:ln>
        </p:spPr>
      </p:sp>
      <p:sp>
        <p:nvSpPr>
          <p:cNvPr id="13" name="Text 11"/>
          <p:cNvSpPr/>
          <p:nvPr/>
        </p:nvSpPr>
        <p:spPr>
          <a:xfrm>
            <a:off x="1097280" y="2898648"/>
            <a:ext cx="438912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Traceability</a:t>
            </a:r>
            <a:endParaRPr lang="en-US" sz="1300" dirty="0"/>
          </a:p>
        </p:txBody>
      </p:sp>
      <p:sp>
        <p:nvSpPr>
          <p:cNvPr id="14" name="Text 12"/>
          <p:cNvSpPr/>
          <p:nvPr/>
        </p:nvSpPr>
        <p:spPr>
          <a:xfrm>
            <a:off x="1097280" y="3191256"/>
            <a:ext cx="4434840" cy="36576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Every locator attributable to an explicit rule.</a:t>
            </a:r>
            <a:endParaRPr lang="en-US" sz="1150" dirty="0"/>
          </a:p>
        </p:txBody>
      </p:sp>
      <p:sp>
        <p:nvSpPr>
          <p:cNvPr id="15" name="Shape 13"/>
          <p:cNvSpPr/>
          <p:nvPr/>
        </p:nvSpPr>
        <p:spPr>
          <a:xfrm>
            <a:off x="822960" y="3794760"/>
            <a:ext cx="4937760" cy="868680"/>
          </a:xfrm>
          <a:prstGeom prst="roundRect">
            <a:avLst>
              <a:gd name="adj" fmla="val 6316"/>
            </a:avLst>
          </a:prstGeom>
          <a:solidFill>
            <a:srgbClr val="F2F5F7"/>
          </a:solidFill>
          <a:ln w="9525">
            <a:solidFill>
              <a:srgbClr val="B9C0C4"/>
            </a:solidFill>
            <a:prstDash val="solid"/>
          </a:ln>
        </p:spPr>
      </p:sp>
      <p:sp>
        <p:nvSpPr>
          <p:cNvPr id="16" name="Text 14"/>
          <p:cNvSpPr/>
          <p:nvPr/>
        </p:nvSpPr>
        <p:spPr>
          <a:xfrm>
            <a:off x="1097280" y="3904488"/>
            <a:ext cx="438912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Cost proportionality</a:t>
            </a:r>
            <a:endParaRPr lang="en-US" sz="1300" dirty="0"/>
          </a:p>
        </p:txBody>
      </p:sp>
      <p:sp>
        <p:nvSpPr>
          <p:cNvPr id="17" name="Text 15"/>
          <p:cNvSpPr/>
          <p:nvPr/>
        </p:nvSpPr>
        <p:spPr>
          <a:xfrm>
            <a:off x="1097280" y="4197096"/>
            <a:ext cx="4434840" cy="36576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Model cost scales with ambiguity, not page size.</a:t>
            </a:r>
            <a:endParaRPr lang="en-US" sz="1150" dirty="0"/>
          </a:p>
        </p:txBody>
      </p:sp>
      <p:sp>
        <p:nvSpPr>
          <p:cNvPr id="18" name="Shape 16"/>
          <p:cNvSpPr/>
          <p:nvPr/>
        </p:nvSpPr>
        <p:spPr>
          <a:xfrm>
            <a:off x="822960" y="4800600"/>
            <a:ext cx="4937760" cy="868680"/>
          </a:xfrm>
          <a:prstGeom prst="roundRect">
            <a:avLst>
              <a:gd name="adj" fmla="val 6316"/>
            </a:avLst>
          </a:prstGeom>
          <a:solidFill>
            <a:srgbClr val="F2F5F7"/>
          </a:solidFill>
          <a:ln w="9525">
            <a:solidFill>
              <a:srgbClr val="B9C0C4"/>
            </a:solidFill>
            <a:prstDash val="solid"/>
          </a:ln>
        </p:spPr>
      </p:sp>
      <p:sp>
        <p:nvSpPr>
          <p:cNvPr id="19" name="Text 17"/>
          <p:cNvSpPr/>
          <p:nvPr/>
        </p:nvSpPr>
        <p:spPr>
          <a:xfrm>
            <a:off x="1097280" y="4910328"/>
            <a:ext cx="438912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Isolation</a:t>
            </a:r>
            <a:endParaRPr lang="en-US" sz="1300" dirty="0"/>
          </a:p>
        </p:txBody>
      </p:sp>
      <p:sp>
        <p:nvSpPr>
          <p:cNvPr id="20" name="Text 18"/>
          <p:cNvSpPr/>
          <p:nvPr/>
        </p:nvSpPr>
        <p:spPr>
          <a:xfrm>
            <a:off x="1097280" y="5202936"/>
            <a:ext cx="4434840" cy="36576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Generated artefacts separated from reviewed code.</a:t>
            </a:r>
            <a:endParaRPr lang="en-US" sz="1150" dirty="0"/>
          </a:p>
        </p:txBody>
      </p:sp>
      <p:sp>
        <p:nvSpPr>
          <p:cNvPr id="21" name="Shape 19"/>
          <p:cNvSpPr/>
          <p:nvPr/>
        </p:nvSpPr>
        <p:spPr>
          <a:xfrm>
            <a:off x="6355080" y="1783080"/>
            <a:ext cx="4937760" cy="868680"/>
          </a:xfrm>
          <a:prstGeom prst="roundRect">
            <a:avLst>
              <a:gd name="adj" fmla="val 6316"/>
            </a:avLst>
          </a:prstGeom>
          <a:solidFill>
            <a:srgbClr val="F2F5F7"/>
          </a:solidFill>
          <a:ln w="9525">
            <a:solidFill>
              <a:srgbClr val="B9C0C4"/>
            </a:solidFill>
            <a:prstDash val="solid"/>
          </a:ln>
        </p:spPr>
      </p:sp>
      <p:sp>
        <p:nvSpPr>
          <p:cNvPr id="22" name="Text 20"/>
          <p:cNvSpPr/>
          <p:nvPr/>
        </p:nvSpPr>
        <p:spPr>
          <a:xfrm>
            <a:off x="6629400" y="1892808"/>
            <a:ext cx="438912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Build safety</a:t>
            </a:r>
            <a:endParaRPr lang="en-US" sz="1300" dirty="0"/>
          </a:p>
        </p:txBody>
      </p:sp>
      <p:sp>
        <p:nvSpPr>
          <p:cNvPr id="23" name="Text 21"/>
          <p:cNvSpPr/>
          <p:nvPr/>
        </p:nvSpPr>
        <p:spPr>
          <a:xfrm>
            <a:off x="6629400" y="2185416"/>
            <a:ext cx="4434840" cy="36576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Unvalidated model output can never break the build.</a:t>
            </a:r>
            <a:endParaRPr lang="en-US" sz="1150" dirty="0"/>
          </a:p>
        </p:txBody>
      </p:sp>
      <p:sp>
        <p:nvSpPr>
          <p:cNvPr id="24" name="Shape 22"/>
          <p:cNvSpPr/>
          <p:nvPr/>
        </p:nvSpPr>
        <p:spPr>
          <a:xfrm>
            <a:off x="6355080" y="2788920"/>
            <a:ext cx="4937760" cy="868680"/>
          </a:xfrm>
          <a:prstGeom prst="roundRect">
            <a:avLst>
              <a:gd name="adj" fmla="val 6316"/>
            </a:avLst>
          </a:prstGeom>
          <a:solidFill>
            <a:srgbClr val="F2F5F7"/>
          </a:solidFill>
          <a:ln w="9525">
            <a:solidFill>
              <a:srgbClr val="B9C0C4"/>
            </a:solidFill>
            <a:prstDash val="solid"/>
          </a:ln>
        </p:spPr>
      </p:sp>
      <p:sp>
        <p:nvSpPr>
          <p:cNvPr id="25" name="Text 23"/>
          <p:cNvSpPr/>
          <p:nvPr/>
        </p:nvSpPr>
        <p:spPr>
          <a:xfrm>
            <a:off x="6629400" y="2898648"/>
            <a:ext cx="438912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Portability</a:t>
            </a:r>
            <a:endParaRPr lang="en-US" sz="1300" dirty="0"/>
          </a:p>
        </p:txBody>
      </p:sp>
      <p:sp>
        <p:nvSpPr>
          <p:cNvPr id="26" name="Text 24"/>
          <p:cNvSpPr/>
          <p:nvPr/>
        </p:nvSpPr>
        <p:spPr>
          <a:xfrm>
            <a:off x="6629400" y="3191256"/>
            <a:ext cx="4434840" cy="36576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Runs unmodified locally, on cloud CI and a self-hosted agent.</a:t>
            </a:r>
            <a:endParaRPr lang="en-US" sz="1150" dirty="0"/>
          </a:p>
        </p:txBody>
      </p:sp>
      <p:sp>
        <p:nvSpPr>
          <p:cNvPr id="27" name="Shape 25"/>
          <p:cNvSpPr/>
          <p:nvPr/>
        </p:nvSpPr>
        <p:spPr>
          <a:xfrm>
            <a:off x="6355080" y="3794760"/>
            <a:ext cx="4937760" cy="868680"/>
          </a:xfrm>
          <a:prstGeom prst="roundRect">
            <a:avLst>
              <a:gd name="adj" fmla="val 6316"/>
            </a:avLst>
          </a:prstGeom>
          <a:solidFill>
            <a:srgbClr val="F2F5F7"/>
          </a:solidFill>
          <a:ln w="9525">
            <a:solidFill>
              <a:srgbClr val="B9C0C4"/>
            </a:solidFill>
            <a:prstDash val="solid"/>
          </a:ln>
        </p:spPr>
      </p:sp>
      <p:sp>
        <p:nvSpPr>
          <p:cNvPr id="28" name="Text 26"/>
          <p:cNvSpPr/>
          <p:nvPr/>
        </p:nvSpPr>
        <p:spPr>
          <a:xfrm>
            <a:off x="6629400" y="3904488"/>
            <a:ext cx="438912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Secret hygiene</a:t>
            </a:r>
            <a:endParaRPr lang="en-US" sz="1300" dirty="0"/>
          </a:p>
        </p:txBody>
      </p:sp>
      <p:sp>
        <p:nvSpPr>
          <p:cNvPr id="29" name="Text 27"/>
          <p:cNvSpPr/>
          <p:nvPr/>
        </p:nvSpPr>
        <p:spPr>
          <a:xfrm>
            <a:off x="6629400" y="4197096"/>
            <a:ext cx="4434840" cy="36576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Credentials supplied by environment, never committed.</a:t>
            </a:r>
            <a:endParaRPr lang="en-US" sz="1150" dirty="0"/>
          </a:p>
        </p:txBody>
      </p:sp>
      <p:sp>
        <p:nvSpPr>
          <p:cNvPr id="30" name="Text 28"/>
          <p:cNvSpPr/>
          <p:nvPr/>
        </p:nvSpPr>
        <p:spPr>
          <a:xfrm>
            <a:off x="6355080" y="4892040"/>
            <a:ext cx="4937760" cy="914400"/>
          </a:xfrm>
          <a:prstGeom prst="rect">
            <a:avLst/>
          </a:prstGeom>
          <a:noFill/>
          <a:ln/>
        </p:spPr>
        <p:txBody>
          <a:bodyPr wrap="square" lIns="0" tIns="0" rIns="0" bIns="0" rtlCol="0" anchor="ctr"/>
          <a:lstStyle/>
          <a:p>
            <a:pPr indent="0" marL="0">
              <a:buNone/>
            </a:pPr>
            <a:r>
              <a:rPr lang="en-US" sz="1150" i="1" dirty="0">
                <a:solidFill>
                  <a:srgbClr val="6E7377"/>
                </a:solidFill>
                <a:latin typeface="Calibri" pitchFamily="34" charset="0"/>
                <a:ea typeface="Calibri" pitchFamily="34" charset="-122"/>
                <a:cs typeface="Calibri" pitchFamily="34" charset="-120"/>
              </a:rPr>
              <a:t>Build safety was added mid-project, after it was recognised that writing unvalidated model output into the compiled source tree would let a single non-compiling response break the whole build, including CI.</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METHODOLOGY, PLANNING AND EVALUATION PROTOCOL</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5733288" y="2286000"/>
            <a:ext cx="731520" cy="731520"/>
          </a:xfrm>
          <a:prstGeom prst="ellipse">
            <a:avLst/>
          </a:prstGeom>
          <a:solidFill>
            <a:srgbClr val="FFFFFF"/>
          </a:solidFill>
          <a:ln w="15875">
            <a:solidFill>
              <a:srgbClr val="074D83"/>
            </a:solidFill>
            <a:prstDash val="solid"/>
          </a:ln>
        </p:spPr>
      </p:sp>
      <p:sp>
        <p:nvSpPr>
          <p:cNvPr id="8" name="Text 6"/>
          <p:cNvSpPr/>
          <p:nvPr/>
        </p:nvSpPr>
        <p:spPr>
          <a:xfrm>
            <a:off x="5733288" y="2286000"/>
            <a:ext cx="731520" cy="731520"/>
          </a:xfrm>
          <a:prstGeom prst="rect">
            <a:avLst/>
          </a:prstGeom>
          <a:noFill/>
          <a:ln/>
        </p:spPr>
        <p:txBody>
          <a:bodyPr wrap="square" lIns="0" tIns="0" rIns="0" bIns="0" rtlCol="0" anchor="ctr"/>
          <a:lstStyle/>
          <a:p>
            <a:pPr algn="ctr" indent="0" marL="0">
              <a:buNone/>
            </a:pPr>
            <a:r>
              <a:rPr lang="en-US" sz="2000" dirty="0">
                <a:solidFill>
                  <a:srgbClr val="074D83"/>
                </a:solidFill>
                <a:latin typeface="Calibri" pitchFamily="34" charset="0"/>
                <a:ea typeface="Calibri" pitchFamily="34" charset="-122"/>
                <a:cs typeface="Calibri" pitchFamily="34" charset="-120"/>
              </a:rPr>
              <a:t>2</a:t>
            </a:r>
            <a:endParaRPr lang="en-US" sz="2000" dirty="0"/>
          </a:p>
        </p:txBody>
      </p:sp>
      <p:sp>
        <p:nvSpPr>
          <p:cNvPr id="9" name="Shape 7"/>
          <p:cNvSpPr/>
          <p:nvPr/>
        </p:nvSpPr>
        <p:spPr>
          <a:xfrm>
            <a:off x="3108960" y="3310128"/>
            <a:ext cx="5943600" cy="0"/>
          </a:xfrm>
          <a:prstGeom prst="line">
            <a:avLst/>
          </a:prstGeom>
          <a:noFill/>
          <a:ln w="12700">
            <a:solidFill>
              <a:srgbClr val="B9C0C4"/>
            </a:solidFill>
            <a:prstDash val="solid"/>
          </a:ln>
        </p:spPr>
      </p:sp>
      <p:sp>
        <p:nvSpPr>
          <p:cNvPr id="10" name="Text 8"/>
          <p:cNvSpPr/>
          <p:nvPr/>
        </p:nvSpPr>
        <p:spPr>
          <a:xfrm>
            <a:off x="1280160" y="3429000"/>
            <a:ext cx="9601200" cy="68580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METHODOLOGY, PLANNING AND EVALUATION PROTOCOL</a:t>
            </a:r>
            <a:endParaRPr lang="en-US" sz="2600" dirty="0"/>
          </a:p>
        </p:txBody>
      </p:sp>
      <p:sp>
        <p:nvSpPr>
          <p:cNvPr id="11" name="Shape 9"/>
          <p:cNvSpPr/>
          <p:nvPr/>
        </p:nvSpPr>
        <p:spPr>
          <a:xfrm>
            <a:off x="3108960" y="4206240"/>
            <a:ext cx="5943600" cy="0"/>
          </a:xfrm>
          <a:prstGeom prst="line">
            <a:avLst/>
          </a:prstGeom>
          <a:noFill/>
          <a:ln w="12700">
            <a:solidFill>
              <a:srgbClr val="B9C0C4"/>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METHODOLOGY AND PLANNING</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13</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Development methodology</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828800"/>
            <a:ext cx="10469880" cy="1371600"/>
          </a:xfrm>
          <a:prstGeom prst="roundRect">
            <a:avLst>
              <a:gd name="adj" fmla="val 4000"/>
            </a:avLst>
          </a:prstGeom>
          <a:solidFill>
            <a:srgbClr val="F2F5F7"/>
          </a:solidFill>
          <a:ln w="9525">
            <a:solidFill>
              <a:srgbClr val="B9C0C4"/>
            </a:solidFill>
            <a:prstDash val="solid"/>
          </a:ln>
        </p:spPr>
      </p:sp>
      <p:sp>
        <p:nvSpPr>
          <p:cNvPr id="10" name="Text 8"/>
          <p:cNvSpPr/>
          <p:nvPr/>
        </p:nvSpPr>
        <p:spPr>
          <a:xfrm>
            <a:off x="1143000" y="1828800"/>
            <a:ext cx="9875520" cy="1371600"/>
          </a:xfrm>
          <a:prstGeom prst="rect">
            <a:avLst/>
          </a:prstGeom>
          <a:noFill/>
          <a:ln/>
        </p:spPr>
        <p:txBody>
          <a:bodyPr wrap="square" lIns="0" tIns="0" rIns="0" bIns="0" rtlCol="0" anchor="ctr"/>
          <a:lstStyle/>
          <a:p>
            <a:pPr algn="ctr" indent="0" marL="0">
              <a:buNone/>
            </a:pPr>
            <a:r>
              <a:rPr lang="en-US" sz="1400" dirty="0">
                <a:solidFill>
                  <a:srgbClr val="1A1A1A"/>
                </a:solidFill>
                <a:latin typeface="Calibri" pitchFamily="34" charset="0"/>
                <a:ea typeface="Calibri" pitchFamily="34" charset="-122"/>
                <a:cs typeface="Calibri" pitchFamily="34" charset="-120"/>
              </a:rPr>
              <a:t>Implement the smallest useful capability → exercise it against a real, live website → observe the failures → diagnose each to its root cause → correct with a scoped change.</a:t>
            </a:r>
            <a:endParaRPr lang="en-US" sz="1400" dirty="0"/>
          </a:p>
        </p:txBody>
      </p:sp>
      <p:sp>
        <p:nvSpPr>
          <p:cNvPr id="11" name="Text 9"/>
          <p:cNvSpPr/>
          <p:nvPr/>
        </p:nvSpPr>
        <p:spPr>
          <a:xfrm>
            <a:off x="822960" y="3474720"/>
            <a:ext cx="10469880" cy="320040"/>
          </a:xfrm>
          <a:prstGeom prst="rect">
            <a:avLst/>
          </a:prstGeom>
          <a:noFill/>
          <a:ln/>
        </p:spPr>
        <p:txBody>
          <a:bodyPr wrap="square" lIns="0" tIns="0" rIns="0" bIns="0" rtlCol="0" anchor="ctr"/>
          <a:lstStyle/>
          <a:p>
            <a:pPr indent="0" marL="0">
              <a:buNone/>
            </a:pPr>
            <a:r>
              <a:rPr lang="en-US" sz="1300" b="1" dirty="0">
                <a:solidFill>
                  <a:srgbClr val="074D83"/>
                </a:solidFill>
                <a:latin typeface="Calibri" pitchFamily="34" charset="0"/>
                <a:ea typeface="Calibri" pitchFamily="34" charset="-122"/>
                <a:cs typeface="Calibri" pitchFamily="34" charset="-120"/>
              </a:rPr>
              <a:t>The insistence on real sites is methodologically significant</a:t>
            </a:r>
            <a:endParaRPr lang="en-US" sz="1300" dirty="0"/>
          </a:p>
        </p:txBody>
      </p:sp>
      <p:sp>
        <p:nvSpPr>
          <p:cNvPr id="12" name="Text 10"/>
          <p:cNvSpPr/>
          <p:nvPr/>
        </p:nvSpPr>
        <p:spPr>
          <a:xfrm>
            <a:off x="822960" y="3840480"/>
            <a:ext cx="10469880" cy="14630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Every substantive defect in Chapter V was found this way. None would have surfaced on a clean, tutorial-quality test page.</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A product named test.allTheThings() T-Shirt (Red) produced attribute values that are not legal in Java identifiers.</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The second target site used data-qa where the first used data-test — revealing that the convention had been hard-coded rather than configured.</a:t>
            </a:r>
            <a:endParaRPr lang="en-US" sz="1250" dirty="0"/>
          </a:p>
        </p:txBody>
      </p:sp>
      <p:sp>
        <p:nvSpPr>
          <p:cNvPr id="13" name="Shape 11"/>
          <p:cNvSpPr/>
          <p:nvPr/>
        </p:nvSpPr>
        <p:spPr>
          <a:xfrm>
            <a:off x="822960" y="5349240"/>
            <a:ext cx="10469880" cy="777240"/>
          </a:xfrm>
          <a:prstGeom prst="roundRect">
            <a:avLst>
              <a:gd name="adj" fmla="val 7059"/>
            </a:avLst>
          </a:prstGeom>
          <a:solidFill>
            <a:srgbClr val="F2F5F7"/>
          </a:solidFill>
          <a:ln w="9525">
            <a:solidFill>
              <a:srgbClr val="F2F5F7"/>
            </a:solidFill>
            <a:prstDash val="solid"/>
          </a:ln>
        </p:spPr>
      </p:sp>
      <p:sp>
        <p:nvSpPr>
          <p:cNvPr id="14" name="Text 12"/>
          <p:cNvSpPr/>
          <p:nvPr/>
        </p:nvSpPr>
        <p:spPr>
          <a:xfrm>
            <a:off x="1143000" y="5349240"/>
            <a:ext cx="9875520" cy="77724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Two target applications, chosen deliberately: SauceDemo is purpose-built and cleanly instrumented — a favourable case. automationexercise.com is messier and more realistic. Evaluating both distinguishes behaviour on an idealised page from behaviour on a real one.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METHODOLOGY AND PLANNING</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14</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Planning</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pic>
        <p:nvPicPr>
          <p:cNvPr id="9" name="Image 0" descr="img/fig02.png">    </p:cNvPr>
          <p:cNvPicPr>
            <a:picLocks noChangeAspect="1"/>
          </p:cNvPicPr>
          <p:nvPr/>
        </p:nvPicPr>
        <p:blipFill>
          <a:blip r:embed="rId1"/>
          <a:stretch>
            <a:fillRect/>
          </a:stretch>
        </p:blipFill>
        <p:spPr>
          <a:xfrm>
            <a:off x="914400" y="1828800"/>
            <a:ext cx="10332720" cy="431596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EVALUATION PROTOCOL</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15</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A comparison whose protocol is not stated is not a result</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Text 7"/>
          <p:cNvSpPr/>
          <p:nvPr/>
        </p:nvSpPr>
        <p:spPr>
          <a:xfrm>
            <a:off x="822960" y="1737360"/>
            <a:ext cx="4937760" cy="292608"/>
          </a:xfrm>
          <a:prstGeom prst="rect">
            <a:avLst/>
          </a:prstGeom>
          <a:noFill/>
          <a:ln/>
        </p:spPr>
        <p:txBody>
          <a:bodyPr wrap="square" lIns="0" tIns="0" rIns="0" bIns="0" rtlCol="0" anchor="ctr"/>
          <a:lstStyle/>
          <a:p>
            <a:pPr indent="0" marL="0">
              <a:buNone/>
            </a:pPr>
            <a:r>
              <a:rPr lang="en-US" sz="1300" b="1" dirty="0">
                <a:solidFill>
                  <a:srgbClr val="074D83"/>
                </a:solidFill>
                <a:latin typeface="Calibri" pitchFamily="34" charset="0"/>
                <a:ea typeface="Calibri" pitchFamily="34" charset="-122"/>
                <a:cs typeface="Calibri" pitchFamily="34" charset="-120"/>
              </a:rPr>
              <a:t>Nine metrics, fixed before measuring</a:t>
            </a:r>
            <a:endParaRPr lang="en-US" sz="1300" dirty="0"/>
          </a:p>
        </p:txBody>
      </p:sp>
      <p:sp>
        <p:nvSpPr>
          <p:cNvPr id="10" name="Text 8"/>
          <p:cNvSpPr/>
          <p:nvPr/>
        </p:nvSpPr>
        <p:spPr>
          <a:xfrm>
            <a:off x="822960" y="2103120"/>
            <a:ext cx="4937760" cy="109728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Recall · Precision · Locator quality</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Compilability · Executability · Duplication</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Cost · Latency · Determinism</a:t>
            </a:r>
            <a:endParaRPr lang="en-US" sz="1250" dirty="0"/>
          </a:p>
        </p:txBody>
      </p:sp>
      <p:sp>
        <p:nvSpPr>
          <p:cNvPr id="11" name="Text 9"/>
          <p:cNvSpPr/>
          <p:nvPr/>
        </p:nvSpPr>
        <p:spPr>
          <a:xfrm>
            <a:off x="822960" y="3383280"/>
            <a:ext cx="4937760" cy="292608"/>
          </a:xfrm>
          <a:prstGeom prst="rect">
            <a:avLst/>
          </a:prstGeom>
          <a:noFill/>
          <a:ln/>
        </p:spPr>
        <p:txBody>
          <a:bodyPr wrap="square" lIns="0" tIns="0" rIns="0" bIns="0" rtlCol="0" anchor="ctr"/>
          <a:lstStyle/>
          <a:p>
            <a:pPr indent="0" marL="0">
              <a:buNone/>
            </a:pPr>
            <a:r>
              <a:rPr lang="en-US" sz="1300" b="1" dirty="0">
                <a:solidFill>
                  <a:srgbClr val="074D83"/>
                </a:solidFill>
                <a:latin typeface="Calibri" pitchFamily="34" charset="0"/>
                <a:ea typeface="Calibri" pitchFamily="34" charset="-122"/>
                <a:cs typeface="Calibri" pitchFamily="34" charset="-120"/>
              </a:rPr>
              <a:t>Fairness of the baseline</a:t>
            </a:r>
            <a:endParaRPr lang="en-US" sz="1300" dirty="0"/>
          </a:p>
        </p:txBody>
      </p:sp>
      <p:sp>
        <p:nvSpPr>
          <p:cNvPr id="12" name="Text 10"/>
          <p:cNvSpPr/>
          <p:nvPr/>
        </p:nvSpPr>
        <p:spPr>
          <a:xfrm>
            <a:off x="822960" y="3749040"/>
            <a:ext cx="4937760" cy="182880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A genuinely helpful prompt — prefer stable attributes, skip hidden inputs, extend the same base class.</a:t>
            </a:r>
            <a:endParaRPr lang="en-US" sz="1200" dirty="0"/>
          </a:p>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Formatting artefacts stripped before evaluation, not penalised.</a:t>
            </a:r>
            <a:endParaRPr lang="en-US" sz="1200" dirty="0"/>
          </a:p>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Both pipelines receive identical HTML, same session, same day.</a:t>
            </a:r>
            <a:endParaRPr lang="en-US" sz="1200" dirty="0"/>
          </a:p>
        </p:txBody>
      </p:sp>
      <p:sp>
        <p:nvSpPr>
          <p:cNvPr id="13" name="Shape 11"/>
          <p:cNvSpPr/>
          <p:nvPr/>
        </p:nvSpPr>
        <p:spPr>
          <a:xfrm>
            <a:off x="6355080" y="1737360"/>
            <a:ext cx="4937760" cy="4114800"/>
          </a:xfrm>
          <a:prstGeom prst="roundRect">
            <a:avLst>
              <a:gd name="adj" fmla="val 1333"/>
            </a:avLst>
          </a:prstGeom>
          <a:solidFill>
            <a:srgbClr val="1B2A33"/>
          </a:solidFill>
          <a:ln w="9525">
            <a:solidFill>
              <a:srgbClr val="1B2A33"/>
            </a:solidFill>
            <a:prstDash val="solid"/>
          </a:ln>
        </p:spPr>
      </p:sp>
      <p:sp>
        <p:nvSpPr>
          <p:cNvPr id="14" name="Text 12"/>
          <p:cNvSpPr/>
          <p:nvPr/>
        </p:nvSpPr>
        <p:spPr>
          <a:xfrm>
            <a:off x="6675120" y="1965960"/>
            <a:ext cx="429768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conflict of interest</a:t>
            </a:r>
            <a:endParaRPr lang="en-US" sz="1350" dirty="0"/>
          </a:p>
        </p:txBody>
      </p:sp>
      <p:sp>
        <p:nvSpPr>
          <p:cNvPr id="15" name="Text 13"/>
          <p:cNvSpPr/>
          <p:nvPr/>
        </p:nvSpPr>
        <p:spPr>
          <a:xfrm>
            <a:off x="6675120" y="2331720"/>
            <a:ext cx="4297680" cy="548640"/>
          </a:xfrm>
          <a:prstGeom prst="rect">
            <a:avLst/>
          </a:prstGeom>
          <a:noFill/>
          <a:ln/>
        </p:spPr>
        <p:txBody>
          <a:bodyPr wrap="square" lIns="0" tIns="0" rIns="0" bIns="0" rtlCol="0" anchor="ctr"/>
          <a:lstStyle/>
          <a:p>
            <a:pPr indent="0" marL="0">
              <a:buNone/>
            </a:pPr>
            <a:r>
              <a:rPr lang="en-US" sz="1200" dirty="0">
                <a:solidFill>
                  <a:srgbClr val="A8BBC4"/>
                </a:solidFill>
                <a:latin typeface="Calibri" pitchFamily="34" charset="0"/>
                <a:ea typeface="Calibri" pitchFamily="34" charset="-122"/>
                <a:cs typeface="Calibri" pitchFamily="34" charset="-120"/>
              </a:rPr>
              <a:t>Pipeline A is my own system. I designed the metrics and I took the measurements.</a:t>
            </a:r>
            <a:endParaRPr lang="en-US" sz="1200" dirty="0"/>
          </a:p>
        </p:txBody>
      </p:sp>
      <p:sp>
        <p:nvSpPr>
          <p:cNvPr id="16" name="Text 14"/>
          <p:cNvSpPr/>
          <p:nvPr/>
        </p:nvSpPr>
        <p:spPr>
          <a:xfrm>
            <a:off x="6675120" y="3017520"/>
            <a:ext cx="4297680" cy="274320"/>
          </a:xfrm>
          <a:prstGeom prst="rect">
            <a:avLst/>
          </a:prstGeom>
          <a:noFill/>
          <a:ln/>
        </p:spPr>
        <p:txBody>
          <a:bodyPr wrap="square" lIns="0" tIns="0" rIns="0" bIns="0" rtlCol="0" anchor="ctr"/>
          <a:lstStyle/>
          <a:p>
            <a:pPr indent="0" marL="0">
              <a:buNone/>
            </a:pPr>
            <a:r>
              <a:rPr lang="en-US" sz="1250" b="1" dirty="0">
                <a:solidFill>
                  <a:srgbClr val="037C87"/>
                </a:solidFill>
                <a:latin typeface="Calibri" pitchFamily="34" charset="0"/>
                <a:ea typeface="Calibri" pitchFamily="34" charset="-122"/>
                <a:cs typeface="Calibri" pitchFamily="34" charset="-120"/>
              </a:rPr>
              <a:t>Three commitments</a:t>
            </a:r>
            <a:endParaRPr lang="en-US" sz="1250" dirty="0"/>
          </a:p>
        </p:txBody>
      </p:sp>
      <p:sp>
        <p:nvSpPr>
          <p:cNvPr id="17" name="Text 15"/>
          <p:cNvSpPr/>
          <p:nvPr/>
        </p:nvSpPr>
        <p:spPr>
          <a:xfrm>
            <a:off x="6675120" y="3383280"/>
            <a:ext cx="4297680" cy="2194560"/>
          </a:xfrm>
          <a:prstGeom prst="rect">
            <a:avLst/>
          </a:prstGeom>
          <a:noFill/>
          <a:ln/>
        </p:spPr>
        <p:txBody>
          <a:bodyPr wrap="square" lIns="0" tIns="0" rIns="0" bIns="0" rtlCol="0" anchor="ctr"/>
          <a:lstStyle/>
          <a:p>
            <a:pPr marL="342900" indent="-342900">
              <a:spcAft>
                <a:spcPts val="1000"/>
              </a:spcAft>
              <a:buSzPct val="100000"/>
              <a:buChar char="•"/>
            </a:pPr>
            <a:r>
              <a:rPr lang="en-US" sz="1150" dirty="0">
                <a:solidFill>
                  <a:srgbClr val="D6E1E6"/>
                </a:solidFill>
                <a:latin typeface="Calibri" pitchFamily="34" charset="0"/>
                <a:ea typeface="Calibri" pitchFamily="34" charset="-122"/>
                <a:cs typeface="Calibri" pitchFamily="34" charset="-120"/>
              </a:rPr>
              <a:t>The metric set was fixed before the campaign began.</a:t>
            </a:r>
            <a:endParaRPr lang="en-US" sz="1150" dirty="0"/>
          </a:p>
          <a:p>
            <a:pPr marL="342900" indent="-342900">
              <a:spcAft>
                <a:spcPts val="1000"/>
              </a:spcAft>
              <a:buSzPct val="100000"/>
              <a:buChar char="•"/>
            </a:pPr>
            <a:r>
              <a:rPr lang="en-US" sz="1150" dirty="0">
                <a:solidFill>
                  <a:srgbClr val="D6E1E6"/>
                </a:solidFill>
                <a:latin typeface="Calibri" pitchFamily="34" charset="0"/>
                <a:ea typeface="Calibri" pitchFamily="34" charset="-122"/>
                <a:cs typeface="Calibri" pitchFamily="34" charset="-120"/>
              </a:rPr>
              <a:t>Defects in my pipeline are logged with the same severity scale as defects in the baseline.</a:t>
            </a:r>
            <a:endParaRPr lang="en-US" sz="1150" dirty="0"/>
          </a:p>
          <a:p>
            <a:pPr marL="342900" indent="-342900">
              <a:spcAft>
                <a:spcPts val="1000"/>
              </a:spcAft>
              <a:buSzPct val="100000"/>
              <a:buChar char="•"/>
            </a:pPr>
            <a:r>
              <a:rPr lang="en-US" sz="1150" dirty="0">
                <a:solidFill>
                  <a:srgbClr val="D6E1E6"/>
                </a:solidFill>
                <a:latin typeface="Calibri" pitchFamily="34" charset="0"/>
                <a:ea typeface="Calibri" pitchFamily="34" charset="-122"/>
                <a:cs typeface="Calibri" pitchFamily="34" charset="-120"/>
              </a:rPr>
              <a:t>Every artefact is retained, so any measurement can be independently recomputed.</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EVALUATION PROTOCOL</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16</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Threats to validity</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783080"/>
            <a:ext cx="10469880" cy="1051560"/>
          </a:xfrm>
          <a:prstGeom prst="roundRect">
            <a:avLst>
              <a:gd name="adj" fmla="val 5217"/>
            </a:avLst>
          </a:prstGeom>
          <a:solidFill>
            <a:srgbClr val="F2F5F7"/>
          </a:solidFill>
          <a:ln w="9525">
            <a:solidFill>
              <a:srgbClr val="B9C0C4"/>
            </a:solidFill>
            <a:prstDash val="solid"/>
          </a:ln>
        </p:spPr>
      </p:sp>
      <p:sp>
        <p:nvSpPr>
          <p:cNvPr id="10" name="Text 8"/>
          <p:cNvSpPr/>
          <p:nvPr/>
        </p:nvSpPr>
        <p:spPr>
          <a:xfrm>
            <a:off x="1143000" y="1920240"/>
            <a:ext cx="1737360" cy="777240"/>
          </a:xfrm>
          <a:prstGeom prst="rect">
            <a:avLst/>
          </a:prstGeom>
          <a:noFill/>
          <a:ln/>
        </p:spPr>
        <p:txBody>
          <a:bodyPr wrap="square" lIns="0" tIns="0" rIns="0" bIns="0" rtlCol="0" anchor="ctr"/>
          <a:lstStyle/>
          <a:p>
            <a:pPr indent="0" marL="0">
              <a:buNone/>
            </a:pPr>
            <a:r>
              <a:rPr lang="en-US" sz="1350" b="1" dirty="0">
                <a:solidFill>
                  <a:srgbClr val="074D83"/>
                </a:solidFill>
                <a:latin typeface="Calibri" pitchFamily="34" charset="0"/>
                <a:ea typeface="Calibri" pitchFamily="34" charset="-122"/>
                <a:cs typeface="Calibri" pitchFamily="34" charset="-120"/>
              </a:rPr>
              <a:t>Construct</a:t>
            </a:r>
            <a:endParaRPr lang="en-US" sz="1350" dirty="0"/>
          </a:p>
        </p:txBody>
      </p:sp>
      <p:sp>
        <p:nvSpPr>
          <p:cNvPr id="11" name="Text 9"/>
          <p:cNvSpPr/>
          <p:nvPr/>
        </p:nvSpPr>
        <p:spPr>
          <a:xfrm>
            <a:off x="2926080" y="1892808"/>
            <a:ext cx="8092440" cy="82296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The metrics are proxies. Compilability and executability are strong evidence of usability but do not establish maintainability — the property that ultimately matters, and which could not be measured in the time available.</a:t>
            </a:r>
            <a:endParaRPr lang="en-US" sz="1150" dirty="0"/>
          </a:p>
        </p:txBody>
      </p:sp>
      <p:sp>
        <p:nvSpPr>
          <p:cNvPr id="12" name="Shape 10"/>
          <p:cNvSpPr/>
          <p:nvPr/>
        </p:nvSpPr>
        <p:spPr>
          <a:xfrm>
            <a:off x="822960" y="2953512"/>
            <a:ext cx="10469880" cy="1051560"/>
          </a:xfrm>
          <a:prstGeom prst="roundRect">
            <a:avLst>
              <a:gd name="adj" fmla="val 5217"/>
            </a:avLst>
          </a:prstGeom>
          <a:solidFill>
            <a:srgbClr val="F2F5F7"/>
          </a:solidFill>
          <a:ln w="9525">
            <a:solidFill>
              <a:srgbClr val="B9C0C4"/>
            </a:solidFill>
            <a:prstDash val="solid"/>
          </a:ln>
        </p:spPr>
      </p:sp>
      <p:sp>
        <p:nvSpPr>
          <p:cNvPr id="13" name="Text 11"/>
          <p:cNvSpPr/>
          <p:nvPr/>
        </p:nvSpPr>
        <p:spPr>
          <a:xfrm>
            <a:off x="1143000" y="3090672"/>
            <a:ext cx="1737360" cy="777240"/>
          </a:xfrm>
          <a:prstGeom prst="rect">
            <a:avLst/>
          </a:prstGeom>
          <a:noFill/>
          <a:ln/>
        </p:spPr>
        <p:txBody>
          <a:bodyPr wrap="square" lIns="0" tIns="0" rIns="0" bIns="0" rtlCol="0" anchor="ctr"/>
          <a:lstStyle/>
          <a:p>
            <a:pPr indent="0" marL="0">
              <a:buNone/>
            </a:pPr>
            <a:r>
              <a:rPr lang="en-US" sz="1350" b="1" dirty="0">
                <a:solidFill>
                  <a:srgbClr val="074D83"/>
                </a:solidFill>
                <a:latin typeface="Calibri" pitchFamily="34" charset="0"/>
                <a:ea typeface="Calibri" pitchFamily="34" charset="-122"/>
                <a:cs typeface="Calibri" pitchFamily="34" charset="-120"/>
              </a:rPr>
              <a:t>Internal</a:t>
            </a:r>
            <a:endParaRPr lang="en-US" sz="1350" dirty="0"/>
          </a:p>
        </p:txBody>
      </p:sp>
      <p:sp>
        <p:nvSpPr>
          <p:cNvPr id="14" name="Text 12"/>
          <p:cNvSpPr/>
          <p:nvPr/>
        </p:nvSpPr>
        <p:spPr>
          <a:xfrm>
            <a:off x="2926080" y="3063240"/>
            <a:ext cx="8092440" cy="82296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Ground-truth counts were established by a single observer. A second independent counter would strengthen them. A hosted model may also change without notice, independently of the experiment.</a:t>
            </a:r>
            <a:endParaRPr lang="en-US" sz="1150" dirty="0"/>
          </a:p>
        </p:txBody>
      </p:sp>
      <p:sp>
        <p:nvSpPr>
          <p:cNvPr id="15" name="Shape 13"/>
          <p:cNvSpPr/>
          <p:nvPr/>
        </p:nvSpPr>
        <p:spPr>
          <a:xfrm>
            <a:off x="822960" y="4123944"/>
            <a:ext cx="10469880" cy="1051560"/>
          </a:xfrm>
          <a:prstGeom prst="roundRect">
            <a:avLst>
              <a:gd name="adj" fmla="val 5217"/>
            </a:avLst>
          </a:prstGeom>
          <a:solidFill>
            <a:srgbClr val="F2F5F7"/>
          </a:solidFill>
          <a:ln w="9525">
            <a:solidFill>
              <a:srgbClr val="B9C0C4"/>
            </a:solidFill>
            <a:prstDash val="solid"/>
          </a:ln>
        </p:spPr>
      </p:sp>
      <p:sp>
        <p:nvSpPr>
          <p:cNvPr id="16" name="Text 14"/>
          <p:cNvSpPr/>
          <p:nvPr/>
        </p:nvSpPr>
        <p:spPr>
          <a:xfrm>
            <a:off x="1143000" y="4261104"/>
            <a:ext cx="1737360" cy="777240"/>
          </a:xfrm>
          <a:prstGeom prst="rect">
            <a:avLst/>
          </a:prstGeom>
          <a:noFill/>
          <a:ln/>
        </p:spPr>
        <p:txBody>
          <a:bodyPr wrap="square" lIns="0" tIns="0" rIns="0" bIns="0" rtlCol="0" anchor="ctr"/>
          <a:lstStyle/>
          <a:p>
            <a:pPr indent="0" marL="0">
              <a:buNone/>
            </a:pPr>
            <a:r>
              <a:rPr lang="en-US" sz="1350" b="1" dirty="0">
                <a:solidFill>
                  <a:srgbClr val="074D83"/>
                </a:solidFill>
                <a:latin typeface="Calibri" pitchFamily="34" charset="0"/>
                <a:ea typeface="Calibri" pitchFamily="34" charset="-122"/>
                <a:cs typeface="Calibri" pitchFamily="34" charset="-120"/>
              </a:rPr>
              <a:t>External</a:t>
            </a:r>
            <a:endParaRPr lang="en-US" sz="1350" dirty="0"/>
          </a:p>
        </p:txBody>
      </p:sp>
      <p:sp>
        <p:nvSpPr>
          <p:cNvPr id="17" name="Text 15"/>
          <p:cNvSpPr/>
          <p:nvPr/>
        </p:nvSpPr>
        <p:spPr>
          <a:xfrm>
            <a:off x="2926080" y="4233672"/>
            <a:ext cx="8092440" cy="82296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Two sites, one page examined in depth. Both are English-language e-commerce sites of moderate complexity. Single-page applications with heavy dynamic re-rendering, or shadow DOM, are not covered.</a:t>
            </a:r>
            <a:endParaRPr lang="en-US" sz="1150" dirty="0"/>
          </a:p>
        </p:txBody>
      </p:sp>
      <p:sp>
        <p:nvSpPr>
          <p:cNvPr id="18" name="Shape 16"/>
          <p:cNvSpPr/>
          <p:nvPr/>
        </p:nvSpPr>
        <p:spPr>
          <a:xfrm>
            <a:off x="822960" y="5294376"/>
            <a:ext cx="10469880" cy="1051560"/>
          </a:xfrm>
          <a:prstGeom prst="roundRect">
            <a:avLst>
              <a:gd name="adj" fmla="val 5217"/>
            </a:avLst>
          </a:prstGeom>
          <a:solidFill>
            <a:srgbClr val="F2F5F7"/>
          </a:solidFill>
          <a:ln w="9525">
            <a:solidFill>
              <a:srgbClr val="B9C0C4"/>
            </a:solidFill>
            <a:prstDash val="solid"/>
          </a:ln>
        </p:spPr>
      </p:sp>
      <p:sp>
        <p:nvSpPr>
          <p:cNvPr id="19" name="Text 17"/>
          <p:cNvSpPr/>
          <p:nvPr/>
        </p:nvSpPr>
        <p:spPr>
          <a:xfrm>
            <a:off x="1143000" y="5431536"/>
            <a:ext cx="1737360" cy="777240"/>
          </a:xfrm>
          <a:prstGeom prst="rect">
            <a:avLst/>
          </a:prstGeom>
          <a:noFill/>
          <a:ln/>
        </p:spPr>
        <p:txBody>
          <a:bodyPr wrap="square" lIns="0" tIns="0" rIns="0" bIns="0" rtlCol="0" anchor="ctr"/>
          <a:lstStyle/>
          <a:p>
            <a:pPr indent="0" marL="0">
              <a:buNone/>
            </a:pPr>
            <a:r>
              <a:rPr lang="en-US" sz="1350" b="1" dirty="0">
                <a:solidFill>
                  <a:srgbClr val="074D83"/>
                </a:solidFill>
                <a:latin typeface="Calibri" pitchFamily="34" charset="0"/>
                <a:ea typeface="Calibri" pitchFamily="34" charset="-122"/>
                <a:cs typeface="Calibri" pitchFamily="34" charset="-120"/>
              </a:rPr>
              <a:t>Reliability</a:t>
            </a:r>
            <a:endParaRPr lang="en-US" sz="1350" dirty="0"/>
          </a:p>
        </p:txBody>
      </p:sp>
      <p:sp>
        <p:nvSpPr>
          <p:cNvPr id="20" name="Text 18"/>
          <p:cNvSpPr/>
          <p:nvPr/>
        </p:nvSpPr>
        <p:spPr>
          <a:xfrm>
            <a:off x="2926080" y="5404104"/>
            <a:ext cx="8092440" cy="82296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Pipeline A’s output is byte-reproducible, so its measurements reproduce exactly. Pipeline B’s cannot be, by the very property under study — so its results are reported per run, and the variance is itself treated as a result.</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FUNCTIONAL DESIGN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17</a:t>
            </a:r>
            <a:endParaRPr lang="en-US" sz="900" dirty="0"/>
          </a:p>
        </p:txBody>
      </p:sp>
      <p:sp>
        <p:nvSpPr>
          <p:cNvPr id="7" name="Shape 5"/>
          <p:cNvSpPr/>
          <p:nvPr/>
        </p:nvSpPr>
        <p:spPr>
          <a:xfrm>
            <a:off x="5733288" y="2286000"/>
            <a:ext cx="731520" cy="731520"/>
          </a:xfrm>
          <a:prstGeom prst="ellipse">
            <a:avLst/>
          </a:prstGeom>
          <a:solidFill>
            <a:srgbClr val="FFFFFF"/>
          </a:solidFill>
          <a:ln w="15875">
            <a:solidFill>
              <a:srgbClr val="074D83"/>
            </a:solidFill>
            <a:prstDash val="solid"/>
          </a:ln>
        </p:spPr>
      </p:sp>
      <p:sp>
        <p:nvSpPr>
          <p:cNvPr id="8" name="Text 6"/>
          <p:cNvSpPr/>
          <p:nvPr/>
        </p:nvSpPr>
        <p:spPr>
          <a:xfrm>
            <a:off x="5733288" y="2286000"/>
            <a:ext cx="731520" cy="731520"/>
          </a:xfrm>
          <a:prstGeom prst="rect">
            <a:avLst/>
          </a:prstGeom>
          <a:noFill/>
          <a:ln/>
        </p:spPr>
        <p:txBody>
          <a:bodyPr wrap="square" lIns="0" tIns="0" rIns="0" bIns="0" rtlCol="0" anchor="ctr"/>
          <a:lstStyle/>
          <a:p>
            <a:pPr algn="ctr" indent="0" marL="0">
              <a:buNone/>
            </a:pPr>
            <a:r>
              <a:rPr lang="en-US" sz="2000" dirty="0">
                <a:solidFill>
                  <a:srgbClr val="074D83"/>
                </a:solidFill>
                <a:latin typeface="Calibri" pitchFamily="34" charset="0"/>
                <a:ea typeface="Calibri" pitchFamily="34" charset="-122"/>
                <a:cs typeface="Calibri" pitchFamily="34" charset="-120"/>
              </a:rPr>
              <a:t>3</a:t>
            </a:r>
            <a:endParaRPr lang="en-US" sz="2000" dirty="0"/>
          </a:p>
        </p:txBody>
      </p:sp>
      <p:sp>
        <p:nvSpPr>
          <p:cNvPr id="9" name="Shape 7"/>
          <p:cNvSpPr/>
          <p:nvPr/>
        </p:nvSpPr>
        <p:spPr>
          <a:xfrm>
            <a:off x="3108960" y="3310128"/>
            <a:ext cx="5943600" cy="0"/>
          </a:xfrm>
          <a:prstGeom prst="line">
            <a:avLst/>
          </a:prstGeom>
          <a:noFill/>
          <a:ln w="12700">
            <a:solidFill>
              <a:srgbClr val="B9C0C4"/>
            </a:solidFill>
            <a:prstDash val="solid"/>
          </a:ln>
        </p:spPr>
      </p:sp>
      <p:sp>
        <p:nvSpPr>
          <p:cNvPr id="10" name="Text 8"/>
          <p:cNvSpPr/>
          <p:nvPr/>
        </p:nvSpPr>
        <p:spPr>
          <a:xfrm>
            <a:off x="1280160" y="3429000"/>
            <a:ext cx="9601200" cy="68580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FUNCTIONAL DESIGN</a:t>
            </a:r>
            <a:endParaRPr lang="en-US" sz="2600" dirty="0"/>
          </a:p>
        </p:txBody>
      </p:sp>
      <p:sp>
        <p:nvSpPr>
          <p:cNvPr id="11" name="Shape 9"/>
          <p:cNvSpPr/>
          <p:nvPr/>
        </p:nvSpPr>
        <p:spPr>
          <a:xfrm>
            <a:off x="3108960" y="4206240"/>
            <a:ext cx="5943600" cy="0"/>
          </a:xfrm>
          <a:prstGeom prst="line">
            <a:avLst/>
          </a:prstGeom>
          <a:noFill/>
          <a:ln w="12700">
            <a:solidFill>
              <a:srgbClr val="B9C0C4"/>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FUNCTIONAL DESIGN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18</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Actors</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828800"/>
            <a:ext cx="10469880" cy="1234440"/>
          </a:xfrm>
          <a:prstGeom prst="roundRect">
            <a:avLst>
              <a:gd name="adj" fmla="val 4444"/>
            </a:avLst>
          </a:prstGeom>
          <a:solidFill>
            <a:srgbClr val="F2F5F7"/>
          </a:solidFill>
          <a:ln w="9525">
            <a:solidFill>
              <a:srgbClr val="B9C0C4"/>
            </a:solidFill>
            <a:prstDash val="solid"/>
          </a:ln>
        </p:spPr>
      </p:sp>
      <p:sp>
        <p:nvSpPr>
          <p:cNvPr id="10" name="Text 8"/>
          <p:cNvSpPr/>
          <p:nvPr/>
        </p:nvSpPr>
        <p:spPr>
          <a:xfrm>
            <a:off x="1143000" y="2011680"/>
            <a:ext cx="2286000" cy="868680"/>
          </a:xfrm>
          <a:prstGeom prst="rect">
            <a:avLst/>
          </a:prstGeom>
          <a:noFill/>
          <a:ln/>
        </p:spPr>
        <p:txBody>
          <a:bodyPr wrap="square" lIns="0" tIns="0" rIns="0" bIns="0" rtlCol="0" anchor="ctr"/>
          <a:lstStyle/>
          <a:p>
            <a:pPr indent="0" marL="0">
              <a:buNone/>
            </a:pPr>
            <a:r>
              <a:rPr lang="en-US" sz="1400" b="1" dirty="0">
                <a:solidFill>
                  <a:srgbClr val="074D83"/>
                </a:solidFill>
                <a:latin typeface="Calibri" pitchFamily="34" charset="0"/>
                <a:ea typeface="Calibri" pitchFamily="34" charset="-122"/>
                <a:cs typeface="Calibri" pitchFamily="34" charset="-120"/>
              </a:rPr>
              <a:t>QA Engineer</a:t>
            </a:r>
            <a:endParaRPr lang="en-US" sz="1400" dirty="0"/>
          </a:p>
        </p:txBody>
      </p:sp>
      <p:sp>
        <p:nvSpPr>
          <p:cNvPr id="11" name="Text 9"/>
          <p:cNvSpPr/>
          <p:nvPr/>
        </p:nvSpPr>
        <p:spPr>
          <a:xfrm>
            <a:off x="3520440" y="1975104"/>
            <a:ext cx="7498080" cy="914400"/>
          </a:xfrm>
          <a:prstGeom prst="rect">
            <a:avLst/>
          </a:prstGeom>
          <a:noFill/>
          <a:ln/>
        </p:spPr>
        <p:txBody>
          <a:bodyPr wrap="square" lIns="0" tIns="0" rIns="0" bIns="0" rtlCol="0" anchor="ctr"/>
          <a:lstStyle/>
          <a:p>
            <a:pPr indent="0" marL="0">
              <a:buNone/>
            </a:pPr>
            <a:r>
              <a:rPr lang="en-US" sz="1200" dirty="0">
                <a:solidFill>
                  <a:srgbClr val="6E7377"/>
                </a:solidFill>
                <a:latin typeface="Calibri" pitchFamily="34" charset="0"/>
                <a:ea typeface="Calibri" pitchFamily="34" charset="-122"/>
                <a:cs typeface="Calibri" pitchFamily="34" charset="-120"/>
              </a:rPr>
              <a:t>The primary human actor. Executes the suite, initiates generation, and — crucially — reviews low-confidence output. The system is designed to be human-in-the-loop, not autonomous.</a:t>
            </a:r>
            <a:endParaRPr lang="en-US" sz="1200" dirty="0"/>
          </a:p>
        </p:txBody>
      </p:sp>
      <p:sp>
        <p:nvSpPr>
          <p:cNvPr id="12" name="Shape 10"/>
          <p:cNvSpPr/>
          <p:nvPr/>
        </p:nvSpPr>
        <p:spPr>
          <a:xfrm>
            <a:off x="822960" y="3246120"/>
            <a:ext cx="10469880" cy="1234440"/>
          </a:xfrm>
          <a:prstGeom prst="roundRect">
            <a:avLst>
              <a:gd name="adj" fmla="val 4444"/>
            </a:avLst>
          </a:prstGeom>
          <a:solidFill>
            <a:srgbClr val="F2F5F7"/>
          </a:solidFill>
          <a:ln w="9525">
            <a:solidFill>
              <a:srgbClr val="B9C0C4"/>
            </a:solidFill>
            <a:prstDash val="solid"/>
          </a:ln>
        </p:spPr>
      </p:sp>
      <p:sp>
        <p:nvSpPr>
          <p:cNvPr id="13" name="Text 11"/>
          <p:cNvSpPr/>
          <p:nvPr/>
        </p:nvSpPr>
        <p:spPr>
          <a:xfrm>
            <a:off x="1143000" y="3429000"/>
            <a:ext cx="2286000" cy="868680"/>
          </a:xfrm>
          <a:prstGeom prst="rect">
            <a:avLst/>
          </a:prstGeom>
          <a:noFill/>
          <a:ln/>
        </p:spPr>
        <p:txBody>
          <a:bodyPr wrap="square" lIns="0" tIns="0" rIns="0" bIns="0" rtlCol="0" anchor="ctr"/>
          <a:lstStyle/>
          <a:p>
            <a:pPr indent="0" marL="0">
              <a:buNone/>
            </a:pPr>
            <a:r>
              <a:rPr lang="en-US" sz="1400" b="1" dirty="0">
                <a:solidFill>
                  <a:srgbClr val="074D83"/>
                </a:solidFill>
                <a:latin typeface="Calibri" pitchFamily="34" charset="0"/>
                <a:ea typeface="Calibri" pitchFamily="34" charset="-122"/>
                <a:cs typeface="Calibri" pitchFamily="34" charset="-120"/>
              </a:rPr>
              <a:t>CI Server</a:t>
            </a:r>
            <a:endParaRPr lang="en-US" sz="1400" dirty="0"/>
          </a:p>
        </p:txBody>
      </p:sp>
      <p:sp>
        <p:nvSpPr>
          <p:cNvPr id="14" name="Text 12"/>
          <p:cNvSpPr/>
          <p:nvPr/>
        </p:nvSpPr>
        <p:spPr>
          <a:xfrm>
            <a:off x="3520440" y="3392424"/>
            <a:ext cx="7498080" cy="914400"/>
          </a:xfrm>
          <a:prstGeom prst="rect">
            <a:avLst/>
          </a:prstGeom>
          <a:noFill/>
          <a:ln/>
        </p:spPr>
        <p:txBody>
          <a:bodyPr wrap="square" lIns="0" tIns="0" rIns="0" bIns="0" rtlCol="0" anchor="ctr"/>
          <a:lstStyle/>
          <a:p>
            <a:pPr indent="0" marL="0">
              <a:buNone/>
            </a:pPr>
            <a:r>
              <a:rPr lang="en-US" sz="1200" dirty="0">
                <a:solidFill>
                  <a:srgbClr val="6E7377"/>
                </a:solidFill>
                <a:latin typeface="Calibri" pitchFamily="34" charset="0"/>
                <a:ea typeface="Calibri" pitchFamily="34" charset="-122"/>
                <a:cs typeface="Calibri" pitchFamily="34" charset="-120"/>
              </a:rPr>
              <a:t>A secondary, non-human actor. Executes the suite automatically on every change. Realised by two independent implementations: GitHub Actions and Jenkins.</a:t>
            </a:r>
            <a:endParaRPr lang="en-US" sz="1200" dirty="0"/>
          </a:p>
        </p:txBody>
      </p:sp>
      <p:sp>
        <p:nvSpPr>
          <p:cNvPr id="15" name="Shape 13"/>
          <p:cNvSpPr/>
          <p:nvPr/>
        </p:nvSpPr>
        <p:spPr>
          <a:xfrm>
            <a:off x="822960" y="4663440"/>
            <a:ext cx="10469880" cy="1234440"/>
          </a:xfrm>
          <a:prstGeom prst="roundRect">
            <a:avLst>
              <a:gd name="adj" fmla="val 4444"/>
            </a:avLst>
          </a:prstGeom>
          <a:solidFill>
            <a:srgbClr val="F2F5F7"/>
          </a:solidFill>
          <a:ln w="9525">
            <a:solidFill>
              <a:srgbClr val="B9C0C4"/>
            </a:solidFill>
            <a:prstDash val="solid"/>
          </a:ln>
        </p:spPr>
      </p:sp>
      <p:sp>
        <p:nvSpPr>
          <p:cNvPr id="16" name="Text 14"/>
          <p:cNvSpPr/>
          <p:nvPr/>
        </p:nvSpPr>
        <p:spPr>
          <a:xfrm>
            <a:off x="1143000" y="4846320"/>
            <a:ext cx="2286000" cy="868680"/>
          </a:xfrm>
          <a:prstGeom prst="rect">
            <a:avLst/>
          </a:prstGeom>
          <a:noFill/>
          <a:ln/>
        </p:spPr>
        <p:txBody>
          <a:bodyPr wrap="square" lIns="0" tIns="0" rIns="0" bIns="0" rtlCol="0" anchor="ctr"/>
          <a:lstStyle/>
          <a:p>
            <a:pPr indent="0" marL="0">
              <a:buNone/>
            </a:pPr>
            <a:r>
              <a:rPr lang="en-US" sz="1400" b="1" dirty="0">
                <a:solidFill>
                  <a:srgbClr val="074D83"/>
                </a:solidFill>
                <a:latin typeface="Calibri" pitchFamily="34" charset="0"/>
                <a:ea typeface="Calibri" pitchFamily="34" charset="-122"/>
                <a:cs typeface="Calibri" pitchFamily="34" charset="-120"/>
              </a:rPr>
              <a:t>LLM Service</a:t>
            </a:r>
            <a:endParaRPr lang="en-US" sz="1400" dirty="0"/>
          </a:p>
        </p:txBody>
      </p:sp>
      <p:sp>
        <p:nvSpPr>
          <p:cNvPr id="17" name="Text 15"/>
          <p:cNvSpPr/>
          <p:nvPr/>
        </p:nvSpPr>
        <p:spPr>
          <a:xfrm>
            <a:off x="3520440" y="4809744"/>
            <a:ext cx="7498080" cy="914400"/>
          </a:xfrm>
          <a:prstGeom prst="rect">
            <a:avLst/>
          </a:prstGeom>
          <a:noFill/>
          <a:ln/>
        </p:spPr>
        <p:txBody>
          <a:bodyPr wrap="square" lIns="0" tIns="0" rIns="0" bIns="0" rtlCol="0" anchor="ctr"/>
          <a:lstStyle/>
          <a:p>
            <a:pPr indent="0" marL="0">
              <a:buNone/>
            </a:pPr>
            <a:r>
              <a:rPr lang="en-US" sz="1200" dirty="0">
                <a:solidFill>
                  <a:srgbClr val="6E7377"/>
                </a:solidFill>
                <a:latin typeface="Calibri" pitchFamily="34" charset="0"/>
                <a:ea typeface="Calibri" pitchFamily="34" charset="-122"/>
                <a:cs typeface="Calibri" pitchFamily="34" charset="-120"/>
              </a:rPr>
              <a:t>A secondary, external actor providing judgement on request. Gemini in the cloud or a local Llama via Ollama. Its availability is not guaranteed and the system is designed accordingly.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FUNCTIONAL DESIGN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19</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Use case diagram</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pic>
        <p:nvPicPr>
          <p:cNvPr id="9" name="Image 0" descr="img/fig03.png">    </p:cNvPr>
          <p:cNvPicPr>
            <a:picLocks noChangeAspect="1"/>
          </p:cNvPicPr>
          <p:nvPr/>
        </p:nvPicPr>
        <p:blipFill>
          <a:blip r:embed="rId1"/>
          <a:stretch>
            <a:fillRect/>
          </a:stretch>
        </p:blipFill>
        <p:spPr>
          <a:xfrm>
            <a:off x="2103120" y="1600200"/>
            <a:ext cx="8001000" cy="422452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FUNCTIONAL DESIGN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20</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The contribution: confidence-gated escalation</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Text 7"/>
          <p:cNvSpPr/>
          <p:nvPr/>
        </p:nvSpPr>
        <p:spPr>
          <a:xfrm>
            <a:off x="822960" y="1572768"/>
            <a:ext cx="5943600" cy="274320"/>
          </a:xfrm>
          <a:prstGeom prst="rect">
            <a:avLst/>
          </a:prstGeom>
          <a:noFill/>
          <a:ln/>
        </p:spPr>
        <p:txBody>
          <a:bodyPr wrap="square" lIns="0" tIns="0" rIns="0" bIns="0" rtlCol="0" anchor="ctr"/>
          <a:lstStyle/>
          <a:p>
            <a:pPr indent="0" marL="0">
              <a:buNone/>
            </a:pPr>
            <a:r>
              <a:rPr lang="en-US" sz="1150" i="1" dirty="0">
                <a:solidFill>
                  <a:srgbClr val="6E7377"/>
                </a:solidFill>
                <a:latin typeface="Calibri" pitchFamily="34" charset="0"/>
                <a:ea typeface="Calibri" pitchFamily="34" charset="-122"/>
                <a:cs typeface="Calibri" pitchFamily="34" charset="-120"/>
              </a:rPr>
              <a:t>Four strategies, tried in order</a:t>
            </a:r>
            <a:endParaRPr lang="en-US" sz="1150" dirty="0"/>
          </a:p>
        </p:txBody>
      </p:sp>
      <p:sp>
        <p:nvSpPr>
          <p:cNvPr id="10" name="Shape 8"/>
          <p:cNvSpPr/>
          <p:nvPr/>
        </p:nvSpPr>
        <p:spPr>
          <a:xfrm>
            <a:off x="822960" y="1901952"/>
            <a:ext cx="5760720" cy="758952"/>
          </a:xfrm>
          <a:prstGeom prst="roundRect">
            <a:avLst>
              <a:gd name="adj" fmla="val 7229"/>
            </a:avLst>
          </a:prstGeom>
          <a:solidFill>
            <a:srgbClr val="F2F5F7"/>
          </a:solidFill>
          <a:ln w="9525">
            <a:solidFill>
              <a:srgbClr val="F2F5F7"/>
            </a:solidFill>
            <a:prstDash val="solid"/>
          </a:ln>
        </p:spPr>
      </p:sp>
      <p:sp>
        <p:nvSpPr>
          <p:cNvPr id="11" name="Text 9"/>
          <p:cNvSpPr/>
          <p:nvPr/>
        </p:nvSpPr>
        <p:spPr>
          <a:xfrm>
            <a:off x="1115568" y="2002536"/>
            <a:ext cx="2743200" cy="274320"/>
          </a:xfrm>
          <a:prstGeom prst="rect">
            <a:avLst/>
          </a:prstGeom>
          <a:noFill/>
          <a:ln/>
        </p:spPr>
        <p:txBody>
          <a:bodyPr wrap="square" lIns="0" tIns="0" rIns="0" bIns="0" rtlCol="0" anchor="ctr"/>
          <a:lstStyle/>
          <a:p>
            <a:pPr indent="0" marL="0">
              <a:buNone/>
            </a:pPr>
            <a:r>
              <a:rPr lang="en-US" sz="1300" b="1" dirty="0">
                <a:solidFill>
                  <a:srgbClr val="037C87"/>
                </a:solidFill>
                <a:latin typeface="Courier New" pitchFamily="34" charset="0"/>
                <a:ea typeface="Courier New" pitchFamily="34" charset="-122"/>
                <a:cs typeface="Courier New" pitchFamily="34" charset="-120"/>
              </a:rPr>
              <a:t>data-test / data-qa</a:t>
            </a:r>
            <a:endParaRPr lang="en-US" sz="1300" dirty="0"/>
          </a:p>
        </p:txBody>
      </p:sp>
      <p:sp>
        <p:nvSpPr>
          <p:cNvPr id="12" name="Text 10"/>
          <p:cNvSpPr/>
          <p:nvPr/>
        </p:nvSpPr>
        <p:spPr>
          <a:xfrm>
            <a:off x="1115568" y="2295144"/>
            <a:ext cx="5212080" cy="274320"/>
          </a:xfrm>
          <a:prstGeom prst="rect">
            <a:avLst/>
          </a:prstGeom>
          <a:noFill/>
          <a:ln/>
        </p:spPr>
        <p:txBody>
          <a:bodyPr wrap="square" lIns="0" tIns="0" rIns="0" bIns="0" rtlCol="0" anchor="ctr"/>
          <a:lstStyle/>
          <a:p>
            <a:pPr indent="0" marL="0">
              <a:buNone/>
            </a:pPr>
            <a:r>
              <a:rPr lang="en-US" sz="1100" dirty="0">
                <a:solidFill>
                  <a:srgbClr val="6E7377"/>
                </a:solidFill>
                <a:latin typeface="Calibri" pitchFamily="34" charset="0"/>
                <a:ea typeface="Calibri" pitchFamily="34" charset="-122"/>
                <a:cs typeface="Calibri" pitchFamily="34" charset="-120"/>
              </a:rPr>
              <a:t>exists only for testing — no reason to change</a:t>
            </a:r>
            <a:endParaRPr lang="en-US" sz="1100" dirty="0"/>
          </a:p>
        </p:txBody>
      </p:sp>
      <p:sp>
        <p:nvSpPr>
          <p:cNvPr id="13" name="Shape 11"/>
          <p:cNvSpPr/>
          <p:nvPr/>
        </p:nvSpPr>
        <p:spPr>
          <a:xfrm>
            <a:off x="822960" y="2770632"/>
            <a:ext cx="5760720" cy="758952"/>
          </a:xfrm>
          <a:prstGeom prst="roundRect">
            <a:avLst>
              <a:gd name="adj" fmla="val 7229"/>
            </a:avLst>
          </a:prstGeom>
          <a:solidFill>
            <a:srgbClr val="F2F5F7"/>
          </a:solidFill>
          <a:ln w="9525">
            <a:solidFill>
              <a:srgbClr val="F2F5F7"/>
            </a:solidFill>
            <a:prstDash val="solid"/>
          </a:ln>
        </p:spPr>
      </p:sp>
      <p:sp>
        <p:nvSpPr>
          <p:cNvPr id="14" name="Text 12"/>
          <p:cNvSpPr/>
          <p:nvPr/>
        </p:nvSpPr>
        <p:spPr>
          <a:xfrm>
            <a:off x="1115568" y="2871216"/>
            <a:ext cx="2743200" cy="274320"/>
          </a:xfrm>
          <a:prstGeom prst="rect">
            <a:avLst/>
          </a:prstGeom>
          <a:noFill/>
          <a:ln/>
        </p:spPr>
        <p:txBody>
          <a:bodyPr wrap="square" lIns="0" tIns="0" rIns="0" bIns="0" rtlCol="0" anchor="ctr"/>
          <a:lstStyle/>
          <a:p>
            <a:pPr indent="0" marL="0">
              <a:buNone/>
            </a:pPr>
            <a:r>
              <a:rPr lang="en-US" sz="1300" b="1" dirty="0">
                <a:solidFill>
                  <a:srgbClr val="037C87"/>
                </a:solidFill>
                <a:latin typeface="Courier New" pitchFamily="34" charset="0"/>
                <a:ea typeface="Courier New" pitchFamily="34" charset="-122"/>
                <a:cs typeface="Courier New" pitchFamily="34" charset="-120"/>
              </a:rPr>
              <a:t>id</a:t>
            </a:r>
            <a:endParaRPr lang="en-US" sz="1300" dirty="0"/>
          </a:p>
        </p:txBody>
      </p:sp>
      <p:sp>
        <p:nvSpPr>
          <p:cNvPr id="15" name="Text 13"/>
          <p:cNvSpPr/>
          <p:nvPr/>
        </p:nvSpPr>
        <p:spPr>
          <a:xfrm>
            <a:off x="1115568" y="3163824"/>
            <a:ext cx="5212080" cy="274320"/>
          </a:xfrm>
          <a:prstGeom prst="rect">
            <a:avLst/>
          </a:prstGeom>
          <a:noFill/>
          <a:ln/>
        </p:spPr>
        <p:txBody>
          <a:bodyPr wrap="square" lIns="0" tIns="0" rIns="0" bIns="0" rtlCol="0" anchor="ctr"/>
          <a:lstStyle/>
          <a:p>
            <a:pPr indent="0" marL="0">
              <a:buNone/>
            </a:pPr>
            <a:r>
              <a:rPr lang="en-US" sz="1100" dirty="0">
                <a:solidFill>
                  <a:srgbClr val="6E7377"/>
                </a:solidFill>
                <a:latin typeface="Calibri" pitchFamily="34" charset="0"/>
                <a:ea typeface="Calibri" pitchFamily="34" charset="-122"/>
                <a:cs typeface="Calibri" pitchFamily="34" charset="-120"/>
              </a:rPr>
              <a:t>intended to be unique, reasonably stable</a:t>
            </a:r>
            <a:endParaRPr lang="en-US" sz="1100" dirty="0"/>
          </a:p>
        </p:txBody>
      </p:sp>
      <p:sp>
        <p:nvSpPr>
          <p:cNvPr id="16" name="Shape 14"/>
          <p:cNvSpPr/>
          <p:nvPr/>
        </p:nvSpPr>
        <p:spPr>
          <a:xfrm>
            <a:off x="822960" y="3639312"/>
            <a:ext cx="5760720" cy="758952"/>
          </a:xfrm>
          <a:prstGeom prst="roundRect">
            <a:avLst>
              <a:gd name="adj" fmla="val 7229"/>
            </a:avLst>
          </a:prstGeom>
          <a:solidFill>
            <a:srgbClr val="F2F5F7"/>
          </a:solidFill>
          <a:ln w="9525">
            <a:solidFill>
              <a:srgbClr val="F2F5F7"/>
            </a:solidFill>
            <a:prstDash val="solid"/>
          </a:ln>
        </p:spPr>
      </p:sp>
      <p:sp>
        <p:nvSpPr>
          <p:cNvPr id="17" name="Text 15"/>
          <p:cNvSpPr/>
          <p:nvPr/>
        </p:nvSpPr>
        <p:spPr>
          <a:xfrm>
            <a:off x="1115568" y="3739896"/>
            <a:ext cx="2743200" cy="274320"/>
          </a:xfrm>
          <a:prstGeom prst="rect">
            <a:avLst/>
          </a:prstGeom>
          <a:noFill/>
          <a:ln/>
        </p:spPr>
        <p:txBody>
          <a:bodyPr wrap="square" lIns="0" tIns="0" rIns="0" bIns="0" rtlCol="0" anchor="ctr"/>
          <a:lstStyle/>
          <a:p>
            <a:pPr indent="0" marL="0">
              <a:buNone/>
            </a:pPr>
            <a:r>
              <a:rPr lang="en-US" sz="1300" b="1" dirty="0">
                <a:solidFill>
                  <a:srgbClr val="037C87"/>
                </a:solidFill>
                <a:latin typeface="Courier New" pitchFamily="34" charset="0"/>
                <a:ea typeface="Courier New" pitchFamily="34" charset="-122"/>
                <a:cs typeface="Courier New" pitchFamily="34" charset="-120"/>
              </a:rPr>
              <a:t>name</a:t>
            </a:r>
            <a:endParaRPr lang="en-US" sz="1300" dirty="0"/>
          </a:p>
        </p:txBody>
      </p:sp>
      <p:sp>
        <p:nvSpPr>
          <p:cNvPr id="18" name="Text 16"/>
          <p:cNvSpPr/>
          <p:nvPr/>
        </p:nvSpPr>
        <p:spPr>
          <a:xfrm>
            <a:off x="1115568" y="4032504"/>
            <a:ext cx="5212080" cy="274320"/>
          </a:xfrm>
          <a:prstGeom prst="rect">
            <a:avLst/>
          </a:prstGeom>
          <a:noFill/>
          <a:ln/>
        </p:spPr>
        <p:txBody>
          <a:bodyPr wrap="square" lIns="0" tIns="0" rIns="0" bIns="0" rtlCol="0" anchor="ctr"/>
          <a:lstStyle/>
          <a:p>
            <a:pPr indent="0" marL="0">
              <a:buNone/>
            </a:pPr>
            <a:r>
              <a:rPr lang="en-US" sz="1100" dirty="0">
                <a:solidFill>
                  <a:srgbClr val="6E7377"/>
                </a:solidFill>
                <a:latin typeface="Calibri" pitchFamily="34" charset="0"/>
                <a:ea typeface="Calibri" pitchFamily="34" charset="-122"/>
                <a:cs typeface="Calibri" pitchFamily="34" charset="-120"/>
              </a:rPr>
              <a:t>carries form semantics, fairly stable</a:t>
            </a:r>
            <a:endParaRPr lang="en-US" sz="1100" dirty="0"/>
          </a:p>
        </p:txBody>
      </p:sp>
      <p:sp>
        <p:nvSpPr>
          <p:cNvPr id="19" name="Shape 17"/>
          <p:cNvSpPr/>
          <p:nvPr/>
        </p:nvSpPr>
        <p:spPr>
          <a:xfrm>
            <a:off x="822960" y="4507992"/>
            <a:ext cx="5760720" cy="758952"/>
          </a:xfrm>
          <a:prstGeom prst="roundRect">
            <a:avLst>
              <a:gd name="adj" fmla="val 7229"/>
            </a:avLst>
          </a:prstGeom>
          <a:solidFill>
            <a:srgbClr val="F7ECEA"/>
          </a:solidFill>
          <a:ln w="9525">
            <a:solidFill>
              <a:srgbClr val="F7ECEA"/>
            </a:solidFill>
            <a:prstDash val="solid"/>
          </a:ln>
        </p:spPr>
      </p:sp>
      <p:sp>
        <p:nvSpPr>
          <p:cNvPr id="20" name="Text 18"/>
          <p:cNvSpPr/>
          <p:nvPr/>
        </p:nvSpPr>
        <p:spPr>
          <a:xfrm>
            <a:off x="1115568" y="4608576"/>
            <a:ext cx="2743200" cy="274320"/>
          </a:xfrm>
          <a:prstGeom prst="rect">
            <a:avLst/>
          </a:prstGeom>
          <a:noFill/>
          <a:ln/>
        </p:spPr>
        <p:txBody>
          <a:bodyPr wrap="square" lIns="0" tIns="0" rIns="0" bIns="0" rtlCol="0" anchor="ctr"/>
          <a:lstStyle/>
          <a:p>
            <a:pPr indent="0" marL="0">
              <a:buNone/>
            </a:pPr>
            <a:r>
              <a:rPr lang="en-US" sz="1300" b="1" dirty="0">
                <a:solidFill>
                  <a:srgbClr val="B85042"/>
                </a:solidFill>
                <a:latin typeface="Courier New" pitchFamily="34" charset="0"/>
                <a:ea typeface="Courier New" pitchFamily="34" charset="-122"/>
                <a:cs typeface="Courier New" pitchFamily="34" charset="-120"/>
              </a:rPr>
              <a:t>visible text</a:t>
            </a:r>
            <a:endParaRPr lang="en-US" sz="1300" dirty="0"/>
          </a:p>
        </p:txBody>
      </p:sp>
      <p:sp>
        <p:nvSpPr>
          <p:cNvPr id="21" name="Text 19"/>
          <p:cNvSpPr/>
          <p:nvPr/>
        </p:nvSpPr>
        <p:spPr>
          <a:xfrm>
            <a:off x="1115568" y="4901184"/>
            <a:ext cx="5212080" cy="274320"/>
          </a:xfrm>
          <a:prstGeom prst="rect">
            <a:avLst/>
          </a:prstGeom>
          <a:noFill/>
          <a:ln/>
        </p:spPr>
        <p:txBody>
          <a:bodyPr wrap="square" lIns="0" tIns="0" rIns="0" bIns="0" rtlCol="0" anchor="ctr"/>
          <a:lstStyle/>
          <a:p>
            <a:pPr indent="0" marL="0">
              <a:buNone/>
            </a:pPr>
            <a:r>
              <a:rPr lang="en-US" sz="1100" dirty="0">
                <a:solidFill>
                  <a:srgbClr val="6E7377"/>
                </a:solidFill>
                <a:latin typeface="Calibri" pitchFamily="34" charset="0"/>
                <a:ea typeface="Calibri" pitchFamily="34" charset="-122"/>
                <a:cs typeface="Calibri" pitchFamily="34" charset="-120"/>
              </a:rPr>
              <a:t>changes with a copy edit; changes entirely under translation</a:t>
            </a:r>
            <a:endParaRPr lang="en-US" sz="1100" dirty="0"/>
          </a:p>
        </p:txBody>
      </p:sp>
      <p:sp>
        <p:nvSpPr>
          <p:cNvPr id="22" name="Shape 20"/>
          <p:cNvSpPr/>
          <p:nvPr/>
        </p:nvSpPr>
        <p:spPr>
          <a:xfrm>
            <a:off x="6949440" y="1901952"/>
            <a:ext cx="4343400" cy="2953512"/>
          </a:xfrm>
          <a:prstGeom prst="roundRect">
            <a:avLst>
              <a:gd name="adj" fmla="val 1858"/>
            </a:avLst>
          </a:prstGeom>
          <a:solidFill>
            <a:srgbClr val="1B2A33"/>
          </a:solidFill>
          <a:ln w="9525">
            <a:solidFill>
              <a:srgbClr val="1B2A33"/>
            </a:solidFill>
            <a:prstDash val="solid"/>
          </a:ln>
        </p:spPr>
      </p:sp>
      <p:sp>
        <p:nvSpPr>
          <p:cNvPr id="23" name="Text 21"/>
          <p:cNvSpPr/>
          <p:nvPr/>
        </p:nvSpPr>
        <p:spPr>
          <a:xfrm>
            <a:off x="7269480" y="2103120"/>
            <a:ext cx="3749040" cy="274320"/>
          </a:xfrm>
          <a:prstGeom prst="rect">
            <a:avLst/>
          </a:prstGeom>
          <a:noFill/>
          <a:ln/>
        </p:spPr>
        <p:txBody>
          <a:bodyPr wrap="square" lIns="0" tIns="0" rIns="0" bIns="0" rtlCol="0" anchor="ctr"/>
          <a:lstStyle/>
          <a:p>
            <a:pPr indent="0" marL="0">
              <a:buNone/>
            </a:pPr>
            <a:r>
              <a:rPr lang="en-US" sz="1250" b="1" dirty="0">
                <a:solidFill>
                  <a:srgbClr val="A8BBC4"/>
                </a:solidFill>
                <a:latin typeface="Calibri" pitchFamily="34" charset="0"/>
                <a:ea typeface="Calibri" pitchFamily="34" charset="-122"/>
                <a:cs typeface="Calibri" pitchFamily="34" charset="-120"/>
              </a:rPr>
              <a:t>The gate</a:t>
            </a:r>
            <a:endParaRPr lang="en-US" sz="1250" dirty="0"/>
          </a:p>
        </p:txBody>
      </p:sp>
      <p:sp>
        <p:nvSpPr>
          <p:cNvPr id="24" name="Text 22"/>
          <p:cNvSpPr/>
          <p:nvPr/>
        </p:nvSpPr>
        <p:spPr>
          <a:xfrm>
            <a:off x="7269480" y="2432304"/>
            <a:ext cx="3840480" cy="329184"/>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isLowConfidence()</a:t>
            </a:r>
            <a:endParaRPr lang="en-US" sz="1400" dirty="0"/>
          </a:p>
        </p:txBody>
      </p:sp>
      <p:sp>
        <p:nvSpPr>
          <p:cNvPr id="25" name="Text 23"/>
          <p:cNvSpPr/>
          <p:nvPr/>
        </p:nvSpPr>
        <p:spPr>
          <a:xfrm>
            <a:off x="7269480" y="2852928"/>
            <a:ext cx="3749040" cy="731520"/>
          </a:xfrm>
          <a:prstGeom prst="rect">
            <a:avLst/>
          </a:prstGeom>
          <a:noFill/>
          <a:ln/>
        </p:spPr>
        <p:txBody>
          <a:bodyPr wrap="square" lIns="0" tIns="0" rIns="0" bIns="0" rtlCol="0" anchor="ctr"/>
          <a:lstStyle/>
          <a:p>
            <a:pPr indent="0" marL="0">
              <a:buNone/>
            </a:pPr>
            <a:r>
              <a:rPr lang="en-US" sz="1200" dirty="0">
                <a:solidFill>
                  <a:srgbClr val="D6E1E6"/>
                </a:solidFill>
                <a:latin typeface="Calibri" pitchFamily="34" charset="0"/>
                <a:ea typeface="Calibri" pitchFamily="34" charset="-122"/>
                <a:cs typeface="Calibri" pitchFamily="34" charset="-120"/>
              </a:rPr>
              <a:t>Only elements that fell all the way to a text match are sent to the model.</a:t>
            </a:r>
            <a:endParaRPr lang="en-US" sz="1200" dirty="0"/>
          </a:p>
        </p:txBody>
      </p:sp>
      <p:sp>
        <p:nvSpPr>
          <p:cNvPr id="26" name="Text 24"/>
          <p:cNvSpPr/>
          <p:nvPr/>
        </p:nvSpPr>
        <p:spPr>
          <a:xfrm>
            <a:off x="7269480" y="3767328"/>
            <a:ext cx="3749040" cy="914400"/>
          </a:xfrm>
          <a:prstGeom prst="rect">
            <a:avLst/>
          </a:prstGeom>
          <a:noFill/>
          <a:ln/>
        </p:spPr>
        <p:txBody>
          <a:bodyPr wrap="square" lIns="0" tIns="0" rIns="0" bIns="0" rtlCol="0" anchor="ctr"/>
          <a:lstStyle/>
          <a:p>
            <a:pPr indent="0" marL="0">
              <a:buNone/>
            </a:pPr>
            <a:r>
              <a:rPr lang="en-US" sz="1200" b="1" dirty="0">
                <a:solidFill>
                  <a:srgbClr val="037C87"/>
                </a:solidFill>
                <a:latin typeface="Calibri" pitchFamily="34" charset="0"/>
                <a:ea typeface="Calibri" pitchFamily="34" charset="-122"/>
                <a:cs typeface="Calibri" pitchFamily="34" charset="-120"/>
              </a:rPr>
              <a:t>The model’s cost therefore scales with ambiguity, not with page size.</a:t>
            </a:r>
            <a:endParaRPr lang="en-US" sz="1200" dirty="0"/>
          </a:p>
        </p:txBody>
      </p:sp>
      <p:sp>
        <p:nvSpPr>
          <p:cNvPr id="27" name="Text 25"/>
          <p:cNvSpPr/>
          <p:nvPr/>
        </p:nvSpPr>
        <p:spPr>
          <a:xfrm>
            <a:off x="822960" y="5468112"/>
            <a:ext cx="10469880" cy="365760"/>
          </a:xfrm>
          <a:prstGeom prst="rect">
            <a:avLst/>
          </a:prstGeom>
          <a:noFill/>
          <a:ln/>
        </p:spPr>
        <p:txBody>
          <a:bodyPr wrap="square" lIns="0" tIns="0" rIns="0" bIns="0" rtlCol="0" anchor="ctr"/>
          <a:lstStyle/>
          <a:p>
            <a:pPr algn="ctr" indent="0" marL="0">
              <a:buNone/>
            </a:pPr>
            <a:r>
              <a:rPr lang="en-US" sz="1200" i="1" dirty="0">
                <a:solidFill>
                  <a:srgbClr val="1A1A1A"/>
                </a:solidFill>
                <a:latin typeface="Calibri" pitchFamily="34" charset="0"/>
                <a:ea typeface="Calibri" pitchFamily="34" charset="-122"/>
                <a:cs typeface="Calibri" pitchFamily="34" charset="-120"/>
              </a:rPr>
              <a:t>One field — matchedVia — records which rule produced each locator. That single field is what makes the output traceable and what makes gating possible.</a:t>
            </a:r>
            <a:endParaRPr lang="en-US" sz="1200" dirty="0"/>
          </a:p>
        </p:txBody>
      </p:sp>
      <p:sp>
        <p:nvSpPr>
          <p:cNvPr id="28" name="Text 26"/>
          <p:cNvSpPr/>
          <p:nvPr/>
        </p:nvSpPr>
        <p:spPr>
          <a:xfrm>
            <a:off x="822960" y="5833872"/>
            <a:ext cx="10469880" cy="347472"/>
          </a:xfrm>
          <a:prstGeom prst="rect">
            <a:avLst/>
          </a:prstGeom>
          <a:noFill/>
          <a:ln/>
        </p:spPr>
        <p:txBody>
          <a:bodyPr wrap="square" lIns="0" tIns="0" rIns="0" bIns="0" rtlCol="0" anchor="ctr"/>
          <a:lstStyle/>
          <a:p>
            <a:pPr algn="ctr" indent="0" marL="0">
              <a:buNone/>
            </a:pPr>
            <a:r>
              <a:rPr lang="en-US" sz="1100" dirty="0">
                <a:solidFill>
                  <a:srgbClr val="6E7377"/>
                </a:solidFill>
                <a:latin typeface="Calibri" pitchFamily="34" charset="0"/>
                <a:ea typeface="Calibri" pitchFamily="34" charset="-122"/>
                <a:cs typeface="Calibri" pitchFamily="34" charset="-120"/>
              </a:rPr>
              <a:t>On a well-instrumented page the number of model calls is zero — and so is the cost.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FUNCTIONAL DESIGN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21</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Sequence diagram — Pipeline A generation</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pic>
        <p:nvPicPr>
          <p:cNvPr id="9" name="Image 0" descr="img/fig05.png">    </p:cNvPr>
          <p:cNvPicPr>
            <a:picLocks noChangeAspect="1"/>
          </p:cNvPicPr>
          <p:nvPr/>
        </p:nvPicPr>
        <p:blipFill>
          <a:blip r:embed="rId1"/>
          <a:stretch>
            <a:fillRect/>
          </a:stretch>
        </p:blipFill>
        <p:spPr>
          <a:xfrm>
            <a:off x="1691640" y="1572768"/>
            <a:ext cx="8823960" cy="344614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FUNCTIONAL DESIGN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22</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Sequence diagram — confidence-gated review</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pic>
        <p:nvPicPr>
          <p:cNvPr id="9" name="Image 0" descr="img/fig06.png">    </p:cNvPr>
          <p:cNvPicPr>
            <a:picLocks noChangeAspect="1"/>
          </p:cNvPicPr>
          <p:nvPr/>
        </p:nvPicPr>
        <p:blipFill>
          <a:blip r:embed="rId1"/>
          <a:stretch>
            <a:fillRect/>
          </a:stretch>
        </p:blipFill>
        <p:spPr>
          <a:xfrm>
            <a:off x="2148840" y="1572768"/>
            <a:ext cx="7863840" cy="4572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FUNCTIONAL DESIGN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23</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Class diagram — parser and generator packages</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pic>
        <p:nvPicPr>
          <p:cNvPr id="9" name="Image 0" descr="img/fig04.png">    </p:cNvPr>
          <p:cNvPicPr>
            <a:picLocks noChangeAspect="1"/>
          </p:cNvPicPr>
          <p:nvPr/>
        </p:nvPicPr>
        <p:blipFill>
          <a:blip r:embed="rId1"/>
          <a:stretch>
            <a:fillRect/>
          </a:stretch>
        </p:blipFill>
        <p:spPr>
          <a:xfrm>
            <a:off x="685800" y="2011680"/>
            <a:ext cx="10789920" cy="2478024"/>
          </a:xfrm>
          <a:prstGeom prst="rect">
            <a:avLst/>
          </a:prstGeom>
        </p:spPr>
      </p:pic>
      <p:sp>
        <p:nvSpPr>
          <p:cNvPr id="10" name="Text 7"/>
          <p:cNvSpPr/>
          <p:nvPr/>
        </p:nvSpPr>
        <p:spPr>
          <a:xfrm>
            <a:off x="822960" y="4754880"/>
            <a:ext cx="10469880" cy="1508760"/>
          </a:xfrm>
          <a:prstGeom prst="rect">
            <a:avLst/>
          </a:prstGeom>
          <a:noFill/>
          <a:ln/>
        </p:spPr>
        <p:txBody>
          <a:bodyPr wrap="square" lIns="0" tIns="0" rIns="0" bIns="0" rtlCol="0" anchor="ctr"/>
          <a:lstStyle/>
          <a:p>
            <a:pPr indent="0" marL="0">
              <a:spcAft>
                <a:spcPts val="600"/>
              </a:spcAft>
              <a:buNone/>
            </a:pPr>
            <a:r>
              <a:rPr lang="en-US" sz="1150" b="1" dirty="0">
                <a:solidFill>
                  <a:srgbClr val="1A1A1A"/>
                </a:solidFill>
                <a:latin typeface="Calibri" pitchFamily="34" charset="0"/>
                <a:ea typeface="Calibri" pitchFamily="34" charset="-122"/>
                <a:cs typeface="Calibri" pitchFamily="34" charset="-120"/>
              </a:rPr>
              <a:t>Data carriers. </a:t>
            </a:r>
            <a:pPr indent="0" marL="0">
              <a:spcAft>
                <a:spcPts val="600"/>
              </a:spcAft>
              <a:buNone/>
            </a:pPr>
            <a:r>
              <a:rPr lang="en-US" sz="1150" dirty="0">
                <a:solidFill>
                  <a:srgbClr val="6E7377"/>
                </a:solidFill>
                <a:latin typeface="Calibri" pitchFamily="34" charset="0"/>
                <a:ea typeface="Calibri" pitchFamily="34" charset="-122"/>
                <a:cs typeface="Calibri" pitchFamily="34" charset="-120"/>
              </a:rPr>
              <a:t>ExtractedElement holds what was observed. WebElementSelector holds what was decided — including matchedVia, the field that makes gating possible.</a:t>
            </a:r>
            <a:endParaRPr lang="en-US" sz="1150" dirty="0"/>
          </a:p>
          <a:p>
            <a:pPr indent="0" marL="0">
              <a:spcAft>
                <a:spcPts val="600"/>
              </a:spcAft>
              <a:buNone/>
            </a:pPr>
            <a:r>
              <a:rPr lang="en-US" sz="1150" b="1" dirty="0">
                <a:solidFill>
                  <a:srgbClr val="1A1A1A"/>
                </a:solidFill>
                <a:latin typeface="Calibri" pitchFamily="34" charset="0"/>
                <a:ea typeface="Calibri" pitchFamily="34" charset="-122"/>
                <a:cs typeface="Calibri" pitchFamily="34" charset="-120"/>
              </a:rPr>
              <a:t>Processors. </a:t>
            </a:r>
            <a:pPr indent="0" marL="0">
              <a:spcAft>
                <a:spcPts val="600"/>
              </a:spcAft>
              <a:buNone/>
            </a:pPr>
            <a:r>
              <a:rPr lang="en-US" sz="1150" dirty="0">
                <a:solidFill>
                  <a:srgbClr val="6E7377"/>
                </a:solidFill>
                <a:latin typeface="Calibri" pitchFamily="34" charset="0"/>
                <a:ea typeface="Calibri" pitchFamily="34" charset="-122"/>
                <a:cs typeface="Calibri" pitchFamily="34" charset="-120"/>
              </a:rPr>
              <a:t>Parser, detector, priority finder and generator: one responsibility each, none knowing the others’ internals.</a:t>
            </a:r>
            <a:endParaRPr lang="en-US" sz="1150" dirty="0"/>
          </a:p>
          <a:p>
            <a:pPr indent="0" marL="0">
              <a:spcAft>
                <a:spcPts val="600"/>
              </a:spcAft>
              <a:buNone/>
            </a:pPr>
            <a:r>
              <a:rPr lang="en-US" sz="1150" b="1" dirty="0">
                <a:solidFill>
                  <a:srgbClr val="1A1A1A"/>
                </a:solidFill>
                <a:latin typeface="Calibri" pitchFamily="34" charset="0"/>
                <a:ea typeface="Calibri" pitchFamily="34" charset="-122"/>
                <a:cs typeface="Calibri" pitchFamily="34" charset="-120"/>
              </a:rPr>
              <a:t>The AI abstraction. </a:t>
            </a:r>
            <a:pPr indent="0" marL="0">
              <a:spcAft>
                <a:spcPts val="600"/>
              </a:spcAft>
              <a:buNone/>
            </a:pPr>
            <a:r>
              <a:rPr lang="en-US" sz="1150" dirty="0">
                <a:solidFill>
                  <a:srgbClr val="6E7377"/>
                </a:solidFill>
                <a:latin typeface="Calibri" pitchFamily="34" charset="0"/>
                <a:ea typeface="Calibri" pitchFamily="34" charset="-122"/>
                <a:cs typeface="Calibri" pitchFamily="34" charset="-120"/>
              </a:rPr>
              <a:t>AIProvider is a single-method interface; the review client depends on it alone. Substituting a cloud model for a local one is a one-line change.</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FUNCTIONAL DESIGN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24</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Detecting structure, not just elements</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783080"/>
            <a:ext cx="4937760" cy="1417320"/>
          </a:xfrm>
          <a:prstGeom prst="roundRect">
            <a:avLst>
              <a:gd name="adj" fmla="val 3871"/>
            </a:avLst>
          </a:prstGeom>
          <a:solidFill>
            <a:srgbClr val="F7ECEA"/>
          </a:solidFill>
          <a:ln w="9525">
            <a:solidFill>
              <a:srgbClr val="F7ECEA"/>
            </a:solidFill>
            <a:prstDash val="solid"/>
          </a:ln>
        </p:spPr>
      </p:sp>
      <p:sp>
        <p:nvSpPr>
          <p:cNvPr id="10" name="Text 8"/>
          <p:cNvSpPr/>
          <p:nvPr/>
        </p:nvSpPr>
        <p:spPr>
          <a:xfrm>
            <a:off x="1143000" y="1965960"/>
            <a:ext cx="4389120" cy="274320"/>
          </a:xfrm>
          <a:prstGeom prst="rect">
            <a:avLst/>
          </a:prstGeom>
          <a:noFill/>
          <a:ln/>
        </p:spPr>
        <p:txBody>
          <a:bodyPr wrap="square" lIns="0" tIns="0" rIns="0" bIns="0" rtlCol="0" anchor="ctr"/>
          <a:lstStyle/>
          <a:p>
            <a:pPr indent="0" marL="0">
              <a:buNone/>
            </a:pPr>
            <a:r>
              <a:rPr lang="en-US" sz="1250" b="1" dirty="0">
                <a:solidFill>
                  <a:srgbClr val="B85042"/>
                </a:solidFill>
                <a:latin typeface="Calibri" pitchFamily="34" charset="0"/>
                <a:ea typeface="Calibri" pitchFamily="34" charset="-122"/>
                <a:cs typeface="Calibri" pitchFamily="34" charset="-120"/>
              </a:rPr>
              <a:t>The naive approach</a:t>
            </a:r>
            <a:endParaRPr lang="en-US" sz="1250" dirty="0"/>
          </a:p>
        </p:txBody>
      </p:sp>
      <p:sp>
        <p:nvSpPr>
          <p:cNvPr id="11" name="Text 9"/>
          <p:cNvSpPr/>
          <p:nvPr/>
        </p:nvSpPr>
        <p:spPr>
          <a:xfrm>
            <a:off x="1143000" y="2286000"/>
            <a:ext cx="4389120" cy="82296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Group elements by CSS class. Fails on real pages: framework classes such as row, container and col-sm-4 recur across entirely unrelated regions.</a:t>
            </a:r>
            <a:endParaRPr lang="en-US" sz="1150" dirty="0"/>
          </a:p>
        </p:txBody>
      </p:sp>
      <p:sp>
        <p:nvSpPr>
          <p:cNvPr id="12" name="Shape 10"/>
          <p:cNvSpPr/>
          <p:nvPr/>
        </p:nvSpPr>
        <p:spPr>
          <a:xfrm>
            <a:off x="6355080" y="1783080"/>
            <a:ext cx="4937760" cy="1417320"/>
          </a:xfrm>
          <a:prstGeom prst="roundRect">
            <a:avLst>
              <a:gd name="adj" fmla="val 3871"/>
            </a:avLst>
          </a:prstGeom>
          <a:solidFill>
            <a:srgbClr val="E8F2F3"/>
          </a:solidFill>
          <a:ln w="9525">
            <a:solidFill>
              <a:srgbClr val="E8F2F3"/>
            </a:solidFill>
            <a:prstDash val="solid"/>
          </a:ln>
        </p:spPr>
      </p:sp>
      <p:sp>
        <p:nvSpPr>
          <p:cNvPr id="13" name="Text 11"/>
          <p:cNvSpPr/>
          <p:nvPr/>
        </p:nvSpPr>
        <p:spPr>
          <a:xfrm>
            <a:off x="6675120" y="1965960"/>
            <a:ext cx="4389120" cy="274320"/>
          </a:xfrm>
          <a:prstGeom prst="rect">
            <a:avLst/>
          </a:prstGeom>
          <a:noFill/>
          <a:ln/>
        </p:spPr>
        <p:txBody>
          <a:bodyPr wrap="square" lIns="0" tIns="0" rIns="0" bIns="0" rtlCol="0" anchor="ctr"/>
          <a:lstStyle/>
          <a:p>
            <a:pPr indent="0" marL="0">
              <a:buNone/>
            </a:pPr>
            <a:r>
              <a:rPr lang="en-US" sz="1250" b="1" dirty="0">
                <a:solidFill>
                  <a:srgbClr val="037C87"/>
                </a:solidFill>
                <a:latin typeface="Calibri" pitchFamily="34" charset="0"/>
                <a:ea typeface="Calibri" pitchFamily="34" charset="-122"/>
                <a:cs typeface="Calibri" pitchFamily="34" charset="-120"/>
              </a:rPr>
              <a:t>What actually characterises a list</a:t>
            </a:r>
            <a:endParaRPr lang="en-US" sz="1250" dirty="0"/>
          </a:p>
        </p:txBody>
      </p:sp>
      <p:sp>
        <p:nvSpPr>
          <p:cNvPr id="14" name="Text 12"/>
          <p:cNvSpPr/>
          <p:nvPr/>
        </p:nvSpPr>
        <p:spPr>
          <a:xfrm>
            <a:off x="6675120" y="2286000"/>
            <a:ext cx="4389120" cy="86868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Members share a parent. The key is (parent identity, tag, first class), with a threshold of three: two similar siblings are a coincidence, three are a structure.</a:t>
            </a:r>
            <a:endParaRPr lang="en-US" sz="1150" dirty="0"/>
          </a:p>
        </p:txBody>
      </p:sp>
      <p:sp>
        <p:nvSpPr>
          <p:cNvPr id="15" name="Text 13"/>
          <p:cNvSpPr/>
          <p:nvPr/>
        </p:nvSpPr>
        <p:spPr>
          <a:xfrm>
            <a:off x="822960" y="3429000"/>
            <a:ext cx="5486400" cy="292608"/>
          </a:xfrm>
          <a:prstGeom prst="rect">
            <a:avLst/>
          </a:prstGeom>
          <a:noFill/>
          <a:ln/>
        </p:spPr>
        <p:txBody>
          <a:bodyPr wrap="square" lIns="0" tIns="0" rIns="0" bIns="0" rtlCol="0" anchor="ctr"/>
          <a:lstStyle/>
          <a:p>
            <a:pPr indent="0" marL="0">
              <a:buNone/>
            </a:pPr>
            <a:r>
              <a:rPr lang="en-US" sz="1300" b="1" dirty="0">
                <a:solidFill>
                  <a:srgbClr val="074D83"/>
                </a:solidFill>
                <a:latin typeface="Calibri" pitchFamily="34" charset="0"/>
                <a:ea typeface="Calibri" pitchFamily="34" charset="-122"/>
                <a:cs typeface="Calibri" pitchFamily="34" charset="-120"/>
              </a:rPr>
              <a:t>Two further rules</a:t>
            </a:r>
            <a:endParaRPr lang="en-US" sz="1300" dirty="0"/>
          </a:p>
        </p:txBody>
      </p:sp>
      <p:sp>
        <p:nvSpPr>
          <p:cNvPr id="16" name="Text 14"/>
          <p:cNvSpPr/>
          <p:nvPr/>
        </p:nvSpPr>
        <p:spPr>
          <a:xfrm>
            <a:off x="822960" y="3794760"/>
            <a:ext cx="10469880" cy="1554480"/>
          </a:xfrm>
          <a:prstGeom prst="rect">
            <a:avLst/>
          </a:prstGeom>
          <a:noFill/>
          <a:ln/>
        </p:spPr>
        <p:txBody>
          <a:bodyPr wrap="square" lIns="0" tIns="0" rIns="0" bIns="0" rtlCol="0" anchor="ctr"/>
          <a:lstStyle/>
          <a:p>
            <a:pPr indent="0" marL="0">
              <a:spcAft>
                <a:spcPts val="900"/>
              </a:spcAft>
              <a:buNone/>
            </a:pPr>
            <a:r>
              <a:rPr lang="en-US" sz="1200" b="1" dirty="0">
                <a:solidFill>
                  <a:srgbClr val="1A1A1A"/>
                </a:solidFill>
                <a:latin typeface="Calibri" pitchFamily="34" charset="0"/>
                <a:ea typeface="Calibri" pitchFamily="34" charset="-122"/>
                <a:cs typeface="Calibri" pitchFamily="34" charset="-120"/>
              </a:rPr>
              <a:t>Outermost wins. </a:t>
            </a:r>
            <a:pPr indent="0" marL="0">
              <a:spcAft>
                <a:spcPts val="900"/>
              </a:spcAft>
              <a:buNone/>
            </a:pPr>
            <a:r>
              <a:rPr lang="en-US" sz="1200" dirty="0">
                <a:solidFill>
                  <a:srgbClr val="6E7377"/>
                </a:solidFill>
                <a:latin typeface="Calibri" pitchFamily="34" charset="0"/>
                <a:ea typeface="Calibri" pitchFamily="34" charset="-122"/>
                <a:cs typeface="Calibri" pitchFamily="34" charset="-120"/>
              </a:rPr>
              <a:t>An inner element may repeat inside an outer one that also repeats. The outer element is the true card and already contains everything the inner one holds.</a:t>
            </a:r>
            <a:endParaRPr lang="en-US" sz="1200" dirty="0"/>
          </a:p>
          <a:p>
            <a:pPr indent="0" marL="0">
              <a:spcAft>
                <a:spcPts val="900"/>
              </a:spcAft>
              <a:buNone/>
            </a:pPr>
            <a:r>
              <a:rPr lang="en-US" sz="1200" b="1" dirty="0">
                <a:solidFill>
                  <a:srgbClr val="1A1A1A"/>
                </a:solidFill>
                <a:latin typeface="Calibri" pitchFamily="34" charset="0"/>
                <a:ea typeface="Calibri" pitchFamily="34" charset="-122"/>
                <a:cs typeface="Calibri" pitchFamily="34" charset="-120"/>
              </a:rPr>
              <a:t>Cards are removed as they are captured. </a:t>
            </a:r>
            <a:pPr indent="0" marL="0">
              <a:spcAft>
                <a:spcPts val="900"/>
              </a:spcAft>
              <a:buNone/>
            </a:pPr>
            <a:r>
              <a:rPr lang="en-US" sz="1200" dirty="0">
                <a:solidFill>
                  <a:srgbClr val="6E7377"/>
                </a:solidFill>
                <a:latin typeface="Calibri" pitchFamily="34" charset="0"/>
                <a:ea typeface="Calibri" pitchFamily="34" charset="-122"/>
                <a:cs typeface="Calibri" pitchFamily="34" charset="-120"/>
              </a:rPr>
              <a:t>Whatever is extracted afterwards therefore cannot contain a card’s elements. No filtering pass is required, and the two extractions cannot disagree — an entire class of bug removed rather than defended against.</a:t>
            </a:r>
            <a:endParaRPr lang="en-US" sz="1200" dirty="0"/>
          </a:p>
        </p:txBody>
      </p:sp>
      <p:sp>
        <p:nvSpPr>
          <p:cNvPr id="17" name="Shape 15"/>
          <p:cNvSpPr/>
          <p:nvPr/>
        </p:nvSpPr>
        <p:spPr>
          <a:xfrm>
            <a:off x="822960" y="5440680"/>
            <a:ext cx="10469880" cy="685800"/>
          </a:xfrm>
          <a:prstGeom prst="roundRect">
            <a:avLst>
              <a:gd name="adj" fmla="val 8000"/>
            </a:avLst>
          </a:prstGeom>
          <a:solidFill>
            <a:srgbClr val="F2F5F7"/>
          </a:solidFill>
          <a:ln w="9525">
            <a:solidFill>
              <a:srgbClr val="F2F5F7"/>
            </a:solidFill>
            <a:prstDash val="solid"/>
          </a:ln>
        </p:spPr>
      </p:sp>
      <p:sp>
        <p:nvSpPr>
          <p:cNvPr id="18" name="Text 16"/>
          <p:cNvSpPr/>
          <p:nvPr/>
        </p:nvSpPr>
        <p:spPr>
          <a:xfrm>
            <a:off x="1143000" y="5440680"/>
            <a:ext cx="9875520" cy="685800"/>
          </a:xfrm>
          <a:prstGeom prst="rect">
            <a:avLst/>
          </a:prstGeom>
          <a:noFill/>
          <a:ln/>
        </p:spPr>
        <p:txBody>
          <a:bodyPr wrap="square" lIns="0" tIns="0" rIns="0" bIns="0" rtlCol="0" anchor="ctr"/>
          <a:lstStyle/>
          <a:p>
            <a:pPr indent="0" marL="0">
              <a:buNone/>
            </a:pPr>
            <a:r>
              <a:rPr lang="en-US" sz="1150" i="1" dirty="0">
                <a:solidFill>
                  <a:srgbClr val="1A1A1A"/>
                </a:solidFill>
                <a:latin typeface="Calibri" pitchFamily="34" charset="0"/>
                <a:ea typeface="Calibri" pitchFamily="34" charset="-122"/>
                <a:cs typeface="Calibri" pitchFamily="34" charset="-120"/>
              </a:rPr>
              <a:t>Result on the evaluated page: one menu component covering 4 items, one product component covering 6 — instead of thirty near-identical fields.</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TECHNICAL DESIGN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25</a:t>
            </a:r>
            <a:endParaRPr lang="en-US" sz="900" dirty="0"/>
          </a:p>
        </p:txBody>
      </p:sp>
      <p:sp>
        <p:nvSpPr>
          <p:cNvPr id="7" name="Shape 5"/>
          <p:cNvSpPr/>
          <p:nvPr/>
        </p:nvSpPr>
        <p:spPr>
          <a:xfrm>
            <a:off x="5733288" y="2286000"/>
            <a:ext cx="731520" cy="731520"/>
          </a:xfrm>
          <a:prstGeom prst="ellipse">
            <a:avLst/>
          </a:prstGeom>
          <a:solidFill>
            <a:srgbClr val="FFFFFF"/>
          </a:solidFill>
          <a:ln w="15875">
            <a:solidFill>
              <a:srgbClr val="074D83"/>
            </a:solidFill>
            <a:prstDash val="solid"/>
          </a:ln>
        </p:spPr>
      </p:sp>
      <p:sp>
        <p:nvSpPr>
          <p:cNvPr id="8" name="Text 6"/>
          <p:cNvSpPr/>
          <p:nvPr/>
        </p:nvSpPr>
        <p:spPr>
          <a:xfrm>
            <a:off x="5733288" y="2286000"/>
            <a:ext cx="731520" cy="731520"/>
          </a:xfrm>
          <a:prstGeom prst="rect">
            <a:avLst/>
          </a:prstGeom>
          <a:noFill/>
          <a:ln/>
        </p:spPr>
        <p:txBody>
          <a:bodyPr wrap="square" lIns="0" tIns="0" rIns="0" bIns="0" rtlCol="0" anchor="ctr"/>
          <a:lstStyle/>
          <a:p>
            <a:pPr algn="ctr" indent="0" marL="0">
              <a:buNone/>
            </a:pPr>
            <a:r>
              <a:rPr lang="en-US" sz="2000" dirty="0">
                <a:solidFill>
                  <a:srgbClr val="074D83"/>
                </a:solidFill>
                <a:latin typeface="Calibri" pitchFamily="34" charset="0"/>
                <a:ea typeface="Calibri" pitchFamily="34" charset="-122"/>
                <a:cs typeface="Calibri" pitchFamily="34" charset="-120"/>
              </a:rPr>
              <a:t>4</a:t>
            </a:r>
            <a:endParaRPr lang="en-US" sz="2000" dirty="0"/>
          </a:p>
        </p:txBody>
      </p:sp>
      <p:sp>
        <p:nvSpPr>
          <p:cNvPr id="9" name="Shape 7"/>
          <p:cNvSpPr/>
          <p:nvPr/>
        </p:nvSpPr>
        <p:spPr>
          <a:xfrm>
            <a:off x="3108960" y="3310128"/>
            <a:ext cx="5943600" cy="0"/>
          </a:xfrm>
          <a:prstGeom prst="line">
            <a:avLst/>
          </a:prstGeom>
          <a:noFill/>
          <a:ln w="12700">
            <a:solidFill>
              <a:srgbClr val="B9C0C4"/>
            </a:solidFill>
            <a:prstDash val="solid"/>
          </a:ln>
        </p:spPr>
      </p:sp>
      <p:sp>
        <p:nvSpPr>
          <p:cNvPr id="10" name="Text 8"/>
          <p:cNvSpPr/>
          <p:nvPr/>
        </p:nvSpPr>
        <p:spPr>
          <a:xfrm>
            <a:off x="1280160" y="3429000"/>
            <a:ext cx="9601200" cy="68580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TECHNICAL DESIGN</a:t>
            </a:r>
            <a:endParaRPr lang="en-US" sz="2600" dirty="0"/>
          </a:p>
        </p:txBody>
      </p:sp>
      <p:sp>
        <p:nvSpPr>
          <p:cNvPr id="11" name="Shape 9"/>
          <p:cNvSpPr/>
          <p:nvPr/>
        </p:nvSpPr>
        <p:spPr>
          <a:xfrm>
            <a:off x="3108960" y="4206240"/>
            <a:ext cx="5943600" cy="0"/>
          </a:xfrm>
          <a:prstGeom prst="line">
            <a:avLst/>
          </a:prstGeom>
          <a:noFill/>
          <a:ln w="12700">
            <a:solidFill>
              <a:srgbClr val="B9C0C4"/>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TECHNICAL DESIGN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26</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Layered architecture</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pic>
        <p:nvPicPr>
          <p:cNvPr id="9" name="Image 0" descr="img/fig08.png">    </p:cNvPr>
          <p:cNvPicPr>
            <a:picLocks noChangeAspect="1"/>
          </p:cNvPicPr>
          <p:nvPr/>
        </p:nvPicPr>
        <p:blipFill>
          <a:blip r:embed="rId1"/>
          <a:stretch>
            <a:fillRect/>
          </a:stretch>
        </p:blipFill>
        <p:spPr>
          <a:xfrm>
            <a:off x="4160520" y="1554480"/>
            <a:ext cx="3886200" cy="4270248"/>
          </a:xfrm>
          <a:prstGeom prst="rect">
            <a:avLst/>
          </a:prstGeom>
        </p:spPr>
      </p:pic>
      <p:sp>
        <p:nvSpPr>
          <p:cNvPr id="10" name="Text 7"/>
          <p:cNvSpPr/>
          <p:nvPr/>
        </p:nvSpPr>
        <p:spPr>
          <a:xfrm>
            <a:off x="822960" y="1920240"/>
            <a:ext cx="3108960" cy="182880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Test framework</a:t>
            </a:r>
            <a:endParaRPr lang="en-US" sz="1300" dirty="0"/>
          </a:p>
          <a:p>
            <a:pPr indent="0" marL="0">
              <a:buNone/>
            </a:pPr>
            <a:r>
              <a:rPr lang="en-US" sz="1150" dirty="0">
                <a:solidFill>
                  <a:srgbClr val="6E7377"/>
                </a:solidFill>
                <a:latin typeface="Calibri" pitchFamily="34" charset="0"/>
                <a:ea typeface="Calibri" pitchFamily="34" charset="-122"/>
                <a:cs typeface="Calibri" pitchFamily="34" charset="-120"/>
              </a:rPr>
              <a:t>Base page, page objects, flows, tests — UI and API — with reporting and two CI pipelines. Not decoration: it is the harness that proves generated artefacts are usable in a real suite.</a:t>
            </a:r>
            <a:endParaRPr lang="en-US" sz="1300" dirty="0"/>
          </a:p>
        </p:txBody>
      </p:sp>
      <p:sp>
        <p:nvSpPr>
          <p:cNvPr id="11" name="Text 8"/>
          <p:cNvSpPr/>
          <p:nvPr/>
        </p:nvSpPr>
        <p:spPr>
          <a:xfrm>
            <a:off x="822960" y="4023360"/>
            <a:ext cx="3108960" cy="182880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Generation pipeline</a:t>
            </a:r>
            <a:endParaRPr lang="en-US" sz="1300" dirty="0"/>
          </a:p>
          <a:p>
            <a:pPr indent="0" marL="0">
              <a:buNone/>
            </a:pPr>
            <a:r>
              <a:rPr lang="en-US" sz="1150" dirty="0">
                <a:solidFill>
                  <a:srgbClr val="6E7377"/>
                </a:solidFill>
                <a:latin typeface="Calibri" pitchFamily="34" charset="0"/>
                <a:ea typeface="Calibri" pitchFamily="34" charset="-122"/>
                <a:cs typeface="Calibri" pitchFamily="34" charset="-120"/>
              </a:rPr>
              <a:t>Fetch the rendered DOM, section the page, detect repeating components, select locators, emit Java. Four stages, one responsibility each.</a:t>
            </a:r>
            <a:endParaRPr lang="en-US" sz="1300" dirty="0"/>
          </a:p>
        </p:txBody>
      </p:sp>
      <p:sp>
        <p:nvSpPr>
          <p:cNvPr id="12" name="Text 9"/>
          <p:cNvSpPr/>
          <p:nvPr/>
        </p:nvSpPr>
        <p:spPr>
          <a:xfrm>
            <a:off x="8275320" y="2834640"/>
            <a:ext cx="3017520" cy="201168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AI layer</a:t>
            </a:r>
            <a:endParaRPr lang="en-US" sz="1300" dirty="0"/>
          </a:p>
          <a:p>
            <a:pPr indent="0" marL="0">
              <a:buNone/>
            </a:pPr>
            <a:r>
              <a:rPr lang="en-US" sz="1150" dirty="0">
                <a:solidFill>
                  <a:srgbClr val="6E7377"/>
                </a:solidFill>
                <a:latin typeface="Calibri" pitchFamily="34" charset="0"/>
                <a:ea typeface="Calibri" pitchFamily="34" charset="-122"/>
                <a:cs typeface="Calibri" pitchFamily="34" charset="-120"/>
              </a:rPr>
              <a:t>One interface, two backends — Gemini in the cloud, Llama via Ollama locally. A model failure is returned as a result, never thrown, so the deterministic output always survives.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TECHNICAL DESIGN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27</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Technologies</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737360"/>
            <a:ext cx="4937760" cy="585216"/>
          </a:xfrm>
          <a:prstGeom prst="roundRect">
            <a:avLst>
              <a:gd name="adj" fmla="val 9375"/>
            </a:avLst>
          </a:prstGeom>
          <a:solidFill>
            <a:srgbClr val="F2F5F7"/>
          </a:solidFill>
          <a:ln w="9525">
            <a:solidFill>
              <a:srgbClr val="B9C0C4"/>
            </a:solidFill>
            <a:prstDash val="solid"/>
          </a:ln>
        </p:spPr>
      </p:sp>
      <p:sp>
        <p:nvSpPr>
          <p:cNvPr id="10" name="Text 8"/>
          <p:cNvSpPr/>
          <p:nvPr/>
        </p:nvSpPr>
        <p:spPr>
          <a:xfrm>
            <a:off x="1078992" y="1737360"/>
            <a:ext cx="2103120" cy="585216"/>
          </a:xfrm>
          <a:prstGeom prst="rect">
            <a:avLst/>
          </a:prstGeom>
          <a:noFill/>
          <a:ln/>
        </p:spPr>
        <p:txBody>
          <a:bodyPr wrap="square" lIns="0" tIns="0" rIns="0" bIns="0" rtlCol="0" anchor="ctr"/>
          <a:lstStyle/>
          <a:p>
            <a:pPr indent="0" marL="0">
              <a:buNone/>
            </a:pPr>
            <a:r>
              <a:rPr lang="en-US" sz="1150" b="1" dirty="0">
                <a:solidFill>
                  <a:srgbClr val="074D83"/>
                </a:solidFill>
                <a:latin typeface="Calibri" pitchFamily="34" charset="0"/>
                <a:ea typeface="Calibri" pitchFamily="34" charset="-122"/>
                <a:cs typeface="Calibri" pitchFamily="34" charset="-120"/>
              </a:rPr>
              <a:t>Language / build</a:t>
            </a:r>
            <a:endParaRPr lang="en-US" sz="1150" dirty="0"/>
          </a:p>
        </p:txBody>
      </p:sp>
      <p:sp>
        <p:nvSpPr>
          <p:cNvPr id="11" name="Text 9"/>
          <p:cNvSpPr/>
          <p:nvPr/>
        </p:nvSpPr>
        <p:spPr>
          <a:xfrm>
            <a:off x="3200400" y="1737360"/>
            <a:ext cx="2468880" cy="585216"/>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Java 17 · Maven</a:t>
            </a:r>
            <a:endParaRPr lang="en-US" sz="1150" dirty="0"/>
          </a:p>
        </p:txBody>
      </p:sp>
      <p:sp>
        <p:nvSpPr>
          <p:cNvPr id="12" name="Shape 10"/>
          <p:cNvSpPr/>
          <p:nvPr/>
        </p:nvSpPr>
        <p:spPr>
          <a:xfrm>
            <a:off x="822960" y="2432304"/>
            <a:ext cx="4937760" cy="585216"/>
          </a:xfrm>
          <a:prstGeom prst="roundRect">
            <a:avLst>
              <a:gd name="adj" fmla="val 9375"/>
            </a:avLst>
          </a:prstGeom>
          <a:solidFill>
            <a:srgbClr val="F2F5F7"/>
          </a:solidFill>
          <a:ln w="9525">
            <a:solidFill>
              <a:srgbClr val="B9C0C4"/>
            </a:solidFill>
            <a:prstDash val="solid"/>
          </a:ln>
        </p:spPr>
      </p:sp>
      <p:sp>
        <p:nvSpPr>
          <p:cNvPr id="13" name="Text 11"/>
          <p:cNvSpPr/>
          <p:nvPr/>
        </p:nvSpPr>
        <p:spPr>
          <a:xfrm>
            <a:off x="1078992" y="2432304"/>
            <a:ext cx="2103120" cy="585216"/>
          </a:xfrm>
          <a:prstGeom prst="rect">
            <a:avLst/>
          </a:prstGeom>
          <a:noFill/>
          <a:ln/>
        </p:spPr>
        <p:txBody>
          <a:bodyPr wrap="square" lIns="0" tIns="0" rIns="0" bIns="0" rtlCol="0" anchor="ctr"/>
          <a:lstStyle/>
          <a:p>
            <a:pPr indent="0" marL="0">
              <a:buNone/>
            </a:pPr>
            <a:r>
              <a:rPr lang="en-US" sz="1150" b="1" dirty="0">
                <a:solidFill>
                  <a:srgbClr val="074D83"/>
                </a:solidFill>
                <a:latin typeface="Calibri" pitchFamily="34" charset="0"/>
                <a:ea typeface="Calibri" pitchFamily="34" charset="-122"/>
                <a:cs typeface="Calibri" pitchFamily="34" charset="-120"/>
              </a:rPr>
              <a:t>Browser automation</a:t>
            </a:r>
            <a:endParaRPr lang="en-US" sz="1150" dirty="0"/>
          </a:p>
        </p:txBody>
      </p:sp>
      <p:sp>
        <p:nvSpPr>
          <p:cNvPr id="14" name="Text 12"/>
          <p:cNvSpPr/>
          <p:nvPr/>
        </p:nvSpPr>
        <p:spPr>
          <a:xfrm>
            <a:off x="3200400" y="2432304"/>
            <a:ext cx="2468880" cy="585216"/>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Selenium WebDriver 4.21</a:t>
            </a:r>
            <a:endParaRPr lang="en-US" sz="1150" dirty="0"/>
          </a:p>
        </p:txBody>
      </p:sp>
      <p:sp>
        <p:nvSpPr>
          <p:cNvPr id="15" name="Shape 13"/>
          <p:cNvSpPr/>
          <p:nvPr/>
        </p:nvSpPr>
        <p:spPr>
          <a:xfrm>
            <a:off x="822960" y="3127248"/>
            <a:ext cx="4937760" cy="585216"/>
          </a:xfrm>
          <a:prstGeom prst="roundRect">
            <a:avLst>
              <a:gd name="adj" fmla="val 9375"/>
            </a:avLst>
          </a:prstGeom>
          <a:solidFill>
            <a:srgbClr val="F2F5F7"/>
          </a:solidFill>
          <a:ln w="9525">
            <a:solidFill>
              <a:srgbClr val="B9C0C4"/>
            </a:solidFill>
            <a:prstDash val="solid"/>
          </a:ln>
        </p:spPr>
      </p:sp>
      <p:sp>
        <p:nvSpPr>
          <p:cNvPr id="16" name="Text 14"/>
          <p:cNvSpPr/>
          <p:nvPr/>
        </p:nvSpPr>
        <p:spPr>
          <a:xfrm>
            <a:off x="1078992" y="3127248"/>
            <a:ext cx="2103120" cy="585216"/>
          </a:xfrm>
          <a:prstGeom prst="rect">
            <a:avLst/>
          </a:prstGeom>
          <a:noFill/>
          <a:ln/>
        </p:spPr>
        <p:txBody>
          <a:bodyPr wrap="square" lIns="0" tIns="0" rIns="0" bIns="0" rtlCol="0" anchor="ctr"/>
          <a:lstStyle/>
          <a:p>
            <a:pPr indent="0" marL="0">
              <a:buNone/>
            </a:pPr>
            <a:r>
              <a:rPr lang="en-US" sz="1150" b="1" dirty="0">
                <a:solidFill>
                  <a:srgbClr val="074D83"/>
                </a:solidFill>
                <a:latin typeface="Calibri" pitchFamily="34" charset="0"/>
                <a:ea typeface="Calibri" pitchFamily="34" charset="-122"/>
                <a:cs typeface="Calibri" pitchFamily="34" charset="-120"/>
              </a:rPr>
              <a:t>Test framework</a:t>
            </a:r>
            <a:endParaRPr lang="en-US" sz="1150" dirty="0"/>
          </a:p>
        </p:txBody>
      </p:sp>
      <p:sp>
        <p:nvSpPr>
          <p:cNvPr id="17" name="Text 15"/>
          <p:cNvSpPr/>
          <p:nvPr/>
        </p:nvSpPr>
        <p:spPr>
          <a:xfrm>
            <a:off x="3200400" y="3127248"/>
            <a:ext cx="2468880" cy="585216"/>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TestNG 7.10</a:t>
            </a:r>
            <a:endParaRPr lang="en-US" sz="1150" dirty="0"/>
          </a:p>
        </p:txBody>
      </p:sp>
      <p:sp>
        <p:nvSpPr>
          <p:cNvPr id="18" name="Shape 16"/>
          <p:cNvSpPr/>
          <p:nvPr/>
        </p:nvSpPr>
        <p:spPr>
          <a:xfrm>
            <a:off x="822960" y="3822192"/>
            <a:ext cx="4937760" cy="585216"/>
          </a:xfrm>
          <a:prstGeom prst="roundRect">
            <a:avLst>
              <a:gd name="adj" fmla="val 9375"/>
            </a:avLst>
          </a:prstGeom>
          <a:solidFill>
            <a:srgbClr val="F2F5F7"/>
          </a:solidFill>
          <a:ln w="9525">
            <a:solidFill>
              <a:srgbClr val="B9C0C4"/>
            </a:solidFill>
            <a:prstDash val="solid"/>
          </a:ln>
        </p:spPr>
      </p:sp>
      <p:sp>
        <p:nvSpPr>
          <p:cNvPr id="19" name="Text 17"/>
          <p:cNvSpPr/>
          <p:nvPr/>
        </p:nvSpPr>
        <p:spPr>
          <a:xfrm>
            <a:off x="1078992" y="3822192"/>
            <a:ext cx="2103120" cy="585216"/>
          </a:xfrm>
          <a:prstGeom prst="rect">
            <a:avLst/>
          </a:prstGeom>
          <a:noFill/>
          <a:ln/>
        </p:spPr>
        <p:txBody>
          <a:bodyPr wrap="square" lIns="0" tIns="0" rIns="0" bIns="0" rtlCol="0" anchor="ctr"/>
          <a:lstStyle/>
          <a:p>
            <a:pPr indent="0" marL="0">
              <a:buNone/>
            </a:pPr>
            <a:r>
              <a:rPr lang="en-US" sz="1150" b="1" dirty="0">
                <a:solidFill>
                  <a:srgbClr val="074D83"/>
                </a:solidFill>
                <a:latin typeface="Calibri" pitchFamily="34" charset="0"/>
                <a:ea typeface="Calibri" pitchFamily="34" charset="-122"/>
                <a:cs typeface="Calibri" pitchFamily="34" charset="-120"/>
              </a:rPr>
              <a:t>API testing</a:t>
            </a:r>
            <a:endParaRPr lang="en-US" sz="1150" dirty="0"/>
          </a:p>
        </p:txBody>
      </p:sp>
      <p:sp>
        <p:nvSpPr>
          <p:cNvPr id="20" name="Text 18"/>
          <p:cNvSpPr/>
          <p:nvPr/>
        </p:nvSpPr>
        <p:spPr>
          <a:xfrm>
            <a:off x="3200400" y="3822192"/>
            <a:ext cx="2468880" cy="585216"/>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RestAssured 5.4</a:t>
            </a:r>
            <a:endParaRPr lang="en-US" sz="1150" dirty="0"/>
          </a:p>
        </p:txBody>
      </p:sp>
      <p:sp>
        <p:nvSpPr>
          <p:cNvPr id="21" name="Shape 19"/>
          <p:cNvSpPr/>
          <p:nvPr/>
        </p:nvSpPr>
        <p:spPr>
          <a:xfrm>
            <a:off x="822960" y="4517136"/>
            <a:ext cx="4937760" cy="585216"/>
          </a:xfrm>
          <a:prstGeom prst="roundRect">
            <a:avLst>
              <a:gd name="adj" fmla="val 9375"/>
            </a:avLst>
          </a:prstGeom>
          <a:solidFill>
            <a:srgbClr val="F2F5F7"/>
          </a:solidFill>
          <a:ln w="9525">
            <a:solidFill>
              <a:srgbClr val="B9C0C4"/>
            </a:solidFill>
            <a:prstDash val="solid"/>
          </a:ln>
        </p:spPr>
      </p:sp>
      <p:sp>
        <p:nvSpPr>
          <p:cNvPr id="22" name="Text 20"/>
          <p:cNvSpPr/>
          <p:nvPr/>
        </p:nvSpPr>
        <p:spPr>
          <a:xfrm>
            <a:off x="1078992" y="4517136"/>
            <a:ext cx="2103120" cy="585216"/>
          </a:xfrm>
          <a:prstGeom prst="rect">
            <a:avLst/>
          </a:prstGeom>
          <a:noFill/>
          <a:ln/>
        </p:spPr>
        <p:txBody>
          <a:bodyPr wrap="square" lIns="0" tIns="0" rIns="0" bIns="0" rtlCol="0" anchor="ctr"/>
          <a:lstStyle/>
          <a:p>
            <a:pPr indent="0" marL="0">
              <a:buNone/>
            </a:pPr>
            <a:r>
              <a:rPr lang="en-US" sz="1150" b="1" dirty="0">
                <a:solidFill>
                  <a:srgbClr val="074D83"/>
                </a:solidFill>
                <a:latin typeface="Calibri" pitchFamily="34" charset="0"/>
                <a:ea typeface="Calibri" pitchFamily="34" charset="-122"/>
                <a:cs typeface="Calibri" pitchFamily="34" charset="-120"/>
              </a:rPr>
              <a:t>HTML parsing</a:t>
            </a:r>
            <a:endParaRPr lang="en-US" sz="1150" dirty="0"/>
          </a:p>
        </p:txBody>
      </p:sp>
      <p:sp>
        <p:nvSpPr>
          <p:cNvPr id="23" name="Text 21"/>
          <p:cNvSpPr/>
          <p:nvPr/>
        </p:nvSpPr>
        <p:spPr>
          <a:xfrm>
            <a:off x="3200400" y="4517136"/>
            <a:ext cx="2468880" cy="585216"/>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jsoup 1.17</a:t>
            </a:r>
            <a:endParaRPr lang="en-US" sz="1150" dirty="0"/>
          </a:p>
        </p:txBody>
      </p:sp>
      <p:sp>
        <p:nvSpPr>
          <p:cNvPr id="24" name="Shape 22"/>
          <p:cNvSpPr/>
          <p:nvPr/>
        </p:nvSpPr>
        <p:spPr>
          <a:xfrm>
            <a:off x="822960" y="5212080"/>
            <a:ext cx="4937760" cy="585216"/>
          </a:xfrm>
          <a:prstGeom prst="roundRect">
            <a:avLst>
              <a:gd name="adj" fmla="val 9375"/>
            </a:avLst>
          </a:prstGeom>
          <a:solidFill>
            <a:srgbClr val="F2F5F7"/>
          </a:solidFill>
          <a:ln w="9525">
            <a:solidFill>
              <a:srgbClr val="B9C0C4"/>
            </a:solidFill>
            <a:prstDash val="solid"/>
          </a:ln>
        </p:spPr>
      </p:sp>
      <p:sp>
        <p:nvSpPr>
          <p:cNvPr id="25" name="Text 23"/>
          <p:cNvSpPr/>
          <p:nvPr/>
        </p:nvSpPr>
        <p:spPr>
          <a:xfrm>
            <a:off x="1078992" y="5212080"/>
            <a:ext cx="2103120" cy="585216"/>
          </a:xfrm>
          <a:prstGeom prst="rect">
            <a:avLst/>
          </a:prstGeom>
          <a:noFill/>
          <a:ln/>
        </p:spPr>
        <p:txBody>
          <a:bodyPr wrap="square" lIns="0" tIns="0" rIns="0" bIns="0" rtlCol="0" anchor="ctr"/>
          <a:lstStyle/>
          <a:p>
            <a:pPr indent="0" marL="0">
              <a:buNone/>
            </a:pPr>
            <a:r>
              <a:rPr lang="en-US" sz="1150" b="1" dirty="0">
                <a:solidFill>
                  <a:srgbClr val="074D83"/>
                </a:solidFill>
                <a:latin typeface="Calibri" pitchFamily="34" charset="0"/>
                <a:ea typeface="Calibri" pitchFamily="34" charset="-122"/>
                <a:cs typeface="Calibri" pitchFamily="34" charset="-120"/>
              </a:rPr>
              <a:t>Test data</a:t>
            </a:r>
            <a:endParaRPr lang="en-US" sz="1150" dirty="0"/>
          </a:p>
        </p:txBody>
      </p:sp>
      <p:sp>
        <p:nvSpPr>
          <p:cNvPr id="26" name="Text 24"/>
          <p:cNvSpPr/>
          <p:nvPr/>
        </p:nvSpPr>
        <p:spPr>
          <a:xfrm>
            <a:off x="3200400" y="5212080"/>
            <a:ext cx="2468880" cy="585216"/>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Datafaker 2.4</a:t>
            </a:r>
            <a:endParaRPr lang="en-US" sz="1150" dirty="0"/>
          </a:p>
        </p:txBody>
      </p:sp>
      <p:sp>
        <p:nvSpPr>
          <p:cNvPr id="27" name="Shape 25"/>
          <p:cNvSpPr/>
          <p:nvPr/>
        </p:nvSpPr>
        <p:spPr>
          <a:xfrm>
            <a:off x="6355080" y="1737360"/>
            <a:ext cx="4937760" cy="585216"/>
          </a:xfrm>
          <a:prstGeom prst="roundRect">
            <a:avLst>
              <a:gd name="adj" fmla="val 9375"/>
            </a:avLst>
          </a:prstGeom>
          <a:solidFill>
            <a:srgbClr val="F2F5F7"/>
          </a:solidFill>
          <a:ln w="9525">
            <a:solidFill>
              <a:srgbClr val="B9C0C4"/>
            </a:solidFill>
            <a:prstDash val="solid"/>
          </a:ln>
        </p:spPr>
      </p:sp>
      <p:sp>
        <p:nvSpPr>
          <p:cNvPr id="28" name="Text 26"/>
          <p:cNvSpPr/>
          <p:nvPr/>
        </p:nvSpPr>
        <p:spPr>
          <a:xfrm>
            <a:off x="6611112" y="1737360"/>
            <a:ext cx="2103120" cy="585216"/>
          </a:xfrm>
          <a:prstGeom prst="rect">
            <a:avLst/>
          </a:prstGeom>
          <a:noFill/>
          <a:ln/>
        </p:spPr>
        <p:txBody>
          <a:bodyPr wrap="square" lIns="0" tIns="0" rIns="0" bIns="0" rtlCol="0" anchor="ctr"/>
          <a:lstStyle/>
          <a:p>
            <a:pPr indent="0" marL="0">
              <a:buNone/>
            </a:pPr>
            <a:r>
              <a:rPr lang="en-US" sz="1150" b="1" dirty="0">
                <a:solidFill>
                  <a:srgbClr val="074D83"/>
                </a:solidFill>
                <a:latin typeface="Calibri" pitchFamily="34" charset="0"/>
                <a:ea typeface="Calibri" pitchFamily="34" charset="-122"/>
                <a:cs typeface="Calibri" pitchFamily="34" charset="-120"/>
              </a:rPr>
              <a:t>Reporting</a:t>
            </a:r>
            <a:endParaRPr lang="en-US" sz="1150" dirty="0"/>
          </a:p>
        </p:txBody>
      </p:sp>
      <p:sp>
        <p:nvSpPr>
          <p:cNvPr id="29" name="Text 27"/>
          <p:cNvSpPr/>
          <p:nvPr/>
        </p:nvSpPr>
        <p:spPr>
          <a:xfrm>
            <a:off x="8732520" y="1737360"/>
            <a:ext cx="2468880" cy="585216"/>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ExtentReports 5.1</a:t>
            </a:r>
            <a:endParaRPr lang="en-US" sz="1150" dirty="0"/>
          </a:p>
        </p:txBody>
      </p:sp>
      <p:sp>
        <p:nvSpPr>
          <p:cNvPr id="30" name="Shape 28"/>
          <p:cNvSpPr/>
          <p:nvPr/>
        </p:nvSpPr>
        <p:spPr>
          <a:xfrm>
            <a:off x="6355080" y="2432304"/>
            <a:ext cx="4937760" cy="585216"/>
          </a:xfrm>
          <a:prstGeom prst="roundRect">
            <a:avLst>
              <a:gd name="adj" fmla="val 9375"/>
            </a:avLst>
          </a:prstGeom>
          <a:solidFill>
            <a:srgbClr val="F2F5F7"/>
          </a:solidFill>
          <a:ln w="9525">
            <a:solidFill>
              <a:srgbClr val="B9C0C4"/>
            </a:solidFill>
            <a:prstDash val="solid"/>
          </a:ln>
        </p:spPr>
      </p:sp>
      <p:sp>
        <p:nvSpPr>
          <p:cNvPr id="31" name="Text 29"/>
          <p:cNvSpPr/>
          <p:nvPr/>
        </p:nvSpPr>
        <p:spPr>
          <a:xfrm>
            <a:off x="6611112" y="2432304"/>
            <a:ext cx="2103120" cy="585216"/>
          </a:xfrm>
          <a:prstGeom prst="rect">
            <a:avLst/>
          </a:prstGeom>
          <a:noFill/>
          <a:ln/>
        </p:spPr>
        <p:txBody>
          <a:bodyPr wrap="square" lIns="0" tIns="0" rIns="0" bIns="0" rtlCol="0" anchor="ctr"/>
          <a:lstStyle/>
          <a:p>
            <a:pPr indent="0" marL="0">
              <a:buNone/>
            </a:pPr>
            <a:r>
              <a:rPr lang="en-US" sz="1150" b="1" dirty="0">
                <a:solidFill>
                  <a:srgbClr val="074D83"/>
                </a:solidFill>
                <a:latin typeface="Calibri" pitchFamily="34" charset="0"/>
                <a:ea typeface="Calibri" pitchFamily="34" charset="-122"/>
                <a:cs typeface="Calibri" pitchFamily="34" charset="-120"/>
              </a:rPr>
              <a:t>HTTP client</a:t>
            </a:r>
            <a:endParaRPr lang="en-US" sz="1150" dirty="0"/>
          </a:p>
        </p:txBody>
      </p:sp>
      <p:sp>
        <p:nvSpPr>
          <p:cNvPr id="32" name="Text 30"/>
          <p:cNvSpPr/>
          <p:nvPr/>
        </p:nvSpPr>
        <p:spPr>
          <a:xfrm>
            <a:off x="8732520" y="2432304"/>
            <a:ext cx="2468880" cy="585216"/>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OkHttp 4.12</a:t>
            </a:r>
            <a:endParaRPr lang="en-US" sz="1150" dirty="0"/>
          </a:p>
        </p:txBody>
      </p:sp>
      <p:sp>
        <p:nvSpPr>
          <p:cNvPr id="33" name="Shape 31"/>
          <p:cNvSpPr/>
          <p:nvPr/>
        </p:nvSpPr>
        <p:spPr>
          <a:xfrm>
            <a:off x="6355080" y="3127248"/>
            <a:ext cx="4937760" cy="585216"/>
          </a:xfrm>
          <a:prstGeom prst="roundRect">
            <a:avLst>
              <a:gd name="adj" fmla="val 9375"/>
            </a:avLst>
          </a:prstGeom>
          <a:solidFill>
            <a:srgbClr val="F2F5F7"/>
          </a:solidFill>
          <a:ln w="9525">
            <a:solidFill>
              <a:srgbClr val="B9C0C4"/>
            </a:solidFill>
            <a:prstDash val="solid"/>
          </a:ln>
        </p:spPr>
      </p:sp>
      <p:sp>
        <p:nvSpPr>
          <p:cNvPr id="34" name="Text 32"/>
          <p:cNvSpPr/>
          <p:nvPr/>
        </p:nvSpPr>
        <p:spPr>
          <a:xfrm>
            <a:off x="6611112" y="3127248"/>
            <a:ext cx="2103120" cy="585216"/>
          </a:xfrm>
          <a:prstGeom prst="rect">
            <a:avLst/>
          </a:prstGeom>
          <a:noFill/>
          <a:ln/>
        </p:spPr>
        <p:txBody>
          <a:bodyPr wrap="square" lIns="0" tIns="0" rIns="0" bIns="0" rtlCol="0" anchor="ctr"/>
          <a:lstStyle/>
          <a:p>
            <a:pPr indent="0" marL="0">
              <a:buNone/>
            </a:pPr>
            <a:r>
              <a:rPr lang="en-US" sz="1150" b="1" dirty="0">
                <a:solidFill>
                  <a:srgbClr val="074D83"/>
                </a:solidFill>
                <a:latin typeface="Calibri" pitchFamily="34" charset="0"/>
                <a:ea typeface="Calibri" pitchFamily="34" charset="-122"/>
                <a:cs typeface="Calibri" pitchFamily="34" charset="-120"/>
              </a:rPr>
              <a:t>Cloud model</a:t>
            </a:r>
            <a:endParaRPr lang="en-US" sz="1150" dirty="0"/>
          </a:p>
        </p:txBody>
      </p:sp>
      <p:sp>
        <p:nvSpPr>
          <p:cNvPr id="35" name="Text 33"/>
          <p:cNvSpPr/>
          <p:nvPr/>
        </p:nvSpPr>
        <p:spPr>
          <a:xfrm>
            <a:off x="8732520" y="3127248"/>
            <a:ext cx="2468880" cy="585216"/>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gemini-3.1-flash-lite</a:t>
            </a:r>
            <a:endParaRPr lang="en-US" sz="1150" dirty="0"/>
          </a:p>
        </p:txBody>
      </p:sp>
      <p:sp>
        <p:nvSpPr>
          <p:cNvPr id="36" name="Shape 34"/>
          <p:cNvSpPr/>
          <p:nvPr/>
        </p:nvSpPr>
        <p:spPr>
          <a:xfrm>
            <a:off x="6355080" y="3822192"/>
            <a:ext cx="4937760" cy="585216"/>
          </a:xfrm>
          <a:prstGeom prst="roundRect">
            <a:avLst>
              <a:gd name="adj" fmla="val 9375"/>
            </a:avLst>
          </a:prstGeom>
          <a:solidFill>
            <a:srgbClr val="F2F5F7"/>
          </a:solidFill>
          <a:ln w="9525">
            <a:solidFill>
              <a:srgbClr val="B9C0C4"/>
            </a:solidFill>
            <a:prstDash val="solid"/>
          </a:ln>
        </p:spPr>
      </p:sp>
      <p:sp>
        <p:nvSpPr>
          <p:cNvPr id="37" name="Text 35"/>
          <p:cNvSpPr/>
          <p:nvPr/>
        </p:nvSpPr>
        <p:spPr>
          <a:xfrm>
            <a:off x="6611112" y="3822192"/>
            <a:ext cx="2103120" cy="585216"/>
          </a:xfrm>
          <a:prstGeom prst="rect">
            <a:avLst/>
          </a:prstGeom>
          <a:noFill/>
          <a:ln/>
        </p:spPr>
        <p:txBody>
          <a:bodyPr wrap="square" lIns="0" tIns="0" rIns="0" bIns="0" rtlCol="0" anchor="ctr"/>
          <a:lstStyle/>
          <a:p>
            <a:pPr indent="0" marL="0">
              <a:buNone/>
            </a:pPr>
            <a:r>
              <a:rPr lang="en-US" sz="1150" b="1" dirty="0">
                <a:solidFill>
                  <a:srgbClr val="074D83"/>
                </a:solidFill>
                <a:latin typeface="Calibri" pitchFamily="34" charset="0"/>
                <a:ea typeface="Calibri" pitchFamily="34" charset="-122"/>
                <a:cs typeface="Calibri" pitchFamily="34" charset="-120"/>
              </a:rPr>
              <a:t>Local model</a:t>
            </a:r>
            <a:endParaRPr lang="en-US" sz="1150" dirty="0"/>
          </a:p>
        </p:txBody>
      </p:sp>
      <p:sp>
        <p:nvSpPr>
          <p:cNvPr id="38" name="Text 36"/>
          <p:cNvSpPr/>
          <p:nvPr/>
        </p:nvSpPr>
        <p:spPr>
          <a:xfrm>
            <a:off x="8732520" y="3822192"/>
            <a:ext cx="2468880" cy="585216"/>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Llama 3.1 8B via Ollama</a:t>
            </a:r>
            <a:endParaRPr lang="en-US" sz="1150" dirty="0"/>
          </a:p>
        </p:txBody>
      </p:sp>
      <p:sp>
        <p:nvSpPr>
          <p:cNvPr id="39" name="Shape 37"/>
          <p:cNvSpPr/>
          <p:nvPr/>
        </p:nvSpPr>
        <p:spPr>
          <a:xfrm>
            <a:off x="6355080" y="4517136"/>
            <a:ext cx="4937760" cy="585216"/>
          </a:xfrm>
          <a:prstGeom prst="roundRect">
            <a:avLst>
              <a:gd name="adj" fmla="val 9375"/>
            </a:avLst>
          </a:prstGeom>
          <a:solidFill>
            <a:srgbClr val="F2F5F7"/>
          </a:solidFill>
          <a:ln w="9525">
            <a:solidFill>
              <a:srgbClr val="B9C0C4"/>
            </a:solidFill>
            <a:prstDash val="solid"/>
          </a:ln>
        </p:spPr>
      </p:sp>
      <p:sp>
        <p:nvSpPr>
          <p:cNvPr id="40" name="Text 38"/>
          <p:cNvSpPr/>
          <p:nvPr/>
        </p:nvSpPr>
        <p:spPr>
          <a:xfrm>
            <a:off x="6611112" y="4517136"/>
            <a:ext cx="2103120" cy="585216"/>
          </a:xfrm>
          <a:prstGeom prst="rect">
            <a:avLst/>
          </a:prstGeom>
          <a:noFill/>
          <a:ln/>
        </p:spPr>
        <p:txBody>
          <a:bodyPr wrap="square" lIns="0" tIns="0" rIns="0" bIns="0" rtlCol="0" anchor="ctr"/>
          <a:lstStyle/>
          <a:p>
            <a:pPr indent="0" marL="0">
              <a:buNone/>
            </a:pPr>
            <a:r>
              <a:rPr lang="en-US" sz="1150" b="1" dirty="0">
                <a:solidFill>
                  <a:srgbClr val="074D83"/>
                </a:solidFill>
                <a:latin typeface="Calibri" pitchFamily="34" charset="0"/>
                <a:ea typeface="Calibri" pitchFamily="34" charset="-122"/>
                <a:cs typeface="Calibri" pitchFamily="34" charset="-120"/>
              </a:rPr>
              <a:t>Continuous integration</a:t>
            </a:r>
            <a:endParaRPr lang="en-US" sz="1150" dirty="0"/>
          </a:p>
        </p:txBody>
      </p:sp>
      <p:sp>
        <p:nvSpPr>
          <p:cNvPr id="41" name="Text 39"/>
          <p:cNvSpPr/>
          <p:nvPr/>
        </p:nvSpPr>
        <p:spPr>
          <a:xfrm>
            <a:off x="8732520" y="4517136"/>
            <a:ext cx="2468880" cy="585216"/>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GitHub Actions · Jenkins (self-hosted, Docker)</a:t>
            </a:r>
            <a:endParaRPr lang="en-US" sz="1150" dirty="0"/>
          </a:p>
        </p:txBody>
      </p:sp>
      <p:sp>
        <p:nvSpPr>
          <p:cNvPr id="42" name="Shape 40"/>
          <p:cNvSpPr/>
          <p:nvPr/>
        </p:nvSpPr>
        <p:spPr>
          <a:xfrm>
            <a:off x="6355080" y="5212080"/>
            <a:ext cx="4937760" cy="585216"/>
          </a:xfrm>
          <a:prstGeom prst="roundRect">
            <a:avLst>
              <a:gd name="adj" fmla="val 9375"/>
            </a:avLst>
          </a:prstGeom>
          <a:solidFill>
            <a:srgbClr val="F2F5F7"/>
          </a:solidFill>
          <a:ln w="9525">
            <a:solidFill>
              <a:srgbClr val="B9C0C4"/>
            </a:solidFill>
            <a:prstDash val="solid"/>
          </a:ln>
        </p:spPr>
      </p:sp>
      <p:sp>
        <p:nvSpPr>
          <p:cNvPr id="43" name="Text 41"/>
          <p:cNvSpPr/>
          <p:nvPr/>
        </p:nvSpPr>
        <p:spPr>
          <a:xfrm>
            <a:off x="6611112" y="5212080"/>
            <a:ext cx="2103120" cy="585216"/>
          </a:xfrm>
          <a:prstGeom prst="rect">
            <a:avLst/>
          </a:prstGeom>
          <a:noFill/>
          <a:ln/>
        </p:spPr>
        <p:txBody>
          <a:bodyPr wrap="square" lIns="0" tIns="0" rIns="0" bIns="0" rtlCol="0" anchor="ctr"/>
          <a:lstStyle/>
          <a:p>
            <a:pPr indent="0" marL="0">
              <a:buNone/>
            </a:pPr>
            <a:r>
              <a:rPr lang="en-US" sz="1150" b="1" dirty="0">
                <a:solidFill>
                  <a:srgbClr val="074D83"/>
                </a:solidFill>
                <a:latin typeface="Calibri" pitchFamily="34" charset="0"/>
                <a:ea typeface="Calibri" pitchFamily="34" charset="-122"/>
                <a:cs typeface="Calibri" pitchFamily="34" charset="-120"/>
              </a:rPr>
              <a:t>Version control</a:t>
            </a:r>
            <a:endParaRPr lang="en-US" sz="1150" dirty="0"/>
          </a:p>
        </p:txBody>
      </p:sp>
      <p:sp>
        <p:nvSpPr>
          <p:cNvPr id="44" name="Text 42"/>
          <p:cNvSpPr/>
          <p:nvPr/>
        </p:nvSpPr>
        <p:spPr>
          <a:xfrm>
            <a:off x="8732520" y="5212080"/>
            <a:ext cx="2468880" cy="585216"/>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Git / GitHub</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TECHNICAL DESIGN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28</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Continuous integration and delivery</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pic>
        <p:nvPicPr>
          <p:cNvPr id="9" name="Image 0" descr="img/fig09.png">    </p:cNvPr>
          <p:cNvPicPr>
            <a:picLocks noChangeAspect="1"/>
          </p:cNvPicPr>
          <p:nvPr/>
        </p:nvPicPr>
        <p:blipFill>
          <a:blip r:embed="rId1"/>
          <a:stretch>
            <a:fillRect/>
          </a:stretch>
        </p:blipFill>
        <p:spPr>
          <a:xfrm>
            <a:off x="777240" y="1874520"/>
            <a:ext cx="10607040" cy="1417320"/>
          </a:xfrm>
          <a:prstGeom prst="rect">
            <a:avLst/>
          </a:prstGeom>
        </p:spPr>
      </p:pic>
      <p:sp>
        <p:nvSpPr>
          <p:cNvPr id="10" name="Text 7"/>
          <p:cNvSpPr/>
          <p:nvPr/>
        </p:nvSpPr>
        <p:spPr>
          <a:xfrm>
            <a:off x="822960" y="3566160"/>
            <a:ext cx="10469880" cy="2011680"/>
          </a:xfrm>
          <a:prstGeom prst="rect">
            <a:avLst/>
          </a:prstGeom>
          <a:noFill/>
          <a:ln/>
        </p:spPr>
        <p:txBody>
          <a:bodyPr wrap="square" lIns="0" tIns="0" rIns="0" bIns="0" rtlCol="0" anchor="ctr"/>
          <a:lstStyle/>
          <a:p>
            <a:pPr indent="0" marL="0">
              <a:spcAft>
                <a:spcPts val="900"/>
              </a:spcAft>
              <a:buNone/>
            </a:pPr>
            <a:r>
              <a:rPr lang="en-US" sz="1200" b="1" dirty="0">
                <a:solidFill>
                  <a:srgbClr val="1A1A1A"/>
                </a:solidFill>
                <a:latin typeface="Calibri" pitchFamily="34" charset="0"/>
                <a:ea typeface="Calibri" pitchFamily="34" charset="-122"/>
                <a:cs typeface="Calibri" pitchFamily="34" charset="-120"/>
              </a:rPr>
              <a:t>GitHub Actions </a:t>
            </a:r>
            <a:pPr indent="0" marL="0">
              <a:spcAft>
                <a:spcPts val="900"/>
              </a:spcAft>
              <a:buNone/>
            </a:pPr>
            <a:r>
              <a:rPr lang="en-US" sz="1200" dirty="0">
                <a:solidFill>
                  <a:srgbClr val="6E7377"/>
                </a:solidFill>
                <a:latin typeface="Calibri" pitchFamily="34" charset="0"/>
                <a:ea typeface="Calibri" pitchFamily="34" charset="-122"/>
                <a:cs typeface="Calibri" pitchFamily="34" charset="-120"/>
              </a:rPr>
              <a:t>runs on every push to main: a clean Ubuntu machine, JDK 17, headless. The value of a clean machine is easily understated — it proves the project builds from the repository alone.</a:t>
            </a:r>
            <a:endParaRPr lang="en-US" sz="1200" dirty="0"/>
          </a:p>
          <a:p>
            <a:pPr indent="0" marL="0">
              <a:spcAft>
                <a:spcPts val="900"/>
              </a:spcAft>
              <a:buNone/>
            </a:pPr>
            <a:r>
              <a:rPr lang="en-US" sz="1200" b="1" dirty="0">
                <a:solidFill>
                  <a:srgbClr val="1A1A1A"/>
                </a:solidFill>
                <a:latin typeface="Calibri" pitchFamily="34" charset="0"/>
                <a:ea typeface="Calibri" pitchFamily="34" charset="-122"/>
                <a:cs typeface="Calibri" pitchFamily="34" charset="-120"/>
              </a:rPr>
              <a:t>Jenkins </a:t>
            </a:r>
            <a:pPr indent="0" marL="0">
              <a:spcAft>
                <a:spcPts val="900"/>
              </a:spcAft>
              <a:buNone/>
            </a:pPr>
            <a:r>
              <a:rPr lang="en-US" sz="1200" dirty="0">
                <a:solidFill>
                  <a:srgbClr val="6E7377"/>
                </a:solidFill>
                <a:latin typeface="Calibri" pitchFamily="34" charset="0"/>
                <a:ea typeface="Calibri" pitchFamily="34" charset="-122"/>
                <a:cs typeface="Calibri" pitchFamily="34" charset="-120"/>
              </a:rPr>
              <a:t>runs self-hosted in Docker on a webhook, with Checkout / Build / Test as separate stages so the dashboard distinguishes a compilation failure from a test failure.</a:t>
            </a:r>
            <a:endParaRPr lang="en-US" sz="1200" dirty="0"/>
          </a:p>
          <a:p>
            <a:pPr indent="0" marL="0">
              <a:spcAft>
                <a:spcPts val="900"/>
              </a:spcAft>
              <a:buNone/>
            </a:pPr>
            <a:r>
              <a:rPr lang="en-US" sz="1200" b="1" dirty="0">
                <a:solidFill>
                  <a:srgbClr val="037C87"/>
                </a:solidFill>
                <a:latin typeface="Calibri" pitchFamily="34" charset="0"/>
                <a:ea typeface="Calibri" pitchFamily="34" charset="-122"/>
                <a:cs typeface="Calibri" pitchFamily="34" charset="-120"/>
              </a:rPr>
              <a:t>A fast offline gate </a:t>
            </a:r>
            <a:pPr indent="0" marL="0">
              <a:spcAft>
                <a:spcPts val="900"/>
              </a:spcAft>
              <a:buNone/>
            </a:pPr>
            <a:r>
              <a:rPr lang="en-US" sz="1200" dirty="0">
                <a:solidFill>
                  <a:srgbClr val="6E7377"/>
                </a:solidFill>
                <a:latin typeface="Calibri" pitchFamily="34" charset="0"/>
                <a:ea typeface="Calibri" pitchFamily="34" charset="-122"/>
                <a:cs typeface="Calibri" pitchFamily="34" charset="-120"/>
              </a:rPr>
              <a:t>runs the generator’s own unit tests first — no browser, no network — so a red build immediately says which kind of failure it is.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IMPLEMENTATION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29</a:t>
            </a:r>
            <a:endParaRPr lang="en-US" sz="900" dirty="0"/>
          </a:p>
        </p:txBody>
      </p:sp>
      <p:sp>
        <p:nvSpPr>
          <p:cNvPr id="7" name="Shape 5"/>
          <p:cNvSpPr/>
          <p:nvPr/>
        </p:nvSpPr>
        <p:spPr>
          <a:xfrm>
            <a:off x="5733288" y="2286000"/>
            <a:ext cx="731520" cy="731520"/>
          </a:xfrm>
          <a:prstGeom prst="ellipse">
            <a:avLst/>
          </a:prstGeom>
          <a:solidFill>
            <a:srgbClr val="FFFFFF"/>
          </a:solidFill>
          <a:ln w="15875">
            <a:solidFill>
              <a:srgbClr val="074D83"/>
            </a:solidFill>
            <a:prstDash val="solid"/>
          </a:ln>
        </p:spPr>
      </p:sp>
      <p:sp>
        <p:nvSpPr>
          <p:cNvPr id="8" name="Text 6"/>
          <p:cNvSpPr/>
          <p:nvPr/>
        </p:nvSpPr>
        <p:spPr>
          <a:xfrm>
            <a:off x="5733288" y="2286000"/>
            <a:ext cx="731520" cy="731520"/>
          </a:xfrm>
          <a:prstGeom prst="rect">
            <a:avLst/>
          </a:prstGeom>
          <a:noFill/>
          <a:ln/>
        </p:spPr>
        <p:txBody>
          <a:bodyPr wrap="square" lIns="0" tIns="0" rIns="0" bIns="0" rtlCol="0" anchor="ctr"/>
          <a:lstStyle/>
          <a:p>
            <a:pPr algn="ctr" indent="0" marL="0">
              <a:buNone/>
            </a:pPr>
            <a:r>
              <a:rPr lang="en-US" sz="2000" dirty="0">
                <a:solidFill>
                  <a:srgbClr val="074D83"/>
                </a:solidFill>
                <a:latin typeface="Calibri" pitchFamily="34" charset="0"/>
                <a:ea typeface="Calibri" pitchFamily="34" charset="-122"/>
                <a:cs typeface="Calibri" pitchFamily="34" charset="-120"/>
              </a:rPr>
              <a:t>5</a:t>
            </a:r>
            <a:endParaRPr lang="en-US" sz="2000" dirty="0"/>
          </a:p>
        </p:txBody>
      </p:sp>
      <p:sp>
        <p:nvSpPr>
          <p:cNvPr id="9" name="Shape 7"/>
          <p:cNvSpPr/>
          <p:nvPr/>
        </p:nvSpPr>
        <p:spPr>
          <a:xfrm>
            <a:off x="3108960" y="3310128"/>
            <a:ext cx="5943600" cy="0"/>
          </a:xfrm>
          <a:prstGeom prst="line">
            <a:avLst/>
          </a:prstGeom>
          <a:noFill/>
          <a:ln w="12700">
            <a:solidFill>
              <a:srgbClr val="B9C0C4"/>
            </a:solidFill>
            <a:prstDash val="solid"/>
          </a:ln>
        </p:spPr>
      </p:sp>
      <p:sp>
        <p:nvSpPr>
          <p:cNvPr id="10" name="Text 8"/>
          <p:cNvSpPr/>
          <p:nvPr/>
        </p:nvSpPr>
        <p:spPr>
          <a:xfrm>
            <a:off x="1280160" y="3429000"/>
            <a:ext cx="9601200" cy="68580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IMPLEMENTATION</a:t>
            </a:r>
            <a:endParaRPr lang="en-US" sz="2600" dirty="0"/>
          </a:p>
        </p:txBody>
      </p:sp>
      <p:sp>
        <p:nvSpPr>
          <p:cNvPr id="11" name="Shape 9"/>
          <p:cNvSpPr/>
          <p:nvPr/>
        </p:nvSpPr>
        <p:spPr>
          <a:xfrm>
            <a:off x="3108960" y="4206240"/>
            <a:ext cx="5943600" cy="0"/>
          </a:xfrm>
          <a:prstGeom prst="line">
            <a:avLst/>
          </a:prstGeom>
          <a:noFill/>
          <a:ln w="12700">
            <a:solidFill>
              <a:srgbClr val="B9C0C4"/>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IMPLEMENTATION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30</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The generator in operation</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783080"/>
            <a:ext cx="10469880" cy="2286000"/>
          </a:xfrm>
          <a:prstGeom prst="roundRect">
            <a:avLst>
              <a:gd name="adj" fmla="val 2400"/>
            </a:avLst>
          </a:prstGeom>
          <a:solidFill>
            <a:srgbClr val="1B2A33"/>
          </a:solidFill>
          <a:ln w="12700">
            <a:solidFill>
              <a:srgbClr val="333333"/>
            </a:solidFill>
            <a:prstDash val="solid"/>
          </a:ln>
        </p:spPr>
      </p:sp>
      <p:sp>
        <p:nvSpPr>
          <p:cNvPr id="10" name="Text 8"/>
          <p:cNvSpPr/>
          <p:nvPr/>
        </p:nvSpPr>
        <p:spPr>
          <a:xfrm>
            <a:off x="1051560" y="1783080"/>
            <a:ext cx="10012680" cy="228600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 mvn -q compile exec:java -Dexec.mainClass=cli.Main</a:t>
            </a:r>
            <a:endParaRPr lang="en-US" sz="1150" dirty="0"/>
          </a:p>
          <a:p>
            <a:pPr indent="0" marL="0">
              <a:buNone/>
            </a:pP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1 - Pipeline A: structured extraction + generate Page Object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2 - Pipeline A + AI review of low-confidence selectors</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3 - Pipeline B: naive raw-HTML AI baseline</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Choose an option (1/2/3): 1</a:t>
            </a:r>
            <a:endParaRPr lang="en-US" sz="1150" dirty="0"/>
          </a:p>
          <a:p>
            <a:pPr indent="0" marL="0">
              <a:buNone/>
            </a:pP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Detected 2 repeated component pattern(s):</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Pattern: a.bm-item          -&gt; 4 instances</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Pattern: div.inventory_item -&gt; 6 instances</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Section Body: 3 selectors, 0 low-confidence</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  Written: src/main/java/pages/generated/...Body.java</a:t>
            </a:r>
            <a:endParaRPr lang="en-US" sz="1150" dirty="0"/>
          </a:p>
        </p:txBody>
      </p:sp>
      <p:sp>
        <p:nvSpPr>
          <p:cNvPr id="11" name="Text 9"/>
          <p:cNvSpPr/>
          <p:nvPr/>
        </p:nvSpPr>
        <p:spPr>
          <a:xfrm>
            <a:off x="822960" y="4343400"/>
            <a:ext cx="10469880" cy="68580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The last line is the measurement. </a:t>
            </a:r>
            <a:pPr indent="0" marL="0">
              <a:buNone/>
            </a:pPr>
            <a:r>
              <a:rPr lang="en-US" sz="1250" dirty="0">
                <a:solidFill>
                  <a:srgbClr val="6E7377"/>
                </a:solidFill>
                <a:latin typeface="Calibri" pitchFamily="34" charset="0"/>
                <a:ea typeface="Calibri" pitchFamily="34" charset="-122"/>
                <a:cs typeface="Calibri" pitchFamily="34" charset="-120"/>
              </a:rPr>
              <a:t>Three selectors, zero low-confidence — so nothing met the escalation condition, no prompt was ever constructed, and the model was never called. Cost for this page: zero tokens.</a:t>
            </a:r>
            <a:endParaRPr lang="en-US" sz="1250" dirty="0"/>
          </a:p>
        </p:txBody>
      </p:sp>
      <p:sp>
        <p:nvSpPr>
          <p:cNvPr id="12" name="Shape 10"/>
          <p:cNvSpPr/>
          <p:nvPr/>
        </p:nvSpPr>
        <p:spPr>
          <a:xfrm>
            <a:off x="822960" y="5166360"/>
            <a:ext cx="10469880" cy="914400"/>
          </a:xfrm>
          <a:prstGeom prst="roundRect">
            <a:avLst>
              <a:gd name="adj" fmla="val 6000"/>
            </a:avLst>
          </a:prstGeom>
          <a:solidFill>
            <a:srgbClr val="F2F5F7"/>
          </a:solidFill>
          <a:ln w="9525">
            <a:solidFill>
              <a:srgbClr val="F2F5F7"/>
            </a:solidFill>
            <a:prstDash val="solid"/>
          </a:ln>
        </p:spPr>
      </p:sp>
      <p:sp>
        <p:nvSpPr>
          <p:cNvPr id="13" name="Text 11"/>
          <p:cNvSpPr/>
          <p:nvPr/>
        </p:nvSpPr>
        <p:spPr>
          <a:xfrm>
            <a:off x="1143000" y="5166360"/>
            <a:ext cx="9875520" cy="91440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For pages behind a login, the tool opens a visible browser, waits for the engineer to authenticate and navigate by hand, and captures whatever page they reached — rather than encoding assumptions about any particular login form, which would work for exactly one site.</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IMPLEMENTATION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31</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A generated page object</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737360"/>
            <a:ext cx="10469880" cy="3794760"/>
          </a:xfrm>
          <a:prstGeom prst="roundRect">
            <a:avLst>
              <a:gd name="adj" fmla="val 1446"/>
            </a:avLst>
          </a:prstGeom>
          <a:solidFill>
            <a:srgbClr val="1B2A33"/>
          </a:solidFill>
          <a:ln w="12700">
            <a:solidFill>
              <a:srgbClr val="333333"/>
            </a:solidFill>
            <a:prstDash val="solid"/>
          </a:ln>
        </p:spPr>
      </p:sp>
      <p:sp>
        <p:nvSpPr>
          <p:cNvPr id="10" name="Text 8"/>
          <p:cNvSpPr/>
          <p:nvPr/>
        </p:nvSpPr>
        <p:spPr>
          <a:xfrm>
            <a:off x="1051560" y="1737360"/>
            <a:ext cx="10012680" cy="3794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package pages.generated;</a:t>
            </a:r>
            <a:endParaRPr lang="en-US" sz="1100" dirty="0"/>
          </a:p>
          <a:p>
            <a:pPr indent="0" marL="0">
              <a:buNone/>
            </a:pP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public class SauceDemoInventoryPageBody extends BasePage {</a:t>
            </a:r>
            <a:endParaRPr lang="en-US" sz="1100" dirty="0"/>
          </a:p>
          <a:p>
            <a:pPr indent="0" marL="0">
              <a:buNone/>
            </a:pP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private final By byReactBurgerMenuBtn = By.cssSelector("[id='react-burger-menu-btn']");</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private final By byShoppingCartLink   = By.cssSelector("[data-test='shopping-cart-link']");</a:t>
            </a:r>
            <a:endParaRPr lang="en-US" sz="1100" dirty="0"/>
          </a:p>
          <a:p>
            <a:pPr indent="0" marL="0">
              <a:buNone/>
            </a:pP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public void clickShoppingCartLink() { click(byShoppingCartLink); }</a:t>
            </a:r>
            <a:endParaRPr lang="en-US" sz="1100" dirty="0"/>
          </a:p>
          <a:p>
            <a:pPr indent="0" marL="0">
              <a:buNone/>
            </a:pP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 "div.inventory_item" repeated 6 times on the page this was generated from.</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public List&lt;InventoryItemItem&gt; getInventoryItemItemList()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return driver.findElements(By.cssSelector("div.inventory_list &gt; div.inventory_item"))</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.stream().map(InventoryItemItem::new).collect(Collectors.toList());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p:txBody>
      </p:sp>
      <p:sp>
        <p:nvSpPr>
          <p:cNvPr id="11" name="Text 9"/>
          <p:cNvSpPr/>
          <p:nvPr/>
        </p:nvSpPr>
        <p:spPr>
          <a:xfrm>
            <a:off x="822960" y="5623560"/>
            <a:ext cx="10469880" cy="457200"/>
          </a:xfrm>
          <a:prstGeom prst="rect">
            <a:avLst/>
          </a:prstGeom>
          <a:noFill/>
          <a:ln/>
        </p:spPr>
        <p:txBody>
          <a:bodyPr wrap="square" lIns="0" tIns="0" rIns="0" bIns="0" rtlCol="0" anchor="ctr"/>
          <a:lstStyle/>
          <a:p>
            <a:pPr algn="ctr" indent="0" marL="0">
              <a:buNone/>
            </a:pPr>
            <a:r>
              <a:rPr lang="en-US" sz="1150" i="1" dirty="0">
                <a:solidFill>
                  <a:srgbClr val="6E7377"/>
                </a:solidFill>
                <a:latin typeface="Calibri" pitchFamily="34" charset="0"/>
                <a:ea typeface="Calibri" pitchFamily="34" charset="-122"/>
                <a:cs typeface="Calibri" pitchFamily="34" charset="-120"/>
              </a:rPr>
              <a:t>Extends the same BasePage as hand-written page objects, and lands in a dedicated pages.generated package so machine output is never mistaken for reviewed code.</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IMPLEMENTATION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Validated end-to-end by generated page objects alone</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737360"/>
            <a:ext cx="10469880" cy="2514600"/>
          </a:xfrm>
          <a:prstGeom prst="roundRect">
            <a:avLst>
              <a:gd name="adj" fmla="val 2182"/>
            </a:avLst>
          </a:prstGeom>
          <a:solidFill>
            <a:srgbClr val="1B2A33"/>
          </a:solidFill>
          <a:ln w="12700">
            <a:solidFill>
              <a:srgbClr val="333333"/>
            </a:solidFill>
            <a:prstDash val="solid"/>
          </a:ln>
        </p:spPr>
      </p:sp>
      <p:sp>
        <p:nvSpPr>
          <p:cNvPr id="10" name="Text 8"/>
          <p:cNvSpPr/>
          <p:nvPr/>
        </p:nvSpPr>
        <p:spPr>
          <a:xfrm>
            <a:off x="1051560" y="1737360"/>
            <a:ext cx="10012680" cy="251460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List&lt;ProductsPageBody.ColSm4Item&gt; products = body.getColSm4ItemList();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actions.moveToElement(firstProduct.getRoot()).perform();   // hover, then click</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firstProduct.clickAddToCart();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body.clickContinueShopping();</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int expectedTotal = Integer.parseInt(price) * Integer.parseInt(quantity);</a:t>
            </a:r>
            <a:endParaRPr lang="en-US" sz="1150" dirty="0"/>
          </a:p>
          <a:p>
            <a:pPr indent="0" marL="0">
              <a:buNone/>
            </a:pPr>
            <a:r>
              <a:rPr lang="en-US" sz="1150" dirty="0">
                <a:solidFill>
                  <a:srgbClr val="FFFFFF"/>
                </a:solidFill>
                <a:latin typeface="Courier New" pitchFamily="34" charset="0"/>
                <a:ea typeface="Courier New" pitchFamily="34" charset="-122"/>
                <a:cs typeface="Courier New" pitchFamily="34" charset="-120"/>
              </a:rPr>
              <a:t>Assert.assertEquals(Integer.parseInt(total), expectedTotal);</a:t>
            </a:r>
            <a:endParaRPr lang="en-US" sz="1150" dirty="0"/>
          </a:p>
        </p:txBody>
      </p:sp>
      <p:sp>
        <p:nvSpPr>
          <p:cNvPr id="11" name="Text 9"/>
          <p:cNvSpPr/>
          <p:nvPr/>
        </p:nvSpPr>
        <p:spPr>
          <a:xfrm>
            <a:off x="822960" y="4434840"/>
            <a:ext cx="10469880" cy="82296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A real two-product purchase flow on automationexercise.com. </a:t>
            </a:r>
            <a:pPr indent="0" marL="0">
              <a:buNone/>
            </a:pPr>
            <a:r>
              <a:rPr lang="en-US" sz="1200" dirty="0">
                <a:solidFill>
                  <a:srgbClr val="6E7377"/>
                </a:solidFill>
                <a:latin typeface="Calibri" pitchFamily="34" charset="0"/>
                <a:ea typeface="Calibri" pitchFamily="34" charset="-122"/>
                <a:cs typeface="Calibri" pitchFamily="34" charset="-120"/>
              </a:rPr>
              <a:t>Navigation and interaction use generated page objects only — no locator typed by hand. The assertion checks that price × quantity equals the displayed cart total. The cart-side assertions do use hand-written locators, because no cart page object was generated.</a:t>
            </a:r>
            <a:endParaRPr lang="en-US" sz="1200" dirty="0"/>
          </a:p>
        </p:txBody>
      </p:sp>
      <p:sp>
        <p:nvSpPr>
          <p:cNvPr id="12" name="Shape 10"/>
          <p:cNvSpPr/>
          <p:nvPr/>
        </p:nvSpPr>
        <p:spPr>
          <a:xfrm>
            <a:off x="822960" y="5394960"/>
            <a:ext cx="10469880" cy="731520"/>
          </a:xfrm>
          <a:prstGeom prst="roundRect">
            <a:avLst>
              <a:gd name="adj" fmla="val 7500"/>
            </a:avLst>
          </a:prstGeom>
          <a:solidFill>
            <a:srgbClr val="F2F5F7"/>
          </a:solidFill>
          <a:ln w="9525">
            <a:solidFill>
              <a:srgbClr val="F2F5F7"/>
            </a:solidFill>
            <a:prstDash val="solid"/>
          </a:ln>
        </p:spPr>
      </p:sp>
      <p:sp>
        <p:nvSpPr>
          <p:cNvPr id="13" name="Text 11"/>
          <p:cNvSpPr/>
          <p:nvPr/>
        </p:nvSpPr>
        <p:spPr>
          <a:xfrm>
            <a:off x="1143000" y="5394960"/>
            <a:ext cx="9875520" cy="731520"/>
          </a:xfrm>
          <a:prstGeom prst="rect">
            <a:avLst/>
          </a:prstGeom>
          <a:noFill/>
          <a:ln/>
        </p:spPr>
        <p:txBody>
          <a:bodyPr wrap="square" lIns="0" tIns="0" rIns="0" bIns="0" rtlCol="0" anchor="ctr"/>
          <a:lstStyle/>
          <a:p>
            <a:pPr indent="0" marL="0">
              <a:buNone/>
            </a:pPr>
            <a:r>
              <a:rPr lang="en-US" sz="1150" i="1" dirty="0">
                <a:solidFill>
                  <a:srgbClr val="6E7377"/>
                </a:solidFill>
                <a:latin typeface="Calibri" pitchFamily="34" charset="0"/>
                <a:ea typeface="Calibri" pitchFamily="34" charset="-122"/>
                <a:cs typeface="Calibri" pitchFamily="34" charset="-120"/>
              </a:rPr>
              <a:t>getRoot() is the escape hatch the generator provides for anything it could not anticipate — here, hovering a card to reveal a control that only appears on hover.</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IMPLEMENTATION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33</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Test execution and reporting</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737360"/>
            <a:ext cx="5120640" cy="4114800"/>
          </a:xfrm>
          <a:prstGeom prst="roundRect">
            <a:avLst>
              <a:gd name="adj" fmla="val 1333"/>
            </a:avLst>
          </a:prstGeom>
          <a:solidFill>
            <a:srgbClr val="F2F5F7"/>
          </a:solidFill>
          <a:ln w="9525">
            <a:solidFill>
              <a:srgbClr val="B9C0C4"/>
            </a:solidFill>
            <a:prstDash val="solid"/>
          </a:ln>
        </p:spPr>
      </p:sp>
      <p:sp>
        <p:nvSpPr>
          <p:cNvPr id="10" name="Text 8"/>
          <p:cNvSpPr/>
          <p:nvPr/>
        </p:nvSpPr>
        <p:spPr>
          <a:xfrm>
            <a:off x="1143000" y="1920240"/>
            <a:ext cx="4572000" cy="292608"/>
          </a:xfrm>
          <a:prstGeom prst="rect">
            <a:avLst/>
          </a:prstGeom>
          <a:noFill/>
          <a:ln/>
        </p:spPr>
        <p:txBody>
          <a:bodyPr wrap="square" lIns="0" tIns="0" rIns="0" bIns="0" rtlCol="0" anchor="ctr"/>
          <a:lstStyle/>
          <a:p>
            <a:pPr indent="0" marL="0">
              <a:buNone/>
            </a:pPr>
            <a:r>
              <a:rPr lang="en-US" sz="1300" b="1" dirty="0">
                <a:solidFill>
                  <a:srgbClr val="074D83"/>
                </a:solidFill>
                <a:latin typeface="Calibri" pitchFamily="34" charset="0"/>
                <a:ea typeface="Calibri" pitchFamily="34" charset="-122"/>
                <a:cs typeface="Calibri" pitchFamily="34" charset="-120"/>
              </a:rPr>
              <a:t>SauceDemo Automation Suite</a:t>
            </a:r>
            <a:endParaRPr lang="en-US" sz="1300" dirty="0"/>
          </a:p>
        </p:txBody>
      </p:sp>
      <p:sp>
        <p:nvSpPr>
          <p:cNvPr id="11" name="Text 9"/>
          <p:cNvSpPr/>
          <p:nvPr/>
        </p:nvSpPr>
        <p:spPr>
          <a:xfrm>
            <a:off x="1143000" y="2212848"/>
            <a:ext cx="4572000" cy="256032"/>
          </a:xfrm>
          <a:prstGeom prst="rect">
            <a:avLst/>
          </a:prstGeom>
          <a:noFill/>
          <a:ln/>
        </p:spPr>
        <p:txBody>
          <a:bodyPr wrap="square" lIns="0" tIns="0" rIns="0" bIns="0" rtlCol="0" anchor="ctr"/>
          <a:lstStyle/>
          <a:p>
            <a:pPr indent="0" marL="0">
              <a:buNone/>
            </a:pPr>
            <a:r>
              <a:rPr lang="en-US" sz="1100" dirty="0">
                <a:solidFill>
                  <a:srgbClr val="6E7377"/>
                </a:solidFill>
                <a:latin typeface="Calibri" pitchFamily="34" charset="0"/>
                <a:ea typeface="Calibri" pitchFamily="34" charset="-122"/>
                <a:cs typeface="Calibri" pitchFamily="34" charset="-120"/>
              </a:rPr>
              <a:t>ExtentReports · 15 July 2026, 16:45</a:t>
            </a:r>
            <a:endParaRPr lang="en-US" sz="1100" dirty="0"/>
          </a:p>
        </p:txBody>
      </p:sp>
      <p:sp>
        <p:nvSpPr>
          <p:cNvPr id="12" name="Text 10"/>
          <p:cNvSpPr/>
          <p:nvPr/>
        </p:nvSpPr>
        <p:spPr>
          <a:xfrm>
            <a:off x="1170432" y="2606040"/>
            <a:ext cx="228600" cy="246888"/>
          </a:xfrm>
          <a:prstGeom prst="rect">
            <a:avLst/>
          </a:prstGeom>
          <a:noFill/>
          <a:ln/>
        </p:spPr>
        <p:txBody>
          <a:bodyPr wrap="square" lIns="0" tIns="0" rIns="0" bIns="0" rtlCol="0" anchor="ctr"/>
          <a:lstStyle/>
          <a:p>
            <a:pPr indent="0" marL="0">
              <a:buNone/>
            </a:pPr>
            <a:r>
              <a:rPr lang="en-US" sz="1100" b="1" dirty="0">
                <a:solidFill>
                  <a:srgbClr val="037C87"/>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1444752" y="2606040"/>
            <a:ext cx="3108960" cy="246888"/>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loginTest</a:t>
            </a:r>
            <a:endParaRPr lang="en-US" sz="1050" dirty="0"/>
          </a:p>
        </p:txBody>
      </p:sp>
      <p:sp>
        <p:nvSpPr>
          <p:cNvPr id="14" name="Text 12"/>
          <p:cNvSpPr/>
          <p:nvPr/>
        </p:nvSpPr>
        <p:spPr>
          <a:xfrm>
            <a:off x="4572000" y="2606040"/>
            <a:ext cx="1097280" cy="246888"/>
          </a:xfrm>
          <a:prstGeom prst="rect">
            <a:avLst/>
          </a:prstGeom>
          <a:noFill/>
          <a:ln/>
        </p:spPr>
        <p:txBody>
          <a:bodyPr wrap="square" lIns="0" tIns="0" rIns="0" bIns="0" rtlCol="0" anchor="ctr"/>
          <a:lstStyle/>
          <a:p>
            <a:pPr algn="r" indent="0" marL="0">
              <a:buNone/>
            </a:pPr>
            <a:r>
              <a:rPr lang="en-US" sz="1050" dirty="0">
                <a:solidFill>
                  <a:srgbClr val="6E7377"/>
                </a:solidFill>
                <a:latin typeface="Calibri" pitchFamily="34" charset="0"/>
                <a:ea typeface="Calibri" pitchFamily="34" charset="-122"/>
                <a:cs typeface="Calibri" pitchFamily="34" charset="-120"/>
              </a:rPr>
              <a:t>0.82 s</a:t>
            </a:r>
            <a:endParaRPr lang="en-US" sz="1050" dirty="0"/>
          </a:p>
        </p:txBody>
      </p:sp>
      <p:sp>
        <p:nvSpPr>
          <p:cNvPr id="15" name="Text 13"/>
          <p:cNvSpPr/>
          <p:nvPr/>
        </p:nvSpPr>
        <p:spPr>
          <a:xfrm>
            <a:off x="1170432" y="2880360"/>
            <a:ext cx="228600" cy="246888"/>
          </a:xfrm>
          <a:prstGeom prst="rect">
            <a:avLst/>
          </a:prstGeom>
          <a:noFill/>
          <a:ln/>
        </p:spPr>
        <p:txBody>
          <a:bodyPr wrap="square" lIns="0" tIns="0" rIns="0" bIns="0" rtlCol="0" anchor="ctr"/>
          <a:lstStyle/>
          <a:p>
            <a:pPr indent="0" marL="0">
              <a:buNone/>
            </a:pPr>
            <a:r>
              <a:rPr lang="en-US" sz="1100" b="1" dirty="0">
                <a:solidFill>
                  <a:srgbClr val="037C8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1444752" y="2880360"/>
            <a:ext cx="3108960" cy="246888"/>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invalidLoginTest</a:t>
            </a:r>
            <a:endParaRPr lang="en-US" sz="1050" dirty="0"/>
          </a:p>
        </p:txBody>
      </p:sp>
      <p:sp>
        <p:nvSpPr>
          <p:cNvPr id="17" name="Text 15"/>
          <p:cNvSpPr/>
          <p:nvPr/>
        </p:nvSpPr>
        <p:spPr>
          <a:xfrm>
            <a:off x="4572000" y="2880360"/>
            <a:ext cx="1097280" cy="246888"/>
          </a:xfrm>
          <a:prstGeom prst="rect">
            <a:avLst/>
          </a:prstGeom>
          <a:noFill/>
          <a:ln/>
        </p:spPr>
        <p:txBody>
          <a:bodyPr wrap="square" lIns="0" tIns="0" rIns="0" bIns="0" rtlCol="0" anchor="ctr"/>
          <a:lstStyle/>
          <a:p>
            <a:pPr algn="r" indent="0" marL="0">
              <a:buNone/>
            </a:pPr>
            <a:r>
              <a:rPr lang="en-US" sz="1050" dirty="0">
                <a:solidFill>
                  <a:srgbClr val="6E7377"/>
                </a:solidFill>
                <a:latin typeface="Calibri" pitchFamily="34" charset="0"/>
                <a:ea typeface="Calibri" pitchFamily="34" charset="-122"/>
                <a:cs typeface="Calibri" pitchFamily="34" charset="-120"/>
              </a:rPr>
              <a:t>0.63 s</a:t>
            </a:r>
            <a:endParaRPr lang="en-US" sz="1050" dirty="0"/>
          </a:p>
        </p:txBody>
      </p:sp>
      <p:sp>
        <p:nvSpPr>
          <p:cNvPr id="18" name="Text 16"/>
          <p:cNvSpPr/>
          <p:nvPr/>
        </p:nvSpPr>
        <p:spPr>
          <a:xfrm>
            <a:off x="1170432" y="3154680"/>
            <a:ext cx="228600" cy="246888"/>
          </a:xfrm>
          <a:prstGeom prst="rect">
            <a:avLst/>
          </a:prstGeom>
          <a:noFill/>
          <a:ln/>
        </p:spPr>
        <p:txBody>
          <a:bodyPr wrap="square" lIns="0" tIns="0" rIns="0" bIns="0" rtlCol="0" anchor="ctr"/>
          <a:lstStyle/>
          <a:p>
            <a:pPr indent="0" marL="0">
              <a:buNone/>
            </a:pPr>
            <a:r>
              <a:rPr lang="en-US" sz="1100" b="1" dirty="0">
                <a:solidFill>
                  <a:srgbClr val="037C87"/>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1444752" y="3154680"/>
            <a:ext cx="3108960" cy="246888"/>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loginUsingValidCredentialsTest</a:t>
            </a:r>
            <a:endParaRPr lang="en-US" sz="1050" dirty="0"/>
          </a:p>
        </p:txBody>
      </p:sp>
      <p:sp>
        <p:nvSpPr>
          <p:cNvPr id="20" name="Text 18"/>
          <p:cNvSpPr/>
          <p:nvPr/>
        </p:nvSpPr>
        <p:spPr>
          <a:xfrm>
            <a:off x="4572000" y="3154680"/>
            <a:ext cx="1097280" cy="246888"/>
          </a:xfrm>
          <a:prstGeom prst="rect">
            <a:avLst/>
          </a:prstGeom>
          <a:noFill/>
          <a:ln/>
        </p:spPr>
        <p:txBody>
          <a:bodyPr wrap="square" lIns="0" tIns="0" rIns="0" bIns="0" rtlCol="0" anchor="ctr"/>
          <a:lstStyle/>
          <a:p>
            <a:pPr algn="r" indent="0" marL="0">
              <a:buNone/>
            </a:pPr>
            <a:r>
              <a:rPr lang="en-US" sz="1050" dirty="0">
                <a:solidFill>
                  <a:srgbClr val="6E7377"/>
                </a:solidFill>
                <a:latin typeface="Calibri" pitchFamily="34" charset="0"/>
                <a:ea typeface="Calibri" pitchFamily="34" charset="-122"/>
                <a:cs typeface="Calibri" pitchFamily="34" charset="-120"/>
              </a:rPr>
              <a:t>0.70 s</a:t>
            </a:r>
            <a:endParaRPr lang="en-US" sz="1050" dirty="0"/>
          </a:p>
        </p:txBody>
      </p:sp>
      <p:sp>
        <p:nvSpPr>
          <p:cNvPr id="21" name="Text 19"/>
          <p:cNvSpPr/>
          <p:nvPr/>
        </p:nvSpPr>
        <p:spPr>
          <a:xfrm>
            <a:off x="1170432" y="3429000"/>
            <a:ext cx="228600" cy="246888"/>
          </a:xfrm>
          <a:prstGeom prst="rect">
            <a:avLst/>
          </a:prstGeom>
          <a:noFill/>
          <a:ln/>
        </p:spPr>
        <p:txBody>
          <a:bodyPr wrap="square" lIns="0" tIns="0" rIns="0" bIns="0" rtlCol="0" anchor="ctr"/>
          <a:lstStyle/>
          <a:p>
            <a:pPr indent="0" marL="0">
              <a:buNone/>
            </a:pPr>
            <a:r>
              <a:rPr lang="en-US" sz="1100" b="1" dirty="0">
                <a:solidFill>
                  <a:srgbClr val="037C87"/>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1444752" y="3429000"/>
            <a:ext cx="3108960" cy="246888"/>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loginUsingInvalidCredentialsTest</a:t>
            </a:r>
            <a:endParaRPr lang="en-US" sz="1050" dirty="0"/>
          </a:p>
        </p:txBody>
      </p:sp>
      <p:sp>
        <p:nvSpPr>
          <p:cNvPr id="23" name="Text 21"/>
          <p:cNvSpPr/>
          <p:nvPr/>
        </p:nvSpPr>
        <p:spPr>
          <a:xfrm>
            <a:off x="4572000" y="3429000"/>
            <a:ext cx="1097280" cy="246888"/>
          </a:xfrm>
          <a:prstGeom prst="rect">
            <a:avLst/>
          </a:prstGeom>
          <a:noFill/>
          <a:ln/>
        </p:spPr>
        <p:txBody>
          <a:bodyPr wrap="square" lIns="0" tIns="0" rIns="0" bIns="0" rtlCol="0" anchor="ctr"/>
          <a:lstStyle/>
          <a:p>
            <a:pPr algn="r" indent="0" marL="0">
              <a:buNone/>
            </a:pPr>
            <a:r>
              <a:rPr lang="en-US" sz="1050" dirty="0">
                <a:solidFill>
                  <a:srgbClr val="6E7377"/>
                </a:solidFill>
                <a:latin typeface="Calibri" pitchFamily="34" charset="0"/>
                <a:ea typeface="Calibri" pitchFamily="34" charset="-122"/>
                <a:cs typeface="Calibri" pitchFamily="34" charset="-120"/>
              </a:rPr>
              <a:t>0.61 s</a:t>
            </a:r>
            <a:endParaRPr lang="en-US" sz="1050" dirty="0"/>
          </a:p>
        </p:txBody>
      </p:sp>
      <p:sp>
        <p:nvSpPr>
          <p:cNvPr id="24" name="Text 22"/>
          <p:cNvSpPr/>
          <p:nvPr/>
        </p:nvSpPr>
        <p:spPr>
          <a:xfrm>
            <a:off x="1170432" y="3703320"/>
            <a:ext cx="228600" cy="246888"/>
          </a:xfrm>
          <a:prstGeom prst="rect">
            <a:avLst/>
          </a:prstGeom>
          <a:noFill/>
          <a:ln/>
        </p:spPr>
        <p:txBody>
          <a:bodyPr wrap="square" lIns="0" tIns="0" rIns="0" bIns="0" rtlCol="0" anchor="ctr"/>
          <a:lstStyle/>
          <a:p>
            <a:pPr indent="0" marL="0">
              <a:buNone/>
            </a:pPr>
            <a:r>
              <a:rPr lang="en-US" sz="1100" b="1" dirty="0">
                <a:solidFill>
                  <a:srgbClr val="037C87"/>
                </a:solidFill>
                <a:latin typeface="Calibri" pitchFamily="34" charset="0"/>
                <a:ea typeface="Calibri" pitchFamily="34" charset="-122"/>
                <a:cs typeface="Calibri" pitchFamily="34" charset="-120"/>
              </a:rPr>
              <a:t>✓</a:t>
            </a:r>
            <a:endParaRPr lang="en-US" sz="1100" dirty="0"/>
          </a:p>
        </p:txBody>
      </p:sp>
      <p:sp>
        <p:nvSpPr>
          <p:cNvPr id="25" name="Text 23"/>
          <p:cNvSpPr/>
          <p:nvPr/>
        </p:nvSpPr>
        <p:spPr>
          <a:xfrm>
            <a:off x="1444752" y="3703320"/>
            <a:ext cx="3108960" cy="246888"/>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loginUsingLockedUserTest</a:t>
            </a:r>
            <a:endParaRPr lang="en-US" sz="1050" dirty="0"/>
          </a:p>
        </p:txBody>
      </p:sp>
      <p:sp>
        <p:nvSpPr>
          <p:cNvPr id="26" name="Text 24"/>
          <p:cNvSpPr/>
          <p:nvPr/>
        </p:nvSpPr>
        <p:spPr>
          <a:xfrm>
            <a:off x="4572000" y="3703320"/>
            <a:ext cx="1097280" cy="246888"/>
          </a:xfrm>
          <a:prstGeom prst="rect">
            <a:avLst/>
          </a:prstGeom>
          <a:noFill/>
          <a:ln/>
        </p:spPr>
        <p:txBody>
          <a:bodyPr wrap="square" lIns="0" tIns="0" rIns="0" bIns="0" rtlCol="0" anchor="ctr"/>
          <a:lstStyle/>
          <a:p>
            <a:pPr algn="r" indent="0" marL="0">
              <a:buNone/>
            </a:pPr>
            <a:r>
              <a:rPr lang="en-US" sz="1050" dirty="0">
                <a:solidFill>
                  <a:srgbClr val="6E7377"/>
                </a:solidFill>
                <a:latin typeface="Calibri" pitchFamily="34" charset="0"/>
                <a:ea typeface="Calibri" pitchFamily="34" charset="-122"/>
                <a:cs typeface="Calibri" pitchFamily="34" charset="-120"/>
              </a:rPr>
              <a:t>0.67 s</a:t>
            </a:r>
            <a:endParaRPr lang="en-US" sz="1050" dirty="0"/>
          </a:p>
        </p:txBody>
      </p:sp>
      <p:sp>
        <p:nvSpPr>
          <p:cNvPr id="27" name="Text 25"/>
          <p:cNvSpPr/>
          <p:nvPr/>
        </p:nvSpPr>
        <p:spPr>
          <a:xfrm>
            <a:off x="1170432" y="3977640"/>
            <a:ext cx="228600" cy="246888"/>
          </a:xfrm>
          <a:prstGeom prst="rect">
            <a:avLst/>
          </a:prstGeom>
          <a:noFill/>
          <a:ln/>
        </p:spPr>
        <p:txBody>
          <a:bodyPr wrap="square" lIns="0" tIns="0" rIns="0" bIns="0" rtlCol="0" anchor="ctr"/>
          <a:lstStyle/>
          <a:p>
            <a:pPr indent="0" marL="0">
              <a:buNone/>
            </a:pPr>
            <a:r>
              <a:rPr lang="en-US" sz="1100" b="1" dirty="0">
                <a:solidFill>
                  <a:srgbClr val="037C87"/>
                </a:solidFill>
                <a:latin typeface="Calibri" pitchFamily="34" charset="0"/>
                <a:ea typeface="Calibri" pitchFamily="34" charset="-122"/>
                <a:cs typeface="Calibri" pitchFamily="34" charset="-120"/>
              </a:rPr>
              <a:t>✓</a:t>
            </a:r>
            <a:endParaRPr lang="en-US" sz="1100" dirty="0"/>
          </a:p>
        </p:txBody>
      </p:sp>
      <p:sp>
        <p:nvSpPr>
          <p:cNvPr id="28" name="Text 26"/>
          <p:cNvSpPr/>
          <p:nvPr/>
        </p:nvSpPr>
        <p:spPr>
          <a:xfrm>
            <a:off x="1444752" y="3977640"/>
            <a:ext cx="3108960" cy="246888"/>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logoutCorrectlyTest</a:t>
            </a:r>
            <a:endParaRPr lang="en-US" sz="1050" dirty="0"/>
          </a:p>
        </p:txBody>
      </p:sp>
      <p:sp>
        <p:nvSpPr>
          <p:cNvPr id="29" name="Text 27"/>
          <p:cNvSpPr/>
          <p:nvPr/>
        </p:nvSpPr>
        <p:spPr>
          <a:xfrm>
            <a:off x="4572000" y="3977640"/>
            <a:ext cx="1097280" cy="246888"/>
          </a:xfrm>
          <a:prstGeom prst="rect">
            <a:avLst/>
          </a:prstGeom>
          <a:noFill/>
          <a:ln/>
        </p:spPr>
        <p:txBody>
          <a:bodyPr wrap="square" lIns="0" tIns="0" rIns="0" bIns="0" rtlCol="0" anchor="ctr"/>
          <a:lstStyle/>
          <a:p>
            <a:pPr algn="r" indent="0" marL="0">
              <a:buNone/>
            </a:pPr>
            <a:r>
              <a:rPr lang="en-US" sz="1050" dirty="0">
                <a:solidFill>
                  <a:srgbClr val="6E7377"/>
                </a:solidFill>
                <a:latin typeface="Calibri" pitchFamily="34" charset="0"/>
                <a:ea typeface="Calibri" pitchFamily="34" charset="-122"/>
                <a:cs typeface="Calibri" pitchFamily="34" charset="-120"/>
              </a:rPr>
              <a:t>11.19 s</a:t>
            </a:r>
            <a:endParaRPr lang="en-US" sz="1050" dirty="0"/>
          </a:p>
        </p:txBody>
      </p:sp>
      <p:sp>
        <p:nvSpPr>
          <p:cNvPr id="30" name="Text 28"/>
          <p:cNvSpPr/>
          <p:nvPr/>
        </p:nvSpPr>
        <p:spPr>
          <a:xfrm>
            <a:off x="1170432" y="4251960"/>
            <a:ext cx="228600" cy="246888"/>
          </a:xfrm>
          <a:prstGeom prst="rect">
            <a:avLst/>
          </a:prstGeom>
          <a:noFill/>
          <a:ln/>
        </p:spPr>
        <p:txBody>
          <a:bodyPr wrap="square" lIns="0" tIns="0" rIns="0" bIns="0" rtlCol="0" anchor="ctr"/>
          <a:lstStyle/>
          <a:p>
            <a:pPr indent="0" marL="0">
              <a:buNone/>
            </a:pPr>
            <a:r>
              <a:rPr lang="en-US" sz="1100" b="1" dirty="0">
                <a:solidFill>
                  <a:srgbClr val="037C87"/>
                </a:solidFill>
                <a:latin typeface="Calibri" pitchFamily="34" charset="0"/>
                <a:ea typeface="Calibri" pitchFamily="34" charset="-122"/>
                <a:cs typeface="Calibri" pitchFamily="34" charset="-120"/>
              </a:rPr>
              <a:t>✓</a:t>
            </a:r>
            <a:endParaRPr lang="en-US" sz="1100" dirty="0"/>
          </a:p>
        </p:txBody>
      </p:sp>
      <p:sp>
        <p:nvSpPr>
          <p:cNvPr id="31" name="Text 29"/>
          <p:cNvSpPr/>
          <p:nvPr/>
        </p:nvSpPr>
        <p:spPr>
          <a:xfrm>
            <a:off x="1444752" y="4251960"/>
            <a:ext cx="3108960" cy="246888"/>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addingItemsToCartTest</a:t>
            </a:r>
            <a:endParaRPr lang="en-US" sz="1050" dirty="0"/>
          </a:p>
        </p:txBody>
      </p:sp>
      <p:sp>
        <p:nvSpPr>
          <p:cNvPr id="32" name="Text 30"/>
          <p:cNvSpPr/>
          <p:nvPr/>
        </p:nvSpPr>
        <p:spPr>
          <a:xfrm>
            <a:off x="4572000" y="4251960"/>
            <a:ext cx="1097280" cy="246888"/>
          </a:xfrm>
          <a:prstGeom prst="rect">
            <a:avLst/>
          </a:prstGeom>
          <a:noFill/>
          <a:ln/>
        </p:spPr>
        <p:txBody>
          <a:bodyPr wrap="square" lIns="0" tIns="0" rIns="0" bIns="0" rtlCol="0" anchor="ctr"/>
          <a:lstStyle/>
          <a:p>
            <a:pPr algn="r" indent="0" marL="0">
              <a:buNone/>
            </a:pPr>
            <a:r>
              <a:rPr lang="en-US" sz="1050" dirty="0">
                <a:solidFill>
                  <a:srgbClr val="6E7377"/>
                </a:solidFill>
                <a:latin typeface="Calibri" pitchFamily="34" charset="0"/>
                <a:ea typeface="Calibri" pitchFamily="34" charset="-122"/>
                <a:cs typeface="Calibri" pitchFamily="34" charset="-120"/>
              </a:rPr>
              <a:t>0.86 s</a:t>
            </a:r>
            <a:endParaRPr lang="en-US" sz="1050" dirty="0"/>
          </a:p>
        </p:txBody>
      </p:sp>
      <p:sp>
        <p:nvSpPr>
          <p:cNvPr id="33" name="Text 31"/>
          <p:cNvSpPr/>
          <p:nvPr/>
        </p:nvSpPr>
        <p:spPr>
          <a:xfrm>
            <a:off x="1170432" y="4526280"/>
            <a:ext cx="228600" cy="246888"/>
          </a:xfrm>
          <a:prstGeom prst="rect">
            <a:avLst/>
          </a:prstGeom>
          <a:noFill/>
          <a:ln/>
        </p:spPr>
        <p:txBody>
          <a:bodyPr wrap="square" lIns="0" tIns="0" rIns="0" bIns="0" rtlCol="0" anchor="ctr"/>
          <a:lstStyle/>
          <a:p>
            <a:pPr indent="0" marL="0">
              <a:buNone/>
            </a:pPr>
            <a:r>
              <a:rPr lang="en-US" sz="1100" b="1" dirty="0">
                <a:solidFill>
                  <a:srgbClr val="037C87"/>
                </a:solidFill>
                <a:latin typeface="Calibri" pitchFamily="34" charset="0"/>
                <a:ea typeface="Calibri" pitchFamily="34" charset="-122"/>
                <a:cs typeface="Calibri" pitchFamily="34" charset="-120"/>
              </a:rPr>
              <a:t>✓</a:t>
            </a:r>
            <a:endParaRPr lang="en-US" sz="1100" dirty="0"/>
          </a:p>
        </p:txBody>
      </p:sp>
      <p:sp>
        <p:nvSpPr>
          <p:cNvPr id="34" name="Text 32"/>
          <p:cNvSpPr/>
          <p:nvPr/>
        </p:nvSpPr>
        <p:spPr>
          <a:xfrm>
            <a:off x="1444752" y="4526280"/>
            <a:ext cx="3108960" cy="246888"/>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fillingCustomerInfoTest</a:t>
            </a:r>
            <a:endParaRPr lang="en-US" sz="1050" dirty="0"/>
          </a:p>
        </p:txBody>
      </p:sp>
      <p:sp>
        <p:nvSpPr>
          <p:cNvPr id="35" name="Text 33"/>
          <p:cNvSpPr/>
          <p:nvPr/>
        </p:nvSpPr>
        <p:spPr>
          <a:xfrm>
            <a:off x="4572000" y="4526280"/>
            <a:ext cx="1097280" cy="246888"/>
          </a:xfrm>
          <a:prstGeom prst="rect">
            <a:avLst/>
          </a:prstGeom>
          <a:noFill/>
          <a:ln/>
        </p:spPr>
        <p:txBody>
          <a:bodyPr wrap="square" lIns="0" tIns="0" rIns="0" bIns="0" rtlCol="0" anchor="ctr"/>
          <a:lstStyle/>
          <a:p>
            <a:pPr algn="r" indent="0" marL="0">
              <a:buNone/>
            </a:pPr>
            <a:r>
              <a:rPr lang="en-US" sz="1050" dirty="0">
                <a:solidFill>
                  <a:srgbClr val="6E7377"/>
                </a:solidFill>
                <a:latin typeface="Calibri" pitchFamily="34" charset="0"/>
                <a:ea typeface="Calibri" pitchFamily="34" charset="-122"/>
                <a:cs typeface="Calibri" pitchFamily="34" charset="-120"/>
              </a:rPr>
              <a:t>1.08 s</a:t>
            </a:r>
            <a:endParaRPr lang="en-US" sz="1050" dirty="0"/>
          </a:p>
        </p:txBody>
      </p:sp>
      <p:sp>
        <p:nvSpPr>
          <p:cNvPr id="36" name="Text 34"/>
          <p:cNvSpPr/>
          <p:nvPr/>
        </p:nvSpPr>
        <p:spPr>
          <a:xfrm>
            <a:off x="1170432" y="4800600"/>
            <a:ext cx="228600" cy="246888"/>
          </a:xfrm>
          <a:prstGeom prst="rect">
            <a:avLst/>
          </a:prstGeom>
          <a:noFill/>
          <a:ln/>
        </p:spPr>
        <p:txBody>
          <a:bodyPr wrap="square" lIns="0" tIns="0" rIns="0" bIns="0" rtlCol="0" anchor="ctr"/>
          <a:lstStyle/>
          <a:p>
            <a:pPr indent="0" marL="0">
              <a:buNone/>
            </a:pPr>
            <a:r>
              <a:rPr lang="en-US" sz="1100" b="1" dirty="0">
                <a:solidFill>
                  <a:srgbClr val="037C87"/>
                </a:solidFill>
                <a:latin typeface="Calibri" pitchFamily="34" charset="0"/>
                <a:ea typeface="Calibri" pitchFamily="34" charset="-122"/>
                <a:cs typeface="Calibri" pitchFamily="34" charset="-120"/>
              </a:rPr>
              <a:t>✓</a:t>
            </a:r>
            <a:endParaRPr lang="en-US" sz="1100" dirty="0"/>
          </a:p>
        </p:txBody>
      </p:sp>
      <p:sp>
        <p:nvSpPr>
          <p:cNvPr id="37" name="Text 35"/>
          <p:cNvSpPr/>
          <p:nvPr/>
        </p:nvSpPr>
        <p:spPr>
          <a:xfrm>
            <a:off x="1444752" y="4800600"/>
            <a:ext cx="3108960" cy="246888"/>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getThankYouMessage</a:t>
            </a:r>
            <a:endParaRPr lang="en-US" sz="1050" dirty="0"/>
          </a:p>
        </p:txBody>
      </p:sp>
      <p:sp>
        <p:nvSpPr>
          <p:cNvPr id="38" name="Text 36"/>
          <p:cNvSpPr/>
          <p:nvPr/>
        </p:nvSpPr>
        <p:spPr>
          <a:xfrm>
            <a:off x="4572000" y="4800600"/>
            <a:ext cx="1097280" cy="246888"/>
          </a:xfrm>
          <a:prstGeom prst="rect">
            <a:avLst/>
          </a:prstGeom>
          <a:noFill/>
          <a:ln/>
        </p:spPr>
        <p:txBody>
          <a:bodyPr wrap="square" lIns="0" tIns="0" rIns="0" bIns="0" rtlCol="0" anchor="ctr"/>
          <a:lstStyle/>
          <a:p>
            <a:pPr algn="r" indent="0" marL="0">
              <a:buNone/>
            </a:pPr>
            <a:r>
              <a:rPr lang="en-US" sz="1050" dirty="0">
                <a:solidFill>
                  <a:srgbClr val="6E7377"/>
                </a:solidFill>
                <a:latin typeface="Calibri" pitchFamily="34" charset="0"/>
                <a:ea typeface="Calibri" pitchFamily="34" charset="-122"/>
                <a:cs typeface="Calibri" pitchFamily="34" charset="-120"/>
              </a:rPr>
              <a:t>1.06 s</a:t>
            </a:r>
            <a:endParaRPr lang="en-US" sz="1050" dirty="0"/>
          </a:p>
        </p:txBody>
      </p:sp>
      <p:sp>
        <p:nvSpPr>
          <p:cNvPr id="39" name="Text 37"/>
          <p:cNvSpPr/>
          <p:nvPr/>
        </p:nvSpPr>
        <p:spPr>
          <a:xfrm>
            <a:off x="1170432" y="5074920"/>
            <a:ext cx="228600" cy="246888"/>
          </a:xfrm>
          <a:prstGeom prst="rect">
            <a:avLst/>
          </a:prstGeom>
          <a:noFill/>
          <a:ln/>
        </p:spPr>
        <p:txBody>
          <a:bodyPr wrap="square" lIns="0" tIns="0" rIns="0" bIns="0" rtlCol="0" anchor="ctr"/>
          <a:lstStyle/>
          <a:p>
            <a:pPr indent="0" marL="0">
              <a:buNone/>
            </a:pPr>
            <a:r>
              <a:rPr lang="en-US" sz="1100" b="1" dirty="0">
                <a:solidFill>
                  <a:srgbClr val="037C87"/>
                </a:solidFill>
                <a:latin typeface="Calibri" pitchFamily="34" charset="0"/>
                <a:ea typeface="Calibri" pitchFamily="34" charset="-122"/>
                <a:cs typeface="Calibri" pitchFamily="34" charset="-120"/>
              </a:rPr>
              <a:t>✓</a:t>
            </a:r>
            <a:endParaRPr lang="en-US" sz="1100" dirty="0"/>
          </a:p>
        </p:txBody>
      </p:sp>
      <p:sp>
        <p:nvSpPr>
          <p:cNvPr id="40" name="Text 38"/>
          <p:cNvSpPr/>
          <p:nvPr/>
        </p:nvSpPr>
        <p:spPr>
          <a:xfrm>
            <a:off x="1444752" y="5074920"/>
            <a:ext cx="3108960" cy="246888"/>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PingTest</a:t>
            </a:r>
            <a:endParaRPr lang="en-US" sz="1050" dirty="0"/>
          </a:p>
        </p:txBody>
      </p:sp>
      <p:sp>
        <p:nvSpPr>
          <p:cNvPr id="41" name="Text 39"/>
          <p:cNvSpPr/>
          <p:nvPr/>
        </p:nvSpPr>
        <p:spPr>
          <a:xfrm>
            <a:off x="4572000" y="5074920"/>
            <a:ext cx="1097280" cy="246888"/>
          </a:xfrm>
          <a:prstGeom prst="rect">
            <a:avLst/>
          </a:prstGeom>
          <a:noFill/>
          <a:ln/>
        </p:spPr>
        <p:txBody>
          <a:bodyPr wrap="square" lIns="0" tIns="0" rIns="0" bIns="0" rtlCol="0" anchor="ctr"/>
          <a:lstStyle/>
          <a:p>
            <a:pPr algn="r" indent="0" marL="0">
              <a:buNone/>
            </a:pPr>
            <a:r>
              <a:rPr lang="en-US" sz="1050" dirty="0">
                <a:solidFill>
                  <a:srgbClr val="6E7377"/>
                </a:solidFill>
                <a:latin typeface="Calibri" pitchFamily="34" charset="0"/>
                <a:ea typeface="Calibri" pitchFamily="34" charset="-122"/>
                <a:cs typeface="Calibri" pitchFamily="34" charset="-120"/>
              </a:rPr>
              <a:t>1.52 s</a:t>
            </a:r>
            <a:endParaRPr lang="en-US" sz="1050" dirty="0"/>
          </a:p>
        </p:txBody>
      </p:sp>
      <p:sp>
        <p:nvSpPr>
          <p:cNvPr id="42" name="Text 40"/>
          <p:cNvSpPr/>
          <p:nvPr/>
        </p:nvSpPr>
        <p:spPr>
          <a:xfrm>
            <a:off x="1170432" y="5349240"/>
            <a:ext cx="228600" cy="246888"/>
          </a:xfrm>
          <a:prstGeom prst="rect">
            <a:avLst/>
          </a:prstGeom>
          <a:noFill/>
          <a:ln/>
        </p:spPr>
        <p:txBody>
          <a:bodyPr wrap="square" lIns="0" tIns="0" rIns="0" bIns="0" rtlCol="0" anchor="ctr"/>
          <a:lstStyle/>
          <a:p>
            <a:pPr indent="0" marL="0">
              <a:buNone/>
            </a:pPr>
            <a:r>
              <a:rPr lang="en-US" sz="1100" b="1" dirty="0">
                <a:solidFill>
                  <a:srgbClr val="037C87"/>
                </a:solidFill>
                <a:latin typeface="Calibri" pitchFamily="34" charset="0"/>
                <a:ea typeface="Calibri" pitchFamily="34" charset="-122"/>
                <a:cs typeface="Calibri" pitchFamily="34" charset="-120"/>
              </a:rPr>
              <a:t>✓</a:t>
            </a:r>
            <a:endParaRPr lang="en-US" sz="1100" dirty="0"/>
          </a:p>
        </p:txBody>
      </p:sp>
      <p:sp>
        <p:nvSpPr>
          <p:cNvPr id="43" name="Text 41"/>
          <p:cNvSpPr/>
          <p:nvPr/>
        </p:nvSpPr>
        <p:spPr>
          <a:xfrm>
            <a:off x="1444752" y="5349240"/>
            <a:ext cx="3108960" cy="246888"/>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checkout</a:t>
            </a:r>
            <a:endParaRPr lang="en-US" sz="1050" dirty="0"/>
          </a:p>
        </p:txBody>
      </p:sp>
      <p:sp>
        <p:nvSpPr>
          <p:cNvPr id="44" name="Text 42"/>
          <p:cNvSpPr/>
          <p:nvPr/>
        </p:nvSpPr>
        <p:spPr>
          <a:xfrm>
            <a:off x="4572000" y="5349240"/>
            <a:ext cx="1097280" cy="246888"/>
          </a:xfrm>
          <a:prstGeom prst="rect">
            <a:avLst/>
          </a:prstGeom>
          <a:noFill/>
          <a:ln/>
        </p:spPr>
        <p:txBody>
          <a:bodyPr wrap="square" lIns="0" tIns="0" rIns="0" bIns="0" rtlCol="0" anchor="ctr"/>
          <a:lstStyle/>
          <a:p>
            <a:pPr algn="r" indent="0" marL="0">
              <a:buNone/>
            </a:pPr>
            <a:r>
              <a:rPr lang="en-US" sz="1050" dirty="0">
                <a:solidFill>
                  <a:srgbClr val="6E7377"/>
                </a:solidFill>
                <a:latin typeface="Calibri" pitchFamily="34" charset="0"/>
                <a:ea typeface="Calibri" pitchFamily="34" charset="-122"/>
                <a:cs typeface="Calibri" pitchFamily="34" charset="-120"/>
              </a:rPr>
              <a:t>1.92 s</a:t>
            </a:r>
            <a:endParaRPr lang="en-US" sz="1050" dirty="0"/>
          </a:p>
        </p:txBody>
      </p:sp>
      <p:sp>
        <p:nvSpPr>
          <p:cNvPr id="45" name="Text 43"/>
          <p:cNvSpPr/>
          <p:nvPr/>
        </p:nvSpPr>
        <p:spPr>
          <a:xfrm>
            <a:off x="1143000" y="5532120"/>
            <a:ext cx="4572000" cy="274320"/>
          </a:xfrm>
          <a:prstGeom prst="rect">
            <a:avLst/>
          </a:prstGeom>
          <a:noFill/>
          <a:ln/>
        </p:spPr>
        <p:txBody>
          <a:bodyPr wrap="square" lIns="0" tIns="0" rIns="0" bIns="0" rtlCol="0" anchor="ctr"/>
          <a:lstStyle/>
          <a:p>
            <a:pPr indent="0" marL="0">
              <a:buNone/>
            </a:pPr>
            <a:r>
              <a:rPr lang="en-US" sz="1200" b="1" dirty="0">
                <a:solidFill>
                  <a:srgbClr val="037C87"/>
                </a:solidFill>
                <a:latin typeface="Calibri" pitchFamily="34" charset="0"/>
                <a:ea typeface="Calibri" pitchFamily="34" charset="-122"/>
                <a:cs typeface="Calibri" pitchFamily="34" charset="-120"/>
              </a:rPr>
              <a:t>11 tests · 11 passed · 0 failed</a:t>
            </a:r>
            <a:endParaRPr lang="en-US" sz="1200" dirty="0"/>
          </a:p>
        </p:txBody>
      </p:sp>
      <p:sp>
        <p:nvSpPr>
          <p:cNvPr id="46" name="Shape 44"/>
          <p:cNvSpPr/>
          <p:nvPr/>
        </p:nvSpPr>
        <p:spPr>
          <a:xfrm>
            <a:off x="6263640" y="1737360"/>
            <a:ext cx="5029200" cy="4114800"/>
          </a:xfrm>
          <a:prstGeom prst="roundRect">
            <a:avLst>
              <a:gd name="adj" fmla="val 1333"/>
            </a:avLst>
          </a:prstGeom>
          <a:solidFill>
            <a:srgbClr val="F2F5F7"/>
          </a:solidFill>
          <a:ln w="9525">
            <a:solidFill>
              <a:srgbClr val="B9C0C4"/>
            </a:solidFill>
            <a:prstDash val="solid"/>
          </a:ln>
        </p:spPr>
      </p:sp>
      <p:sp>
        <p:nvSpPr>
          <p:cNvPr id="47" name="Text 45"/>
          <p:cNvSpPr/>
          <p:nvPr/>
        </p:nvSpPr>
        <p:spPr>
          <a:xfrm>
            <a:off x="6583680" y="1920240"/>
            <a:ext cx="4389120" cy="274320"/>
          </a:xfrm>
          <a:prstGeom prst="rect">
            <a:avLst/>
          </a:prstGeom>
          <a:noFill/>
          <a:ln/>
        </p:spPr>
        <p:txBody>
          <a:bodyPr wrap="square" lIns="0" tIns="0" rIns="0" bIns="0" rtlCol="0" anchor="ctr"/>
          <a:lstStyle/>
          <a:p>
            <a:pPr indent="0" marL="0">
              <a:buNone/>
            </a:pPr>
            <a:r>
              <a:rPr lang="en-US" sz="1300" b="1" dirty="0">
                <a:solidFill>
                  <a:srgbClr val="074D83"/>
                </a:solidFill>
                <a:latin typeface="Calibri" pitchFamily="34" charset="0"/>
                <a:ea typeface="Calibri" pitchFamily="34" charset="-122"/>
                <a:cs typeface="Calibri" pitchFamily="34" charset="-120"/>
              </a:rPr>
              <a:t>Screenshot captured on failure</a:t>
            </a:r>
            <a:endParaRPr lang="en-US" sz="1300" dirty="0"/>
          </a:p>
        </p:txBody>
      </p:sp>
      <p:pic>
        <p:nvPicPr>
          <p:cNvPr id="48" name="Image 0" descr="img/failure-screenshot.png">    </p:cNvPr>
          <p:cNvPicPr>
            <a:picLocks noChangeAspect="1"/>
          </p:cNvPicPr>
          <p:nvPr/>
        </p:nvPicPr>
        <p:blipFill>
          <a:blip r:embed="rId1"/>
          <a:stretch>
            <a:fillRect/>
          </a:stretch>
        </p:blipFill>
        <p:spPr>
          <a:xfrm>
            <a:off x="6583680" y="2286000"/>
            <a:ext cx="4389120" cy="2139696"/>
          </a:xfrm>
          <a:prstGeom prst="rect">
            <a:avLst/>
          </a:prstGeom>
        </p:spPr>
      </p:pic>
      <p:sp>
        <p:nvSpPr>
          <p:cNvPr id="49" name="Text 46"/>
          <p:cNvSpPr/>
          <p:nvPr/>
        </p:nvSpPr>
        <p:spPr>
          <a:xfrm>
            <a:off x="6583680" y="4572000"/>
            <a:ext cx="4389120" cy="1143000"/>
          </a:xfrm>
          <a:prstGeom prst="rect">
            <a:avLst/>
          </a:prstGeom>
          <a:noFill/>
          <a:ln/>
        </p:spPr>
        <p:txBody>
          <a:bodyPr wrap="square" lIns="0" tIns="0" rIns="0" bIns="0" rtlCol="0" anchor="ctr"/>
          <a:lstStyle/>
          <a:p>
            <a:pPr indent="0" marL="0">
              <a:buNone/>
            </a:pPr>
            <a:r>
              <a:rPr lang="en-US" sz="1100" dirty="0">
                <a:solidFill>
                  <a:srgbClr val="6E7377"/>
                </a:solidFill>
                <a:latin typeface="Calibri" pitchFamily="34" charset="0"/>
                <a:ea typeface="Calibri" pitchFamily="34" charset="-122"/>
                <a:cs typeface="Calibri" pitchFamily="34" charset="-120"/>
              </a:rPr>
              <a:t>The listener captures the browser state at the moment of failure and attaches it to the report. It obtains the driver by reflection over the test’s base class — the framework’s weakest point, acknowledged in the report rather than concealed, and recorded as future work.</a:t>
            </a:r>
            <a:endParaRPr lang="en-US" sz="1100" dirty="0"/>
          </a:p>
        </p:txBody>
      </p:sp>
      <p:sp>
        <p:nvSpPr>
          <p:cNvPr id="50" name="Text 47"/>
          <p:cNvSpPr/>
          <p:nvPr/>
        </p:nvSpPr>
        <p:spPr>
          <a:xfrm>
            <a:off x="822960" y="5989320"/>
            <a:ext cx="10469880" cy="320040"/>
          </a:xfrm>
          <a:prstGeom prst="rect">
            <a:avLst/>
          </a:prstGeom>
          <a:noFill/>
          <a:ln/>
        </p:spPr>
        <p:txBody>
          <a:bodyPr wrap="square" lIns="0" tIns="0" rIns="0" bIns="0" rtlCol="0" anchor="ctr"/>
          <a:lstStyle/>
          <a:p>
            <a:pPr algn="ctr" indent="0" marL="0">
              <a:buNone/>
            </a:pPr>
            <a:r>
              <a:rPr lang="en-US" sz="1000" i="1" dirty="0">
                <a:solidFill>
                  <a:srgbClr val="B85042"/>
                </a:solidFill>
                <a:latin typeface="Calibri" pitchFamily="34" charset="0"/>
                <a:ea typeface="Calibri" pitchFamily="34" charset="-122"/>
                <a:cs typeface="Calibri" pitchFamily="34" charset="-120"/>
              </a:rPr>
              <a:t>⟦ Replace the left panel with your own screenshot of reports/ExtentReport.html — it renders fully styled when you open it locally. ⟧</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IMPLEMENTATION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34</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Testing the generator itself</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Text 7"/>
          <p:cNvSpPr/>
          <p:nvPr/>
        </p:nvSpPr>
        <p:spPr>
          <a:xfrm>
            <a:off x="822960" y="1828800"/>
            <a:ext cx="2377440" cy="731520"/>
          </a:xfrm>
          <a:prstGeom prst="rect">
            <a:avLst/>
          </a:prstGeom>
          <a:noFill/>
          <a:ln/>
        </p:spPr>
        <p:txBody>
          <a:bodyPr wrap="square" lIns="0" tIns="0" rIns="0" bIns="0" rtlCol="0" anchor="ctr"/>
          <a:lstStyle/>
          <a:p>
            <a:pPr indent="0" marL="0">
              <a:buNone/>
            </a:pPr>
            <a:r>
              <a:rPr lang="en-US" sz="3800" b="1" dirty="0">
                <a:solidFill>
                  <a:srgbClr val="037C87"/>
                </a:solidFill>
                <a:latin typeface="Cambria" pitchFamily="34" charset="0"/>
                <a:ea typeface="Cambria" pitchFamily="34" charset="-122"/>
                <a:cs typeface="Cambria" pitchFamily="34" charset="-120"/>
              </a:rPr>
              <a:t>37</a:t>
            </a:r>
            <a:endParaRPr lang="en-US" sz="3800" dirty="0"/>
          </a:p>
        </p:txBody>
      </p:sp>
      <p:sp>
        <p:nvSpPr>
          <p:cNvPr id="10" name="Text 8"/>
          <p:cNvSpPr/>
          <p:nvPr/>
        </p:nvSpPr>
        <p:spPr>
          <a:xfrm>
            <a:off x="822960" y="2542032"/>
            <a:ext cx="2377440" cy="50292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unit tests</a:t>
            </a:r>
            <a:endParaRPr lang="en-US" sz="1150" dirty="0"/>
          </a:p>
        </p:txBody>
      </p:sp>
      <p:sp>
        <p:nvSpPr>
          <p:cNvPr id="11" name="Text 9"/>
          <p:cNvSpPr/>
          <p:nvPr/>
        </p:nvSpPr>
        <p:spPr>
          <a:xfrm>
            <a:off x="3291840" y="1828800"/>
            <a:ext cx="2926080" cy="731520"/>
          </a:xfrm>
          <a:prstGeom prst="rect">
            <a:avLst/>
          </a:prstGeom>
          <a:noFill/>
          <a:ln/>
        </p:spPr>
        <p:txBody>
          <a:bodyPr wrap="square" lIns="0" tIns="0" rIns="0" bIns="0" rtlCol="0" anchor="ctr"/>
          <a:lstStyle/>
          <a:p>
            <a:pPr indent="0" marL="0">
              <a:buNone/>
            </a:pPr>
            <a:r>
              <a:rPr lang="en-US" sz="3800" b="1" dirty="0">
                <a:solidFill>
                  <a:srgbClr val="037C87"/>
                </a:solidFill>
                <a:latin typeface="Cambria" pitchFamily="34" charset="0"/>
                <a:ea typeface="Cambria" pitchFamily="34" charset="-122"/>
                <a:cs typeface="Cambria" pitchFamily="34" charset="-120"/>
              </a:rPr>
              <a:t>0</a:t>
            </a:r>
            <a:endParaRPr lang="en-US" sz="3800" dirty="0"/>
          </a:p>
        </p:txBody>
      </p:sp>
      <p:sp>
        <p:nvSpPr>
          <p:cNvPr id="12" name="Text 10"/>
          <p:cNvSpPr/>
          <p:nvPr/>
        </p:nvSpPr>
        <p:spPr>
          <a:xfrm>
            <a:off x="3291840" y="2542032"/>
            <a:ext cx="2926080" cy="50292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browsers, networks or live sites required</a:t>
            </a:r>
            <a:endParaRPr lang="en-US" sz="1150" dirty="0"/>
          </a:p>
        </p:txBody>
      </p:sp>
      <p:sp>
        <p:nvSpPr>
          <p:cNvPr id="13" name="Text 11"/>
          <p:cNvSpPr/>
          <p:nvPr/>
        </p:nvSpPr>
        <p:spPr>
          <a:xfrm>
            <a:off x="6675120" y="1828800"/>
            <a:ext cx="4572000" cy="731520"/>
          </a:xfrm>
          <a:prstGeom prst="rect">
            <a:avLst/>
          </a:prstGeom>
          <a:noFill/>
          <a:ln/>
        </p:spPr>
        <p:txBody>
          <a:bodyPr wrap="square" lIns="0" tIns="0" rIns="0" bIns="0" rtlCol="0" anchor="ctr"/>
          <a:lstStyle/>
          <a:p>
            <a:pPr indent="0" marL="0">
              <a:buNone/>
            </a:pPr>
            <a:r>
              <a:rPr lang="en-US" sz="3800" b="1" dirty="0">
                <a:solidFill>
                  <a:srgbClr val="037C87"/>
                </a:solidFill>
                <a:latin typeface="Cambria" pitchFamily="34" charset="0"/>
                <a:ea typeface="Cambria" pitchFamily="34" charset="-122"/>
                <a:cs typeface="Cambria" pitchFamily="34" charset="-120"/>
              </a:rPr>
              <a:t>3</a:t>
            </a:r>
            <a:endParaRPr lang="en-US" sz="3800" dirty="0"/>
          </a:p>
        </p:txBody>
      </p:sp>
      <p:sp>
        <p:nvSpPr>
          <p:cNvPr id="14" name="Text 12"/>
          <p:cNvSpPr/>
          <p:nvPr/>
        </p:nvSpPr>
        <p:spPr>
          <a:xfrm>
            <a:off x="6675120" y="2542032"/>
            <a:ext cx="4572000" cy="50292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stages covered: extraction, locator selection, code emission</a:t>
            </a:r>
            <a:endParaRPr lang="en-US" sz="1150" dirty="0"/>
          </a:p>
        </p:txBody>
      </p:sp>
      <p:sp>
        <p:nvSpPr>
          <p:cNvPr id="15" name="Text 13"/>
          <p:cNvSpPr/>
          <p:nvPr/>
        </p:nvSpPr>
        <p:spPr>
          <a:xfrm>
            <a:off x="822960" y="3246120"/>
            <a:ext cx="10469880" cy="365760"/>
          </a:xfrm>
          <a:prstGeom prst="rect">
            <a:avLst/>
          </a:prstGeom>
          <a:noFill/>
          <a:ln/>
        </p:spPr>
        <p:txBody>
          <a:bodyPr wrap="square" lIns="0" tIns="0" rIns="0" bIns="0" rtlCol="0" anchor="ctr"/>
          <a:lstStyle/>
          <a:p>
            <a:pPr indent="0" marL="0">
              <a:buNone/>
            </a:pPr>
            <a:r>
              <a:rPr lang="en-US" sz="1400" i="1" dirty="0">
                <a:solidFill>
                  <a:srgbClr val="1A1A1A"/>
                </a:solidFill>
                <a:latin typeface="Cambria" pitchFamily="34" charset="0"/>
                <a:ea typeface="Cambria" pitchFamily="34" charset="-122"/>
                <a:cs typeface="Cambria" pitchFamily="34" charset="-120"/>
              </a:rPr>
              <a:t>A project about testing whose own generator is untested is in an awkward position. For most of this project, this one was.</a:t>
            </a:r>
            <a:endParaRPr lang="en-US" sz="1400" dirty="0"/>
          </a:p>
        </p:txBody>
      </p:sp>
      <p:sp>
        <p:nvSpPr>
          <p:cNvPr id="16" name="Text 14"/>
          <p:cNvSpPr/>
          <p:nvPr/>
        </p:nvSpPr>
        <p:spPr>
          <a:xfrm>
            <a:off x="822960" y="3794760"/>
            <a:ext cx="10469880" cy="292608"/>
          </a:xfrm>
          <a:prstGeom prst="rect">
            <a:avLst/>
          </a:prstGeom>
          <a:noFill/>
          <a:ln/>
        </p:spPr>
        <p:txBody>
          <a:bodyPr wrap="square" lIns="0" tIns="0" rIns="0" bIns="0" rtlCol="0" anchor="ctr"/>
          <a:lstStyle/>
          <a:p>
            <a:pPr indent="0" marL="0">
              <a:buNone/>
            </a:pPr>
            <a:r>
              <a:rPr lang="en-US" sz="1300" b="1" dirty="0">
                <a:solidFill>
                  <a:srgbClr val="074D83"/>
                </a:solidFill>
                <a:latin typeface="Calibri" pitchFamily="34" charset="0"/>
                <a:ea typeface="Calibri" pitchFamily="34" charset="-122"/>
                <a:cs typeface="Calibri" pitchFamily="34" charset="-120"/>
              </a:rPr>
              <a:t>Written against behaviour that has actually been wrong</a:t>
            </a:r>
            <a:endParaRPr lang="en-US" sz="1300" dirty="0"/>
          </a:p>
        </p:txBody>
      </p:sp>
      <p:sp>
        <p:nvSpPr>
          <p:cNvPr id="17" name="Text 15"/>
          <p:cNvSpPr/>
          <p:nvPr/>
        </p:nvSpPr>
        <p:spPr>
          <a:xfrm>
            <a:off x="822960" y="4160520"/>
            <a:ext cx="10469880" cy="173736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that a data-qa element yields a data-qa selector;</a:t>
            </a:r>
            <a:endParaRPr lang="en-US" sz="1200" dirty="0"/>
          </a:p>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that a card which is itself the interactive element is addressed directly;</a:t>
            </a:r>
            <a:endParaRPr lang="en-US" sz="1200" dirty="0"/>
          </a:p>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that an apostrophe in page text does not produce a broken XPath literal;</a:t>
            </a:r>
            <a:endParaRPr lang="en-US" sz="1200" dirty="0"/>
          </a:p>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that text differing between instances of a component names neither the method nor the locator.</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EXPERIMENTAL EVALUATION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35</a:t>
            </a:r>
            <a:endParaRPr lang="en-US" sz="900" dirty="0"/>
          </a:p>
        </p:txBody>
      </p:sp>
      <p:sp>
        <p:nvSpPr>
          <p:cNvPr id="7" name="Shape 5"/>
          <p:cNvSpPr/>
          <p:nvPr/>
        </p:nvSpPr>
        <p:spPr>
          <a:xfrm>
            <a:off x="5733288" y="2286000"/>
            <a:ext cx="731520" cy="731520"/>
          </a:xfrm>
          <a:prstGeom prst="ellipse">
            <a:avLst/>
          </a:prstGeom>
          <a:solidFill>
            <a:srgbClr val="FFFFFF"/>
          </a:solidFill>
          <a:ln w="15875">
            <a:solidFill>
              <a:srgbClr val="074D83"/>
            </a:solidFill>
            <a:prstDash val="solid"/>
          </a:ln>
        </p:spPr>
      </p:sp>
      <p:sp>
        <p:nvSpPr>
          <p:cNvPr id="8" name="Text 6"/>
          <p:cNvSpPr/>
          <p:nvPr/>
        </p:nvSpPr>
        <p:spPr>
          <a:xfrm>
            <a:off x="5733288" y="2286000"/>
            <a:ext cx="731520" cy="731520"/>
          </a:xfrm>
          <a:prstGeom prst="rect">
            <a:avLst/>
          </a:prstGeom>
          <a:noFill/>
          <a:ln/>
        </p:spPr>
        <p:txBody>
          <a:bodyPr wrap="square" lIns="0" tIns="0" rIns="0" bIns="0" rtlCol="0" anchor="ctr"/>
          <a:lstStyle/>
          <a:p>
            <a:pPr algn="ctr" indent="0" marL="0">
              <a:buNone/>
            </a:pPr>
            <a:r>
              <a:rPr lang="en-US" sz="2000" dirty="0">
                <a:solidFill>
                  <a:srgbClr val="074D83"/>
                </a:solidFill>
                <a:latin typeface="Calibri" pitchFamily="34" charset="0"/>
                <a:ea typeface="Calibri" pitchFamily="34" charset="-122"/>
                <a:cs typeface="Calibri" pitchFamily="34" charset="-120"/>
              </a:rPr>
              <a:t>6</a:t>
            </a:r>
            <a:endParaRPr lang="en-US" sz="2000" dirty="0"/>
          </a:p>
        </p:txBody>
      </p:sp>
      <p:sp>
        <p:nvSpPr>
          <p:cNvPr id="9" name="Shape 7"/>
          <p:cNvSpPr/>
          <p:nvPr/>
        </p:nvSpPr>
        <p:spPr>
          <a:xfrm>
            <a:off x="3108960" y="3310128"/>
            <a:ext cx="5943600" cy="0"/>
          </a:xfrm>
          <a:prstGeom prst="line">
            <a:avLst/>
          </a:prstGeom>
          <a:noFill/>
          <a:ln w="12700">
            <a:solidFill>
              <a:srgbClr val="B9C0C4"/>
            </a:solidFill>
            <a:prstDash val="solid"/>
          </a:ln>
        </p:spPr>
      </p:sp>
      <p:sp>
        <p:nvSpPr>
          <p:cNvPr id="10" name="Text 8"/>
          <p:cNvSpPr/>
          <p:nvPr/>
        </p:nvSpPr>
        <p:spPr>
          <a:xfrm>
            <a:off x="1280160" y="3429000"/>
            <a:ext cx="9601200" cy="68580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EXPERIMENTAL EVALUATION</a:t>
            </a:r>
            <a:endParaRPr lang="en-US" sz="2600" dirty="0"/>
          </a:p>
        </p:txBody>
      </p:sp>
      <p:sp>
        <p:nvSpPr>
          <p:cNvPr id="11" name="Shape 9"/>
          <p:cNvSpPr/>
          <p:nvPr/>
        </p:nvSpPr>
        <p:spPr>
          <a:xfrm>
            <a:off x="3108960" y="4206240"/>
            <a:ext cx="5943600" cy="0"/>
          </a:xfrm>
          <a:prstGeom prst="line">
            <a:avLst/>
          </a:prstGeom>
          <a:noFill/>
          <a:ln w="12700">
            <a:solidFill>
              <a:srgbClr val="B9C0C4"/>
            </a:solidFill>
            <a:prstDash val="solid"/>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EXPERIMENTAL EVALUATION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36</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Experimental setup</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783080"/>
            <a:ext cx="6035040" cy="566928"/>
          </a:xfrm>
          <a:prstGeom prst="roundRect">
            <a:avLst>
              <a:gd name="adj" fmla="val 9677"/>
            </a:avLst>
          </a:prstGeom>
          <a:solidFill>
            <a:srgbClr val="F2F5F7"/>
          </a:solidFill>
          <a:ln w="9525">
            <a:solidFill>
              <a:srgbClr val="B9C0C4"/>
            </a:solidFill>
            <a:prstDash val="solid"/>
          </a:ln>
        </p:spPr>
      </p:sp>
      <p:sp>
        <p:nvSpPr>
          <p:cNvPr id="10" name="Text 8"/>
          <p:cNvSpPr/>
          <p:nvPr/>
        </p:nvSpPr>
        <p:spPr>
          <a:xfrm>
            <a:off x="1143000" y="1783080"/>
            <a:ext cx="2651760" cy="566928"/>
          </a:xfrm>
          <a:prstGeom prst="rect">
            <a:avLst/>
          </a:prstGeom>
          <a:noFill/>
          <a:ln/>
        </p:spPr>
        <p:txBody>
          <a:bodyPr wrap="square" lIns="0" tIns="0" rIns="0" bIns="0" rtlCol="0" anchor="ctr"/>
          <a:lstStyle/>
          <a:p>
            <a:pPr indent="0" marL="0">
              <a:buNone/>
            </a:pPr>
            <a:r>
              <a:rPr lang="en-US" sz="1200" b="1" dirty="0">
                <a:solidFill>
                  <a:srgbClr val="074D83"/>
                </a:solidFill>
                <a:latin typeface="Calibri" pitchFamily="34" charset="0"/>
                <a:ea typeface="Calibri" pitchFamily="34" charset="-122"/>
                <a:cs typeface="Calibri" pitchFamily="34" charset="-120"/>
              </a:rPr>
              <a:t>Date of runs</a:t>
            </a:r>
            <a:endParaRPr lang="en-US" sz="1200" dirty="0"/>
          </a:p>
        </p:txBody>
      </p:sp>
      <p:sp>
        <p:nvSpPr>
          <p:cNvPr id="11" name="Text 9"/>
          <p:cNvSpPr/>
          <p:nvPr/>
        </p:nvSpPr>
        <p:spPr>
          <a:xfrm>
            <a:off x="3840480" y="1783080"/>
            <a:ext cx="2834640" cy="566928"/>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31 July 2026</a:t>
            </a:r>
            <a:endParaRPr lang="en-US" sz="1200" dirty="0"/>
          </a:p>
        </p:txBody>
      </p:sp>
      <p:sp>
        <p:nvSpPr>
          <p:cNvPr id="12" name="Shape 10"/>
          <p:cNvSpPr/>
          <p:nvPr/>
        </p:nvSpPr>
        <p:spPr>
          <a:xfrm>
            <a:off x="822960" y="2459736"/>
            <a:ext cx="6035040" cy="566928"/>
          </a:xfrm>
          <a:prstGeom prst="roundRect">
            <a:avLst>
              <a:gd name="adj" fmla="val 9677"/>
            </a:avLst>
          </a:prstGeom>
          <a:solidFill>
            <a:srgbClr val="F2F5F7"/>
          </a:solidFill>
          <a:ln w="9525">
            <a:solidFill>
              <a:srgbClr val="B9C0C4"/>
            </a:solidFill>
            <a:prstDash val="solid"/>
          </a:ln>
        </p:spPr>
      </p:sp>
      <p:sp>
        <p:nvSpPr>
          <p:cNvPr id="13" name="Text 11"/>
          <p:cNvSpPr/>
          <p:nvPr/>
        </p:nvSpPr>
        <p:spPr>
          <a:xfrm>
            <a:off x="1143000" y="2459736"/>
            <a:ext cx="2651760" cy="566928"/>
          </a:xfrm>
          <a:prstGeom prst="rect">
            <a:avLst/>
          </a:prstGeom>
          <a:noFill/>
          <a:ln/>
        </p:spPr>
        <p:txBody>
          <a:bodyPr wrap="square" lIns="0" tIns="0" rIns="0" bIns="0" rtlCol="0" anchor="ctr"/>
          <a:lstStyle/>
          <a:p>
            <a:pPr indent="0" marL="0">
              <a:buNone/>
            </a:pPr>
            <a:r>
              <a:rPr lang="en-US" sz="1200" b="1" dirty="0">
                <a:solidFill>
                  <a:srgbClr val="074D83"/>
                </a:solidFill>
                <a:latin typeface="Calibri" pitchFamily="34" charset="0"/>
                <a:ea typeface="Calibri" pitchFamily="34" charset="-122"/>
                <a:cs typeface="Calibri" pitchFamily="34" charset="-120"/>
              </a:rPr>
              <a:t>Model</a:t>
            </a:r>
            <a:endParaRPr lang="en-US" sz="1200" dirty="0"/>
          </a:p>
        </p:txBody>
      </p:sp>
      <p:sp>
        <p:nvSpPr>
          <p:cNvPr id="14" name="Text 12"/>
          <p:cNvSpPr/>
          <p:nvPr/>
        </p:nvSpPr>
        <p:spPr>
          <a:xfrm>
            <a:off x="3840480" y="2459736"/>
            <a:ext cx="2834640" cy="566928"/>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gemini-3.1-flash-lite</a:t>
            </a:r>
            <a:endParaRPr lang="en-US" sz="1200" dirty="0"/>
          </a:p>
        </p:txBody>
      </p:sp>
      <p:sp>
        <p:nvSpPr>
          <p:cNvPr id="15" name="Shape 13"/>
          <p:cNvSpPr/>
          <p:nvPr/>
        </p:nvSpPr>
        <p:spPr>
          <a:xfrm>
            <a:off x="822960" y="3136392"/>
            <a:ext cx="6035040" cy="566928"/>
          </a:xfrm>
          <a:prstGeom prst="roundRect">
            <a:avLst>
              <a:gd name="adj" fmla="val 9677"/>
            </a:avLst>
          </a:prstGeom>
          <a:solidFill>
            <a:srgbClr val="F2F5F7"/>
          </a:solidFill>
          <a:ln w="9525">
            <a:solidFill>
              <a:srgbClr val="B9C0C4"/>
            </a:solidFill>
            <a:prstDash val="solid"/>
          </a:ln>
        </p:spPr>
      </p:sp>
      <p:sp>
        <p:nvSpPr>
          <p:cNvPr id="16" name="Text 14"/>
          <p:cNvSpPr/>
          <p:nvPr/>
        </p:nvSpPr>
        <p:spPr>
          <a:xfrm>
            <a:off x="1143000" y="3136392"/>
            <a:ext cx="2651760" cy="566928"/>
          </a:xfrm>
          <a:prstGeom prst="rect">
            <a:avLst/>
          </a:prstGeom>
          <a:noFill/>
          <a:ln/>
        </p:spPr>
        <p:txBody>
          <a:bodyPr wrap="square" lIns="0" tIns="0" rIns="0" bIns="0" rtlCol="0" anchor="ctr"/>
          <a:lstStyle/>
          <a:p>
            <a:pPr indent="0" marL="0">
              <a:buNone/>
            </a:pPr>
            <a:r>
              <a:rPr lang="en-US" sz="1200" b="1" dirty="0">
                <a:solidFill>
                  <a:srgbClr val="074D83"/>
                </a:solidFill>
                <a:latin typeface="Calibri" pitchFamily="34" charset="0"/>
                <a:ea typeface="Calibri" pitchFamily="34" charset="-122"/>
                <a:cs typeface="Calibri" pitchFamily="34" charset="-120"/>
              </a:rPr>
              <a:t>Target page</a:t>
            </a:r>
            <a:endParaRPr lang="en-US" sz="1200" dirty="0"/>
          </a:p>
        </p:txBody>
      </p:sp>
      <p:sp>
        <p:nvSpPr>
          <p:cNvPr id="17" name="Text 15"/>
          <p:cNvSpPr/>
          <p:nvPr/>
        </p:nvSpPr>
        <p:spPr>
          <a:xfrm>
            <a:off x="3840480" y="3136392"/>
            <a:ext cx="2834640" cy="566928"/>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SauceDemo inventory page (authenticated)</a:t>
            </a:r>
            <a:endParaRPr lang="en-US" sz="1200" dirty="0"/>
          </a:p>
        </p:txBody>
      </p:sp>
      <p:sp>
        <p:nvSpPr>
          <p:cNvPr id="18" name="Shape 16"/>
          <p:cNvSpPr/>
          <p:nvPr/>
        </p:nvSpPr>
        <p:spPr>
          <a:xfrm>
            <a:off x="822960" y="3813048"/>
            <a:ext cx="6035040" cy="566928"/>
          </a:xfrm>
          <a:prstGeom prst="roundRect">
            <a:avLst>
              <a:gd name="adj" fmla="val 9677"/>
            </a:avLst>
          </a:prstGeom>
          <a:solidFill>
            <a:srgbClr val="F2F5F7"/>
          </a:solidFill>
          <a:ln w="9525">
            <a:solidFill>
              <a:srgbClr val="B9C0C4"/>
            </a:solidFill>
            <a:prstDash val="solid"/>
          </a:ln>
        </p:spPr>
      </p:sp>
      <p:sp>
        <p:nvSpPr>
          <p:cNvPr id="19" name="Text 17"/>
          <p:cNvSpPr/>
          <p:nvPr/>
        </p:nvSpPr>
        <p:spPr>
          <a:xfrm>
            <a:off x="1143000" y="3813048"/>
            <a:ext cx="2651760" cy="566928"/>
          </a:xfrm>
          <a:prstGeom prst="rect">
            <a:avLst/>
          </a:prstGeom>
          <a:noFill/>
          <a:ln/>
        </p:spPr>
        <p:txBody>
          <a:bodyPr wrap="square" lIns="0" tIns="0" rIns="0" bIns="0" rtlCol="0" anchor="ctr"/>
          <a:lstStyle/>
          <a:p>
            <a:pPr indent="0" marL="0">
              <a:buNone/>
            </a:pPr>
            <a:r>
              <a:rPr lang="en-US" sz="1200" b="1" dirty="0">
                <a:solidFill>
                  <a:srgbClr val="074D83"/>
                </a:solidFill>
                <a:latin typeface="Calibri" pitchFamily="34" charset="0"/>
                <a:ea typeface="Calibri" pitchFamily="34" charset="-122"/>
                <a:cs typeface="Calibri" pitchFamily="34" charset="-120"/>
              </a:rPr>
              <a:t>Section scope, Pipeline A</a:t>
            </a:r>
            <a:endParaRPr lang="en-US" sz="1200" dirty="0"/>
          </a:p>
        </p:txBody>
      </p:sp>
      <p:sp>
        <p:nvSpPr>
          <p:cNvPr id="20" name="Text 18"/>
          <p:cNvSpPr/>
          <p:nvPr/>
        </p:nvSpPr>
        <p:spPr>
          <a:xfrm>
            <a:off x="3840480" y="3813048"/>
            <a:ext cx="2834640" cy="566928"/>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Body region</a:t>
            </a:r>
            <a:endParaRPr lang="en-US" sz="1200" dirty="0"/>
          </a:p>
        </p:txBody>
      </p:sp>
      <p:sp>
        <p:nvSpPr>
          <p:cNvPr id="21" name="Shape 19"/>
          <p:cNvSpPr/>
          <p:nvPr/>
        </p:nvSpPr>
        <p:spPr>
          <a:xfrm>
            <a:off x="822960" y="4489704"/>
            <a:ext cx="6035040" cy="566928"/>
          </a:xfrm>
          <a:prstGeom prst="roundRect">
            <a:avLst>
              <a:gd name="adj" fmla="val 9677"/>
            </a:avLst>
          </a:prstGeom>
          <a:solidFill>
            <a:srgbClr val="F2F5F7"/>
          </a:solidFill>
          <a:ln w="9525">
            <a:solidFill>
              <a:srgbClr val="B9C0C4"/>
            </a:solidFill>
            <a:prstDash val="solid"/>
          </a:ln>
        </p:spPr>
      </p:sp>
      <p:sp>
        <p:nvSpPr>
          <p:cNvPr id="22" name="Text 20"/>
          <p:cNvSpPr/>
          <p:nvPr/>
        </p:nvSpPr>
        <p:spPr>
          <a:xfrm>
            <a:off x="1143000" y="4489704"/>
            <a:ext cx="2651760" cy="566928"/>
          </a:xfrm>
          <a:prstGeom prst="rect">
            <a:avLst/>
          </a:prstGeom>
          <a:noFill/>
          <a:ln/>
        </p:spPr>
        <p:txBody>
          <a:bodyPr wrap="square" lIns="0" tIns="0" rIns="0" bIns="0" rtlCol="0" anchor="ctr"/>
          <a:lstStyle/>
          <a:p>
            <a:pPr indent="0" marL="0">
              <a:buNone/>
            </a:pPr>
            <a:r>
              <a:rPr lang="en-US" sz="1200" b="1" dirty="0">
                <a:solidFill>
                  <a:srgbClr val="074D83"/>
                </a:solidFill>
                <a:latin typeface="Calibri" pitchFamily="34" charset="0"/>
                <a:ea typeface="Calibri" pitchFamily="34" charset="-122"/>
                <a:cs typeface="Calibri" pitchFamily="34" charset="-120"/>
              </a:rPr>
              <a:t>Runs per pipeline</a:t>
            </a:r>
            <a:endParaRPr lang="en-US" sz="1200" dirty="0"/>
          </a:p>
        </p:txBody>
      </p:sp>
      <p:sp>
        <p:nvSpPr>
          <p:cNvPr id="23" name="Text 21"/>
          <p:cNvSpPr/>
          <p:nvPr/>
        </p:nvSpPr>
        <p:spPr>
          <a:xfrm>
            <a:off x="3840480" y="4489704"/>
            <a:ext cx="2834640" cy="566928"/>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3, consecutive, no intervening change</a:t>
            </a:r>
            <a:endParaRPr lang="en-US" sz="1200" dirty="0"/>
          </a:p>
        </p:txBody>
      </p:sp>
      <p:sp>
        <p:nvSpPr>
          <p:cNvPr id="24" name="Shape 22"/>
          <p:cNvSpPr/>
          <p:nvPr/>
        </p:nvSpPr>
        <p:spPr>
          <a:xfrm>
            <a:off x="822960" y="5166360"/>
            <a:ext cx="6035040" cy="566928"/>
          </a:xfrm>
          <a:prstGeom prst="roundRect">
            <a:avLst>
              <a:gd name="adj" fmla="val 9677"/>
            </a:avLst>
          </a:prstGeom>
          <a:solidFill>
            <a:srgbClr val="F2F5F7"/>
          </a:solidFill>
          <a:ln w="9525">
            <a:solidFill>
              <a:srgbClr val="B9C0C4"/>
            </a:solidFill>
            <a:prstDash val="solid"/>
          </a:ln>
        </p:spPr>
      </p:sp>
      <p:sp>
        <p:nvSpPr>
          <p:cNvPr id="25" name="Text 23"/>
          <p:cNvSpPr/>
          <p:nvPr/>
        </p:nvSpPr>
        <p:spPr>
          <a:xfrm>
            <a:off x="1143000" y="5166360"/>
            <a:ext cx="2651760" cy="566928"/>
          </a:xfrm>
          <a:prstGeom prst="rect">
            <a:avLst/>
          </a:prstGeom>
          <a:noFill/>
          <a:ln/>
        </p:spPr>
        <p:txBody>
          <a:bodyPr wrap="square" lIns="0" tIns="0" rIns="0" bIns="0" rtlCol="0" anchor="ctr"/>
          <a:lstStyle/>
          <a:p>
            <a:pPr indent="0" marL="0">
              <a:buNone/>
            </a:pPr>
            <a:r>
              <a:rPr lang="en-US" sz="1200" b="1" dirty="0">
                <a:solidFill>
                  <a:srgbClr val="074D83"/>
                </a:solidFill>
                <a:latin typeface="Calibri" pitchFamily="34" charset="0"/>
                <a:ea typeface="Calibri" pitchFamily="34" charset="-122"/>
                <a:cs typeface="Calibri" pitchFamily="34" charset="-120"/>
              </a:rPr>
              <a:t>Environment</a:t>
            </a:r>
            <a:endParaRPr lang="en-US" sz="1200" dirty="0"/>
          </a:p>
        </p:txBody>
      </p:sp>
      <p:sp>
        <p:nvSpPr>
          <p:cNvPr id="26" name="Text 24"/>
          <p:cNvSpPr/>
          <p:nvPr/>
        </p:nvSpPr>
        <p:spPr>
          <a:xfrm>
            <a:off x="3840480" y="5166360"/>
            <a:ext cx="2834640" cy="566928"/>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JDK 17 · Chrome 150 · macOS</a:t>
            </a:r>
            <a:endParaRPr lang="en-US" sz="1200" dirty="0"/>
          </a:p>
        </p:txBody>
      </p:sp>
      <p:sp>
        <p:nvSpPr>
          <p:cNvPr id="27" name="Shape 25"/>
          <p:cNvSpPr/>
          <p:nvPr/>
        </p:nvSpPr>
        <p:spPr>
          <a:xfrm>
            <a:off x="7315200" y="1783080"/>
            <a:ext cx="3977640" cy="3383280"/>
          </a:xfrm>
          <a:prstGeom prst="roundRect">
            <a:avLst>
              <a:gd name="adj" fmla="val 1622"/>
            </a:avLst>
          </a:prstGeom>
          <a:solidFill>
            <a:srgbClr val="1B2A33"/>
          </a:solidFill>
          <a:ln w="9525">
            <a:solidFill>
              <a:srgbClr val="1B2A33"/>
            </a:solidFill>
            <a:prstDash val="solid"/>
          </a:ln>
        </p:spPr>
      </p:sp>
      <p:sp>
        <p:nvSpPr>
          <p:cNvPr id="28" name="Text 26"/>
          <p:cNvSpPr/>
          <p:nvPr/>
        </p:nvSpPr>
        <p:spPr>
          <a:xfrm>
            <a:off x="7635240" y="1993392"/>
            <a:ext cx="33832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Reproducibility</a:t>
            </a:r>
            <a:endParaRPr lang="en-US" sz="1300" dirty="0"/>
          </a:p>
        </p:txBody>
      </p:sp>
      <p:sp>
        <p:nvSpPr>
          <p:cNvPr id="29" name="Text 27"/>
          <p:cNvSpPr/>
          <p:nvPr/>
        </p:nvSpPr>
        <p:spPr>
          <a:xfrm>
            <a:off x="7635240" y="2331720"/>
            <a:ext cx="3337560" cy="1097280"/>
          </a:xfrm>
          <a:prstGeom prst="rect">
            <a:avLst/>
          </a:prstGeom>
          <a:noFill/>
          <a:ln/>
        </p:spPr>
        <p:txBody>
          <a:bodyPr wrap="square" lIns="0" tIns="0" rIns="0" bIns="0" rtlCol="0" anchor="ctr"/>
          <a:lstStyle/>
          <a:p>
            <a:pPr indent="0" marL="0">
              <a:buNone/>
            </a:pPr>
            <a:r>
              <a:rPr lang="en-US" sz="1150" dirty="0">
                <a:solidFill>
                  <a:srgbClr val="D6E1E6"/>
                </a:solidFill>
                <a:latin typeface="Calibri" pitchFamily="34" charset="0"/>
                <a:ea typeface="Calibri" pitchFamily="34" charset="-122"/>
                <a:cs typeface="Calibri" pitchFamily="34" charset="-120"/>
              </a:rPr>
              <a:t>The rendered DOM both pipelines consumed was captured during the campaign and is retained, together with every generated artefact and the console telemetry.</a:t>
            </a:r>
            <a:endParaRPr lang="en-US" sz="1150" dirty="0"/>
          </a:p>
        </p:txBody>
      </p:sp>
      <p:sp>
        <p:nvSpPr>
          <p:cNvPr id="30" name="Text 28"/>
          <p:cNvSpPr/>
          <p:nvPr/>
        </p:nvSpPr>
        <p:spPr>
          <a:xfrm>
            <a:off x="7635240" y="3520440"/>
            <a:ext cx="3337560" cy="1371600"/>
          </a:xfrm>
          <a:prstGeom prst="rect">
            <a:avLst/>
          </a:prstGeom>
          <a:noFill/>
          <a:ln/>
        </p:spPr>
        <p:txBody>
          <a:bodyPr wrap="square" lIns="0" tIns="0" rIns="0" bIns="0" rtlCol="0" anchor="ctr"/>
          <a:lstStyle/>
          <a:p>
            <a:pPr indent="0" marL="0">
              <a:buNone/>
            </a:pPr>
            <a:r>
              <a:rPr lang="en-US" sz="1150" dirty="0">
                <a:solidFill>
                  <a:srgbClr val="037C87"/>
                </a:solidFill>
                <a:latin typeface="Calibri" pitchFamily="34" charset="0"/>
                <a:ea typeface="Calibri" pitchFamily="34" charset="-122"/>
                <a:cs typeface="Calibri" pitchFamily="34" charset="-120"/>
              </a:rPr>
              <a:t>Scripts accompanying the report re-derive the element counts, the locator resolution, the compilability results and the digests from those files alone — no network, no model call.</a:t>
            </a:r>
            <a:endParaRPr lang="en-US" sz="1150" dirty="0"/>
          </a:p>
        </p:txBody>
      </p:sp>
      <p:sp>
        <p:nvSpPr>
          <p:cNvPr id="31" name="Shape 29"/>
          <p:cNvSpPr/>
          <p:nvPr/>
        </p:nvSpPr>
        <p:spPr>
          <a:xfrm>
            <a:off x="822960" y="5486400"/>
            <a:ext cx="10469880" cy="685800"/>
          </a:xfrm>
          <a:prstGeom prst="roundRect">
            <a:avLst>
              <a:gd name="adj" fmla="val 8000"/>
            </a:avLst>
          </a:prstGeom>
          <a:solidFill>
            <a:srgbClr val="F7ECEA"/>
          </a:solidFill>
          <a:ln w="9525">
            <a:solidFill>
              <a:srgbClr val="F7ECEA"/>
            </a:solidFill>
            <a:prstDash val="solid"/>
          </a:ln>
        </p:spPr>
      </p:sp>
      <p:sp>
        <p:nvSpPr>
          <p:cNvPr id="32" name="Text 30"/>
          <p:cNvSpPr/>
          <p:nvPr/>
        </p:nvSpPr>
        <p:spPr>
          <a:xfrm>
            <a:off x="1143000" y="5486400"/>
            <a:ext cx="9875520" cy="68580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Scope, stated plainly: one page examined in depth, three runs per pipeline. Enough for categorical findings. Not enough for quantitative generalisation — and none is claimed.</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EXPERIMENTAL EVALUATION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37</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Result 1 — determinism: the same command, run three times</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pic>
        <p:nvPicPr>
          <p:cNvPr id="9" name="Image 0" descr="img/fig10.png">    </p:cNvPr>
          <p:cNvPicPr>
            <a:picLocks noChangeAspect="1"/>
          </p:cNvPicPr>
          <p:nvPr/>
        </p:nvPicPr>
        <p:blipFill>
          <a:blip r:embed="rId1"/>
          <a:stretch>
            <a:fillRect/>
          </a:stretch>
        </p:blipFill>
        <p:spPr>
          <a:xfrm>
            <a:off x="6675120" y="2148840"/>
            <a:ext cx="4617720" cy="2414016"/>
          </a:xfrm>
          <a:prstGeom prst="rect">
            <a:avLst/>
          </a:prstGeom>
        </p:spPr>
      </p:pic>
      <p:sp>
        <p:nvSpPr>
          <p:cNvPr id="10" name="Shape 7"/>
          <p:cNvSpPr/>
          <p:nvPr/>
        </p:nvSpPr>
        <p:spPr>
          <a:xfrm>
            <a:off x="822960" y="1828800"/>
            <a:ext cx="5577840" cy="960120"/>
          </a:xfrm>
          <a:prstGeom prst="roundRect">
            <a:avLst>
              <a:gd name="adj" fmla="val 5714"/>
            </a:avLst>
          </a:prstGeom>
          <a:solidFill>
            <a:srgbClr val="E8F2F3"/>
          </a:solidFill>
          <a:ln w="9525">
            <a:solidFill>
              <a:srgbClr val="E8F2F3"/>
            </a:solidFill>
            <a:prstDash val="solid"/>
          </a:ln>
        </p:spPr>
      </p:sp>
      <p:sp>
        <p:nvSpPr>
          <p:cNvPr id="11" name="Text 8"/>
          <p:cNvSpPr/>
          <p:nvPr/>
        </p:nvSpPr>
        <p:spPr>
          <a:xfrm>
            <a:off x="1143000" y="1956816"/>
            <a:ext cx="1828800" cy="274320"/>
          </a:xfrm>
          <a:prstGeom prst="rect">
            <a:avLst/>
          </a:prstGeom>
          <a:noFill/>
          <a:ln/>
        </p:spPr>
        <p:txBody>
          <a:bodyPr wrap="square" lIns="0" tIns="0" rIns="0" bIns="0" rtlCol="0" anchor="ctr"/>
          <a:lstStyle/>
          <a:p>
            <a:pPr indent="0" marL="0">
              <a:buNone/>
            </a:pPr>
            <a:r>
              <a:rPr lang="en-US" sz="1250" b="1" dirty="0">
                <a:solidFill>
                  <a:srgbClr val="037C87"/>
                </a:solidFill>
                <a:latin typeface="Calibri" pitchFamily="34" charset="0"/>
                <a:ea typeface="Calibri" pitchFamily="34" charset="-122"/>
                <a:cs typeface="Calibri" pitchFamily="34" charset="-120"/>
              </a:rPr>
              <a:t>Pipeline A</a:t>
            </a:r>
            <a:endParaRPr lang="en-US" sz="1250" dirty="0"/>
          </a:p>
        </p:txBody>
      </p:sp>
      <p:sp>
        <p:nvSpPr>
          <p:cNvPr id="12" name="Text 9"/>
          <p:cNvSpPr/>
          <p:nvPr/>
        </p:nvSpPr>
        <p:spPr>
          <a:xfrm>
            <a:off x="4480560" y="1956816"/>
            <a:ext cx="1645920" cy="274320"/>
          </a:xfrm>
          <a:prstGeom prst="rect">
            <a:avLst/>
          </a:prstGeom>
          <a:noFill/>
          <a:ln/>
        </p:spPr>
        <p:txBody>
          <a:bodyPr wrap="square" lIns="0" tIns="0" rIns="0" bIns="0" rtlCol="0" anchor="ctr"/>
          <a:lstStyle/>
          <a:p>
            <a:pPr algn="r" indent="0" marL="0">
              <a:buNone/>
            </a:pPr>
            <a:r>
              <a:rPr lang="en-US" sz="1150" b="1" dirty="0">
                <a:solidFill>
                  <a:srgbClr val="037C87"/>
                </a:solidFill>
                <a:latin typeface="Calibri" pitchFamily="34" charset="0"/>
                <a:ea typeface="Calibri" pitchFamily="34" charset="-122"/>
                <a:cs typeface="Calibri" pitchFamily="34" charset="-120"/>
              </a:rPr>
              <a:t>byte-identical</a:t>
            </a:r>
            <a:endParaRPr lang="en-US" sz="1150" dirty="0"/>
          </a:p>
        </p:txBody>
      </p:sp>
      <p:sp>
        <p:nvSpPr>
          <p:cNvPr id="13" name="Text 10"/>
          <p:cNvSpPr/>
          <p:nvPr/>
        </p:nvSpPr>
        <p:spPr>
          <a:xfrm>
            <a:off x="1143000" y="2267712"/>
            <a:ext cx="5029200" cy="274320"/>
          </a:xfrm>
          <a:prstGeom prst="rect">
            <a:avLst/>
          </a:prstGeom>
          <a:noFill/>
          <a:ln/>
        </p:spPr>
        <p:txBody>
          <a:bodyPr wrap="square" lIns="0" tIns="0" rIns="0" bIns="0" rtlCol="0" anchor="ctr"/>
          <a:lstStyle/>
          <a:p>
            <a:pPr indent="0" marL="0">
              <a:buNone/>
            </a:pPr>
            <a:r>
              <a:rPr lang="en-US" sz="1200" dirty="0">
                <a:solidFill>
                  <a:srgbClr val="1A1A1A"/>
                </a:solidFill>
                <a:latin typeface="Courier New" pitchFamily="34" charset="0"/>
                <a:ea typeface="Courier New" pitchFamily="34" charset="-122"/>
                <a:cs typeface="Courier New" pitchFamily="34" charset="-120"/>
              </a:rPr>
              <a:t>420c015a…  ·  420c015a…  ·  420c015a…</a:t>
            </a:r>
            <a:endParaRPr lang="en-US" sz="1200" dirty="0"/>
          </a:p>
        </p:txBody>
      </p:sp>
      <p:sp>
        <p:nvSpPr>
          <p:cNvPr id="14" name="Shape 11"/>
          <p:cNvSpPr/>
          <p:nvPr/>
        </p:nvSpPr>
        <p:spPr>
          <a:xfrm>
            <a:off x="822960" y="2971800"/>
            <a:ext cx="5577840" cy="960120"/>
          </a:xfrm>
          <a:prstGeom prst="roundRect">
            <a:avLst>
              <a:gd name="adj" fmla="val 5714"/>
            </a:avLst>
          </a:prstGeom>
          <a:solidFill>
            <a:srgbClr val="F7ECEA"/>
          </a:solidFill>
          <a:ln w="9525">
            <a:solidFill>
              <a:srgbClr val="F7ECEA"/>
            </a:solidFill>
            <a:prstDash val="solid"/>
          </a:ln>
        </p:spPr>
      </p:sp>
      <p:sp>
        <p:nvSpPr>
          <p:cNvPr id="15" name="Text 12"/>
          <p:cNvSpPr/>
          <p:nvPr/>
        </p:nvSpPr>
        <p:spPr>
          <a:xfrm>
            <a:off x="1143000" y="3099816"/>
            <a:ext cx="1828800" cy="274320"/>
          </a:xfrm>
          <a:prstGeom prst="rect">
            <a:avLst/>
          </a:prstGeom>
          <a:noFill/>
          <a:ln/>
        </p:spPr>
        <p:txBody>
          <a:bodyPr wrap="square" lIns="0" tIns="0" rIns="0" bIns="0" rtlCol="0" anchor="ctr"/>
          <a:lstStyle/>
          <a:p>
            <a:pPr indent="0" marL="0">
              <a:buNone/>
            </a:pPr>
            <a:r>
              <a:rPr lang="en-US" sz="1250" b="1" dirty="0">
                <a:solidFill>
                  <a:srgbClr val="B85042"/>
                </a:solidFill>
                <a:latin typeface="Calibri" pitchFamily="34" charset="0"/>
                <a:ea typeface="Calibri" pitchFamily="34" charset="-122"/>
                <a:cs typeface="Calibri" pitchFamily="34" charset="-120"/>
              </a:rPr>
              <a:t>Pipeline B</a:t>
            </a:r>
            <a:endParaRPr lang="en-US" sz="1250" dirty="0"/>
          </a:p>
        </p:txBody>
      </p:sp>
      <p:sp>
        <p:nvSpPr>
          <p:cNvPr id="16" name="Text 13"/>
          <p:cNvSpPr/>
          <p:nvPr/>
        </p:nvSpPr>
        <p:spPr>
          <a:xfrm>
            <a:off x="4434840" y="3099816"/>
            <a:ext cx="1691640" cy="274320"/>
          </a:xfrm>
          <a:prstGeom prst="rect">
            <a:avLst/>
          </a:prstGeom>
          <a:noFill/>
          <a:ln/>
        </p:spPr>
        <p:txBody>
          <a:bodyPr wrap="square" lIns="0" tIns="0" rIns="0" bIns="0" rtlCol="0" anchor="ctr"/>
          <a:lstStyle/>
          <a:p>
            <a:pPr algn="r" indent="0" marL="0">
              <a:buNone/>
            </a:pPr>
            <a:r>
              <a:rPr lang="en-US" sz="1150" b="1" dirty="0">
                <a:solidFill>
                  <a:srgbClr val="B85042"/>
                </a:solidFill>
                <a:latin typeface="Calibri" pitchFamily="34" charset="0"/>
                <a:ea typeface="Calibri" pitchFamily="34" charset="-122"/>
                <a:cs typeface="Calibri" pitchFamily="34" charset="-120"/>
              </a:rPr>
              <a:t>all three differ</a:t>
            </a:r>
            <a:endParaRPr lang="en-US" sz="1150" dirty="0"/>
          </a:p>
        </p:txBody>
      </p:sp>
      <p:sp>
        <p:nvSpPr>
          <p:cNvPr id="17" name="Text 14"/>
          <p:cNvSpPr/>
          <p:nvPr/>
        </p:nvSpPr>
        <p:spPr>
          <a:xfrm>
            <a:off x="1143000" y="3410712"/>
            <a:ext cx="5029200" cy="274320"/>
          </a:xfrm>
          <a:prstGeom prst="rect">
            <a:avLst/>
          </a:prstGeom>
          <a:noFill/>
          <a:ln/>
        </p:spPr>
        <p:txBody>
          <a:bodyPr wrap="square" lIns="0" tIns="0" rIns="0" bIns="0" rtlCol="0" anchor="ctr"/>
          <a:lstStyle/>
          <a:p>
            <a:pPr indent="0" marL="0">
              <a:buNone/>
            </a:pPr>
            <a:r>
              <a:rPr lang="en-US" sz="1200" dirty="0">
                <a:solidFill>
                  <a:srgbClr val="1A1A1A"/>
                </a:solidFill>
                <a:latin typeface="Courier New" pitchFamily="34" charset="0"/>
                <a:ea typeface="Courier New" pitchFamily="34" charset="-122"/>
                <a:cs typeface="Courier New" pitchFamily="34" charset="-120"/>
              </a:rPr>
              <a:t>19ea0a03…  ·  dedd5d21…  ·  65662d40…</a:t>
            </a:r>
            <a:endParaRPr lang="en-US" sz="1200" dirty="0"/>
          </a:p>
        </p:txBody>
      </p:sp>
      <p:sp>
        <p:nvSpPr>
          <p:cNvPr id="18" name="Text 15"/>
          <p:cNvSpPr/>
          <p:nvPr/>
        </p:nvSpPr>
        <p:spPr>
          <a:xfrm>
            <a:off x="822960" y="4160520"/>
            <a:ext cx="5577840" cy="1371600"/>
          </a:xfrm>
          <a:prstGeom prst="rect">
            <a:avLst/>
          </a:prstGeom>
          <a:noFill/>
          <a:ln/>
        </p:spPr>
        <p:txBody>
          <a:bodyPr wrap="square" lIns="0" tIns="0" rIns="0" bIns="0" rtlCol="0" anchor="ctr"/>
          <a:lstStyle/>
          <a:p>
            <a:pPr indent="0" marL="0">
              <a:buNone/>
            </a:pPr>
            <a:r>
              <a:rPr lang="en-US" sz="1200" dirty="0">
                <a:solidFill>
                  <a:srgbClr val="6E7377"/>
                </a:solidFill>
                <a:latin typeface="Calibri" pitchFamily="34" charset="0"/>
                <a:ea typeface="Calibri" pitchFamily="34" charset="-122"/>
                <a:cs typeface="Calibri" pitchFamily="34" charset="-120"/>
              </a:rPr>
              <a:t>The variation is not marginal: 80 / 52 / 50 lines of code, 11 / 17 / 17 declared fields — and run 2 declared a different package, so the artefact would land in a different directory on every regeneration.</a:t>
            </a:r>
            <a:endParaRPr lang="en-US" sz="1200" dirty="0"/>
          </a:p>
        </p:txBody>
      </p:sp>
      <p:sp>
        <p:nvSpPr>
          <p:cNvPr id="19" name="Shape 16"/>
          <p:cNvSpPr/>
          <p:nvPr/>
        </p:nvSpPr>
        <p:spPr>
          <a:xfrm>
            <a:off x="822960" y="5577840"/>
            <a:ext cx="10469880" cy="594360"/>
          </a:xfrm>
          <a:prstGeom prst="roundRect">
            <a:avLst>
              <a:gd name="adj" fmla="val 9231"/>
            </a:avLst>
          </a:prstGeom>
          <a:solidFill>
            <a:srgbClr val="F2F5F7"/>
          </a:solidFill>
          <a:ln w="9525">
            <a:solidFill>
              <a:srgbClr val="F2F5F7"/>
            </a:solidFill>
            <a:prstDash val="solid"/>
          </a:ln>
        </p:spPr>
      </p:sp>
      <p:sp>
        <p:nvSpPr>
          <p:cNvPr id="20" name="Text 17"/>
          <p:cNvSpPr/>
          <p:nvPr/>
        </p:nvSpPr>
        <p:spPr>
          <a:xfrm>
            <a:off x="1143000" y="5577840"/>
            <a:ext cx="9875520" cy="594360"/>
          </a:xfrm>
          <a:prstGeom prst="rect">
            <a:avLst/>
          </a:prstGeom>
          <a:noFill/>
          <a:ln/>
        </p:spPr>
        <p:txBody>
          <a:bodyPr wrap="square" lIns="0" tIns="0" rIns="0" bIns="0" rtlCol="0" anchor="ctr"/>
          <a:lstStyle/>
          <a:p>
            <a:pPr indent="0" marL="0">
              <a:buNone/>
            </a:pPr>
            <a:r>
              <a:rPr lang="en-US" sz="1150" i="1" dirty="0">
                <a:solidFill>
                  <a:srgbClr val="1A1A1A"/>
                </a:solidFill>
                <a:latin typeface="Calibri" pitchFamily="34" charset="0"/>
                <a:ea typeface="Calibri" pitchFamily="34" charset="-122"/>
                <a:cs typeface="Calibri" pitchFamily="34" charset="-120"/>
              </a:rPr>
              <a:t>Prompt tokens were identical on all three runs (13,115). The input did not vary. The output did.</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EXPERIMENTAL EVALUATION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38</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Result 2 — a Selenium method that does not exist</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783080"/>
            <a:ext cx="10469880" cy="868680"/>
          </a:xfrm>
          <a:prstGeom prst="roundRect">
            <a:avLst>
              <a:gd name="adj" fmla="val 6316"/>
            </a:avLst>
          </a:prstGeom>
          <a:solidFill>
            <a:srgbClr val="1B2A33"/>
          </a:solidFill>
          <a:ln w="12700">
            <a:solidFill>
              <a:srgbClr val="333333"/>
            </a:solidFill>
            <a:prstDash val="solid"/>
          </a:ln>
        </p:spPr>
      </p:sp>
      <p:sp>
        <p:nvSpPr>
          <p:cNvPr id="10" name="Text 8"/>
          <p:cNvSpPr/>
          <p:nvPr/>
        </p:nvSpPr>
        <p:spPr>
          <a:xfrm>
            <a:off x="1051560" y="1783080"/>
            <a:ext cx="10012680" cy="86868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private final By inventorySidebarLink = By.dataTest("inventory-sidebar-link");</a:t>
            </a:r>
            <a:endParaRPr lang="en-US" sz="1400" dirty="0"/>
          </a:p>
        </p:txBody>
      </p:sp>
      <p:sp>
        <p:nvSpPr>
          <p:cNvPr id="11" name="Text 9"/>
          <p:cNvSpPr/>
          <p:nvPr/>
        </p:nvSpPr>
        <p:spPr>
          <a:xfrm>
            <a:off x="822960" y="2834640"/>
            <a:ext cx="10469880" cy="365760"/>
          </a:xfrm>
          <a:prstGeom prst="rect">
            <a:avLst/>
          </a:prstGeom>
          <a:noFill/>
          <a:ln/>
        </p:spPr>
        <p:txBody>
          <a:bodyPr wrap="square" lIns="0" tIns="0" rIns="0" bIns="0" rtlCol="0" anchor="ctr"/>
          <a:lstStyle/>
          <a:p>
            <a:pPr algn="ctr" indent="0" marL="0">
              <a:buNone/>
            </a:pPr>
            <a:r>
              <a:rPr lang="en-US" sz="1400" dirty="0">
                <a:solidFill>
                  <a:srgbClr val="1A1A1A"/>
                </a:solidFill>
                <a:latin typeface="Calibri" pitchFamily="34" charset="0"/>
                <a:ea typeface="Calibri" pitchFamily="34" charset="-122"/>
                <a:cs typeface="Calibri" pitchFamily="34" charset="-120"/>
              </a:rPr>
              <a:t>org.openqa.selenium.By declares exactly eight static factory methods.  dataTest is not one of them.</a:t>
            </a:r>
            <a:endParaRPr lang="en-US" sz="1400" dirty="0"/>
          </a:p>
        </p:txBody>
      </p:sp>
      <p:sp>
        <p:nvSpPr>
          <p:cNvPr id="12" name="Text 10"/>
          <p:cNvSpPr/>
          <p:nvPr/>
        </p:nvSpPr>
        <p:spPr>
          <a:xfrm>
            <a:off x="822960" y="3429000"/>
            <a:ext cx="2377440" cy="731520"/>
          </a:xfrm>
          <a:prstGeom prst="rect">
            <a:avLst/>
          </a:prstGeom>
          <a:noFill/>
          <a:ln/>
        </p:spPr>
        <p:txBody>
          <a:bodyPr wrap="square" lIns="0" tIns="0" rIns="0" bIns="0" rtlCol="0" anchor="ctr"/>
          <a:lstStyle/>
          <a:p>
            <a:pPr indent="0" marL="0">
              <a:buNone/>
            </a:pPr>
            <a:r>
              <a:rPr lang="en-US" sz="3800" b="1" dirty="0">
                <a:solidFill>
                  <a:srgbClr val="B85042"/>
                </a:solidFill>
                <a:latin typeface="Cambria" pitchFamily="34" charset="0"/>
                <a:ea typeface="Cambria" pitchFamily="34" charset="-122"/>
                <a:cs typeface="Cambria" pitchFamily="34" charset="-120"/>
              </a:rPr>
              <a:t>11 ×</a:t>
            </a:r>
            <a:endParaRPr lang="en-US" sz="3800" dirty="0"/>
          </a:p>
        </p:txBody>
      </p:sp>
      <p:sp>
        <p:nvSpPr>
          <p:cNvPr id="13" name="Text 11"/>
          <p:cNvSpPr/>
          <p:nvPr/>
        </p:nvSpPr>
        <p:spPr>
          <a:xfrm>
            <a:off x="822960" y="4142232"/>
            <a:ext cx="2377440" cy="50292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occurrences, run 1</a:t>
            </a:r>
            <a:endParaRPr lang="en-US" sz="1150" dirty="0"/>
          </a:p>
        </p:txBody>
      </p:sp>
      <p:sp>
        <p:nvSpPr>
          <p:cNvPr id="14" name="Text 12"/>
          <p:cNvSpPr/>
          <p:nvPr/>
        </p:nvSpPr>
        <p:spPr>
          <a:xfrm>
            <a:off x="3291840" y="3429000"/>
            <a:ext cx="2377440" cy="731520"/>
          </a:xfrm>
          <a:prstGeom prst="rect">
            <a:avLst/>
          </a:prstGeom>
          <a:noFill/>
          <a:ln/>
        </p:spPr>
        <p:txBody>
          <a:bodyPr wrap="square" lIns="0" tIns="0" rIns="0" bIns="0" rtlCol="0" anchor="ctr"/>
          <a:lstStyle/>
          <a:p>
            <a:pPr indent="0" marL="0">
              <a:buNone/>
            </a:pPr>
            <a:r>
              <a:rPr lang="en-US" sz="3800" b="1" dirty="0">
                <a:solidFill>
                  <a:srgbClr val="B85042"/>
                </a:solidFill>
                <a:latin typeface="Cambria" pitchFamily="34" charset="0"/>
                <a:ea typeface="Cambria" pitchFamily="34" charset="-122"/>
                <a:cs typeface="Cambria" pitchFamily="34" charset="-120"/>
              </a:rPr>
              <a:t>15 ×</a:t>
            </a:r>
            <a:endParaRPr lang="en-US" sz="3800" dirty="0"/>
          </a:p>
        </p:txBody>
      </p:sp>
      <p:sp>
        <p:nvSpPr>
          <p:cNvPr id="15" name="Text 13"/>
          <p:cNvSpPr/>
          <p:nvPr/>
        </p:nvSpPr>
        <p:spPr>
          <a:xfrm>
            <a:off x="3291840" y="4142232"/>
            <a:ext cx="2377440" cy="50292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occurrences, run 2</a:t>
            </a:r>
            <a:endParaRPr lang="en-US" sz="1150" dirty="0"/>
          </a:p>
        </p:txBody>
      </p:sp>
      <p:sp>
        <p:nvSpPr>
          <p:cNvPr id="16" name="Text 14"/>
          <p:cNvSpPr/>
          <p:nvPr/>
        </p:nvSpPr>
        <p:spPr>
          <a:xfrm>
            <a:off x="5943600" y="3429000"/>
            <a:ext cx="2468880" cy="731520"/>
          </a:xfrm>
          <a:prstGeom prst="rect">
            <a:avLst/>
          </a:prstGeom>
          <a:noFill/>
          <a:ln/>
        </p:spPr>
        <p:txBody>
          <a:bodyPr wrap="square" lIns="0" tIns="0" rIns="0" bIns="0" rtlCol="0" anchor="ctr"/>
          <a:lstStyle/>
          <a:p>
            <a:pPr indent="0" marL="0">
              <a:buNone/>
            </a:pPr>
            <a:r>
              <a:rPr lang="en-US" sz="3800" b="1" dirty="0">
                <a:solidFill>
                  <a:srgbClr val="037C87"/>
                </a:solidFill>
                <a:latin typeface="Cambria" pitchFamily="34" charset="0"/>
                <a:ea typeface="Cambria" pitchFamily="34" charset="-122"/>
                <a:cs typeface="Cambria" pitchFamily="34" charset="-120"/>
              </a:rPr>
              <a:t>3 / 3</a:t>
            </a:r>
            <a:endParaRPr lang="en-US" sz="3800" dirty="0"/>
          </a:p>
        </p:txBody>
      </p:sp>
      <p:sp>
        <p:nvSpPr>
          <p:cNvPr id="17" name="Text 15"/>
          <p:cNvSpPr/>
          <p:nvPr/>
        </p:nvSpPr>
        <p:spPr>
          <a:xfrm>
            <a:off x="5943600" y="4142232"/>
            <a:ext cx="2468880" cy="50292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Pipeline A compiles</a:t>
            </a:r>
            <a:endParaRPr lang="en-US" sz="1150" dirty="0"/>
          </a:p>
        </p:txBody>
      </p:sp>
      <p:sp>
        <p:nvSpPr>
          <p:cNvPr id="18" name="Text 16"/>
          <p:cNvSpPr/>
          <p:nvPr/>
        </p:nvSpPr>
        <p:spPr>
          <a:xfrm>
            <a:off x="8778240" y="3429000"/>
            <a:ext cx="2514600" cy="731520"/>
          </a:xfrm>
          <a:prstGeom prst="rect">
            <a:avLst/>
          </a:prstGeom>
          <a:noFill/>
          <a:ln/>
        </p:spPr>
        <p:txBody>
          <a:bodyPr wrap="square" lIns="0" tIns="0" rIns="0" bIns="0" rtlCol="0" anchor="ctr"/>
          <a:lstStyle/>
          <a:p>
            <a:pPr indent="0" marL="0">
              <a:buNone/>
            </a:pPr>
            <a:r>
              <a:rPr lang="en-US" sz="3800" b="1" dirty="0">
                <a:solidFill>
                  <a:srgbClr val="B85042"/>
                </a:solidFill>
                <a:latin typeface="Cambria" pitchFamily="34" charset="0"/>
                <a:ea typeface="Cambria" pitchFamily="34" charset="-122"/>
                <a:cs typeface="Cambria" pitchFamily="34" charset="-120"/>
              </a:rPr>
              <a:t>1 / 3</a:t>
            </a:r>
            <a:endParaRPr lang="en-US" sz="3800" dirty="0"/>
          </a:p>
        </p:txBody>
      </p:sp>
      <p:sp>
        <p:nvSpPr>
          <p:cNvPr id="19" name="Text 17"/>
          <p:cNvSpPr/>
          <p:nvPr/>
        </p:nvSpPr>
        <p:spPr>
          <a:xfrm>
            <a:off x="8778240" y="4142232"/>
            <a:ext cx="2514600" cy="50292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Pipeline B compiles</a:t>
            </a:r>
            <a:endParaRPr lang="en-US" sz="1150" dirty="0"/>
          </a:p>
        </p:txBody>
      </p:sp>
      <p:sp>
        <p:nvSpPr>
          <p:cNvPr id="20" name="Shape 18"/>
          <p:cNvSpPr/>
          <p:nvPr/>
        </p:nvSpPr>
        <p:spPr>
          <a:xfrm>
            <a:off x="822960" y="5029200"/>
            <a:ext cx="10469880" cy="1097280"/>
          </a:xfrm>
          <a:prstGeom prst="roundRect">
            <a:avLst>
              <a:gd name="adj" fmla="val 5000"/>
            </a:avLst>
          </a:prstGeom>
          <a:solidFill>
            <a:srgbClr val="F2F5F7"/>
          </a:solidFill>
          <a:ln w="9525">
            <a:solidFill>
              <a:srgbClr val="F2F5F7"/>
            </a:solidFill>
            <a:prstDash val="solid"/>
          </a:ln>
        </p:spPr>
      </p:sp>
      <p:sp>
        <p:nvSpPr>
          <p:cNvPr id="21" name="Text 19"/>
          <p:cNvSpPr/>
          <p:nvPr/>
        </p:nvSpPr>
        <p:spPr>
          <a:xfrm>
            <a:off x="1143000" y="5029200"/>
            <a:ext cx="9875520" cy="1097280"/>
          </a:xfrm>
          <a:prstGeom prst="rect">
            <a:avLst/>
          </a:prstGeom>
          <a:noFill/>
          <a:ln/>
        </p:spPr>
        <p:txBody>
          <a:bodyPr wrap="square" lIns="0" tIns="0" rIns="0" bIns="0" rtlCol="0" anchor="ctr"/>
          <a:lstStyle/>
          <a:p>
            <a:pPr indent="0" marL="0">
              <a:buNone/>
            </a:pPr>
            <a:r>
              <a:rPr lang="en-US" sz="1400" i="1" dirty="0">
                <a:solidFill>
                  <a:srgbClr val="1A1A1A"/>
                </a:solidFill>
                <a:latin typeface="Cambria" pitchFamily="34" charset="0"/>
                <a:ea typeface="Cambria" pitchFamily="34" charset="-122"/>
                <a:cs typeface="Cambria" pitchFamily="34" charset="-120"/>
              </a:rPr>
              <a:t>Pipeline A cannot produce this defect. It writes By.cssSelector and By.xpath from a fixed template, over selectors observed in the document. There is no mechanism by which a non-existent method could enter its output. That is the difference between emitting code and predicting it.</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EXPERIMENTAL EVALUATION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39</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Result 3 — cost scales with ambiguity, not with page size</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pic>
        <p:nvPicPr>
          <p:cNvPr id="9" name="Image 0" descr="img/fig11.png">    </p:cNvPr>
          <p:cNvPicPr>
            <a:picLocks noChangeAspect="1"/>
          </p:cNvPicPr>
          <p:nvPr/>
        </p:nvPicPr>
        <p:blipFill>
          <a:blip r:embed="rId1"/>
          <a:stretch>
            <a:fillRect/>
          </a:stretch>
        </p:blipFill>
        <p:spPr>
          <a:xfrm>
            <a:off x="6583680" y="2103120"/>
            <a:ext cx="4709160" cy="2359152"/>
          </a:xfrm>
          <a:prstGeom prst="rect">
            <a:avLst/>
          </a:prstGeom>
        </p:spPr>
      </p:pic>
      <p:sp>
        <p:nvSpPr>
          <p:cNvPr id="10" name="Text 7"/>
          <p:cNvSpPr/>
          <p:nvPr/>
        </p:nvSpPr>
        <p:spPr>
          <a:xfrm>
            <a:off x="822960" y="1828800"/>
            <a:ext cx="2651760" cy="731520"/>
          </a:xfrm>
          <a:prstGeom prst="rect">
            <a:avLst/>
          </a:prstGeom>
          <a:noFill/>
          <a:ln/>
        </p:spPr>
        <p:txBody>
          <a:bodyPr wrap="square" lIns="0" tIns="0" rIns="0" bIns="0" rtlCol="0" anchor="ctr"/>
          <a:lstStyle/>
          <a:p>
            <a:pPr indent="0" marL="0">
              <a:buNone/>
            </a:pPr>
            <a:r>
              <a:rPr lang="en-US" sz="3800" b="1" dirty="0">
                <a:solidFill>
                  <a:srgbClr val="037C87"/>
                </a:solidFill>
                <a:latin typeface="Cambria" pitchFamily="34" charset="0"/>
                <a:ea typeface="Cambria" pitchFamily="34" charset="-122"/>
                <a:cs typeface="Cambria" pitchFamily="34" charset="-120"/>
              </a:rPr>
              <a:t>0</a:t>
            </a:r>
            <a:endParaRPr lang="en-US" sz="3800" dirty="0"/>
          </a:p>
        </p:txBody>
      </p:sp>
      <p:sp>
        <p:nvSpPr>
          <p:cNvPr id="11" name="Text 8"/>
          <p:cNvSpPr/>
          <p:nvPr/>
        </p:nvSpPr>
        <p:spPr>
          <a:xfrm>
            <a:off x="822960" y="2542032"/>
            <a:ext cx="2651760" cy="50292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tokens — Pipeline A</a:t>
            </a:r>
            <a:endParaRPr lang="en-US" sz="1150" dirty="0"/>
          </a:p>
        </p:txBody>
      </p:sp>
      <p:sp>
        <p:nvSpPr>
          <p:cNvPr id="12" name="Text 9"/>
          <p:cNvSpPr/>
          <p:nvPr/>
        </p:nvSpPr>
        <p:spPr>
          <a:xfrm>
            <a:off x="3520440" y="1828800"/>
            <a:ext cx="2743200" cy="731520"/>
          </a:xfrm>
          <a:prstGeom prst="rect">
            <a:avLst/>
          </a:prstGeom>
          <a:noFill/>
          <a:ln/>
        </p:spPr>
        <p:txBody>
          <a:bodyPr wrap="square" lIns="0" tIns="0" rIns="0" bIns="0" rtlCol="0" anchor="ctr"/>
          <a:lstStyle/>
          <a:p>
            <a:pPr indent="0" marL="0">
              <a:buNone/>
            </a:pPr>
            <a:r>
              <a:rPr lang="en-US" sz="3800" b="1" dirty="0">
                <a:solidFill>
                  <a:srgbClr val="B85042"/>
                </a:solidFill>
                <a:latin typeface="Cambria" pitchFamily="34" charset="0"/>
                <a:ea typeface="Cambria" pitchFamily="34" charset="-122"/>
                <a:cs typeface="Cambria" pitchFamily="34" charset="-120"/>
              </a:rPr>
              <a:t>13,732</a:t>
            </a:r>
            <a:endParaRPr lang="en-US" sz="3800" dirty="0"/>
          </a:p>
        </p:txBody>
      </p:sp>
      <p:sp>
        <p:nvSpPr>
          <p:cNvPr id="13" name="Text 10"/>
          <p:cNvSpPr/>
          <p:nvPr/>
        </p:nvSpPr>
        <p:spPr>
          <a:xfrm>
            <a:off x="3520440" y="2542032"/>
            <a:ext cx="2743200" cy="50292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tokens — Pipeline B, one run</a:t>
            </a:r>
            <a:endParaRPr lang="en-US" sz="1150" dirty="0"/>
          </a:p>
        </p:txBody>
      </p:sp>
      <p:sp>
        <p:nvSpPr>
          <p:cNvPr id="14" name="Text 11"/>
          <p:cNvSpPr/>
          <p:nvPr/>
        </p:nvSpPr>
        <p:spPr>
          <a:xfrm>
            <a:off x="822960" y="3291840"/>
            <a:ext cx="5486400" cy="1371600"/>
          </a:xfrm>
          <a:prstGeom prst="rect">
            <a:avLst/>
          </a:prstGeom>
          <a:noFill/>
          <a:ln/>
        </p:spPr>
        <p:txBody>
          <a:bodyPr wrap="square" lIns="0" tIns="0" rIns="0" bIns="0" rtlCol="0" anchor="ctr"/>
          <a:lstStyle/>
          <a:p>
            <a:pPr indent="0" marL="0">
              <a:buNone/>
            </a:pPr>
            <a:r>
              <a:rPr lang="en-US" sz="1200" dirty="0">
                <a:solidFill>
                  <a:srgbClr val="6E7377"/>
                </a:solidFill>
                <a:latin typeface="Calibri" pitchFamily="34" charset="0"/>
                <a:ea typeface="Calibri" pitchFamily="34" charset="-122"/>
                <a:cs typeface="Calibri" pitchFamily="34" charset="-120"/>
              </a:rPr>
              <a:t>Pipeline A consumed nothing because the page yielded zero low-confidence selectors: every element was addressable by a test attribute or an id, so nothing met the escalation condition. This is the gate operating exactly as designed.</a:t>
            </a:r>
            <a:endParaRPr lang="en-US" sz="1200" dirty="0"/>
          </a:p>
        </p:txBody>
      </p:sp>
      <p:sp>
        <p:nvSpPr>
          <p:cNvPr id="15" name="Shape 12"/>
          <p:cNvSpPr/>
          <p:nvPr/>
        </p:nvSpPr>
        <p:spPr>
          <a:xfrm>
            <a:off x="822960" y="4800600"/>
            <a:ext cx="10469880" cy="1325880"/>
          </a:xfrm>
          <a:prstGeom prst="roundRect">
            <a:avLst>
              <a:gd name="adj" fmla="val 4138"/>
            </a:avLst>
          </a:prstGeom>
          <a:solidFill>
            <a:srgbClr val="F2F5F7"/>
          </a:solidFill>
          <a:ln w="9525">
            <a:solidFill>
              <a:srgbClr val="F2F5F7"/>
            </a:solidFill>
            <a:prstDash val="solid"/>
          </a:ln>
        </p:spPr>
      </p:sp>
      <p:sp>
        <p:nvSpPr>
          <p:cNvPr id="16" name="Text 13"/>
          <p:cNvSpPr/>
          <p:nvPr/>
        </p:nvSpPr>
        <p:spPr>
          <a:xfrm>
            <a:off x="1143000" y="4800600"/>
            <a:ext cx="9875520" cy="132588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In currency.  </a:t>
            </a:r>
            <a:pPr indent="0" marL="0">
              <a:buNone/>
            </a:pPr>
            <a:r>
              <a:rPr lang="en-US" sz="1150" dirty="0">
                <a:solidFill>
                  <a:srgbClr val="6E7377"/>
                </a:solidFill>
                <a:latin typeface="Calibri" pitchFamily="34" charset="0"/>
                <a:ea typeface="Calibri" pitchFamily="34" charset="-122"/>
                <a:cs typeface="Calibri" pitchFamily="34" charset="-120"/>
              </a:rPr>
              <a:t>At the published price for this model, the three baseline runs cost $0.0042, $0.0044 and $0.0046 — $0.0132 together, against $0.00. Trivial for one page. But the baseline’s prompt cost is a function of document size and is paid on every regeneration, while Pipeline A’s would rise only if the page became less well instrumented. Two hundred page objects regenerated weekly is on the order of 140 million input tokens a year, against zero.</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EXPERIMENTAL EVALUATION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40</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Result 4 — comparable coverage, different structure</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828800"/>
            <a:ext cx="4937760" cy="2194560"/>
          </a:xfrm>
          <a:prstGeom prst="roundRect">
            <a:avLst>
              <a:gd name="adj" fmla="val 2500"/>
            </a:avLst>
          </a:prstGeom>
          <a:solidFill>
            <a:srgbClr val="E8F2F3"/>
          </a:solidFill>
          <a:ln w="9525">
            <a:solidFill>
              <a:srgbClr val="E8F2F3"/>
            </a:solidFill>
            <a:prstDash val="solid"/>
          </a:ln>
        </p:spPr>
      </p:sp>
      <p:sp>
        <p:nvSpPr>
          <p:cNvPr id="10" name="Text 8"/>
          <p:cNvSpPr/>
          <p:nvPr/>
        </p:nvSpPr>
        <p:spPr>
          <a:xfrm>
            <a:off x="1143000" y="2011680"/>
            <a:ext cx="4389120" cy="274320"/>
          </a:xfrm>
          <a:prstGeom prst="rect">
            <a:avLst/>
          </a:prstGeom>
          <a:noFill/>
          <a:ln/>
        </p:spPr>
        <p:txBody>
          <a:bodyPr wrap="square" lIns="0" tIns="0" rIns="0" bIns="0" rtlCol="0" anchor="ctr"/>
          <a:lstStyle/>
          <a:p>
            <a:pPr indent="0" marL="0">
              <a:buNone/>
            </a:pPr>
            <a:r>
              <a:rPr lang="en-US" sz="1300" b="1" dirty="0">
                <a:solidFill>
                  <a:srgbClr val="037C87"/>
                </a:solidFill>
                <a:latin typeface="Calibri" pitchFamily="34" charset="0"/>
                <a:ea typeface="Calibri" pitchFamily="34" charset="-122"/>
                <a:cs typeface="Calibri" pitchFamily="34" charset="-120"/>
              </a:rPr>
              <a:t>Pipeline A</a:t>
            </a:r>
            <a:endParaRPr lang="en-US" sz="1300" dirty="0"/>
          </a:p>
        </p:txBody>
      </p:sp>
      <p:sp>
        <p:nvSpPr>
          <p:cNvPr id="11" name="Text 9"/>
          <p:cNvSpPr/>
          <p:nvPr/>
        </p:nvSpPr>
        <p:spPr>
          <a:xfrm>
            <a:off x="1143000" y="2331720"/>
            <a:ext cx="4434840" cy="91440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3 page-level selectors, plus two component classes: a menu covering 4 items and a product card covering 6, each scoped to one card’s root element.</a:t>
            </a:r>
            <a:endParaRPr lang="en-US" sz="1150" dirty="0"/>
          </a:p>
        </p:txBody>
      </p:sp>
      <p:sp>
        <p:nvSpPr>
          <p:cNvPr id="12" name="Text 10"/>
          <p:cNvSpPr/>
          <p:nvPr/>
        </p:nvSpPr>
        <p:spPr>
          <a:xfrm>
            <a:off x="1143000" y="3383280"/>
            <a:ext cx="4434840" cy="457200"/>
          </a:xfrm>
          <a:prstGeom prst="rect">
            <a:avLst/>
          </a:prstGeom>
          <a:noFill/>
          <a:ln/>
        </p:spPr>
        <p:txBody>
          <a:bodyPr wrap="square" lIns="0" tIns="0" rIns="0" bIns="0" rtlCol="0" anchor="ctr"/>
          <a:lstStyle/>
          <a:p>
            <a:pPr indent="0" marL="0">
              <a:buNone/>
            </a:pPr>
            <a:r>
              <a:rPr lang="en-US" sz="1200" b="1" dirty="0">
                <a:solidFill>
                  <a:srgbClr val="037C87"/>
                </a:solidFill>
                <a:latin typeface="Calibri" pitchFamily="34" charset="0"/>
                <a:ea typeface="Calibri" pitchFamily="34" charset="-122"/>
                <a:cs typeface="Calibri" pitchFamily="34" charset="-120"/>
              </a:rPr>
              <a:t>Indifferent to how many products exist.</a:t>
            </a:r>
            <a:endParaRPr lang="en-US" sz="1200" dirty="0"/>
          </a:p>
        </p:txBody>
      </p:sp>
      <p:sp>
        <p:nvSpPr>
          <p:cNvPr id="13" name="Shape 11"/>
          <p:cNvSpPr/>
          <p:nvPr/>
        </p:nvSpPr>
        <p:spPr>
          <a:xfrm>
            <a:off x="6355080" y="1828800"/>
            <a:ext cx="4937760" cy="2194560"/>
          </a:xfrm>
          <a:prstGeom prst="roundRect">
            <a:avLst>
              <a:gd name="adj" fmla="val 2500"/>
            </a:avLst>
          </a:prstGeom>
          <a:solidFill>
            <a:srgbClr val="F7ECEA"/>
          </a:solidFill>
          <a:ln w="9525">
            <a:solidFill>
              <a:srgbClr val="F7ECEA"/>
            </a:solidFill>
            <a:prstDash val="solid"/>
          </a:ln>
        </p:spPr>
      </p:sp>
      <p:sp>
        <p:nvSpPr>
          <p:cNvPr id="14" name="Text 12"/>
          <p:cNvSpPr/>
          <p:nvPr/>
        </p:nvSpPr>
        <p:spPr>
          <a:xfrm>
            <a:off x="6675120" y="2011680"/>
            <a:ext cx="4389120" cy="274320"/>
          </a:xfrm>
          <a:prstGeom prst="rect">
            <a:avLst/>
          </a:prstGeom>
          <a:noFill/>
          <a:ln/>
        </p:spPr>
        <p:txBody>
          <a:bodyPr wrap="square" lIns="0" tIns="0" rIns="0" bIns="0" rtlCol="0" anchor="ctr"/>
          <a:lstStyle/>
          <a:p>
            <a:pPr indent="0" marL="0">
              <a:buNone/>
            </a:pPr>
            <a:r>
              <a:rPr lang="en-US" sz="1300" b="1" dirty="0">
                <a:solidFill>
                  <a:srgbClr val="B85042"/>
                </a:solidFill>
                <a:latin typeface="Calibri" pitchFamily="34" charset="0"/>
                <a:ea typeface="Calibri" pitchFamily="34" charset="-122"/>
                <a:cs typeface="Calibri" pitchFamily="34" charset="-120"/>
              </a:rPr>
              <a:t>Pipeline B</a:t>
            </a:r>
            <a:endParaRPr lang="en-US" sz="1300" dirty="0"/>
          </a:p>
        </p:txBody>
      </p:sp>
      <p:sp>
        <p:nvSpPr>
          <p:cNvPr id="15" name="Text 13"/>
          <p:cNvSpPr/>
          <p:nvPr/>
        </p:nvSpPr>
        <p:spPr>
          <a:xfrm>
            <a:off x="6675120" y="2331720"/>
            <a:ext cx="4434840" cy="91440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6 individually hard-coded methods — addBackpackToCart(), addBikeLightToCart() — one per product present at the moment of generation.</a:t>
            </a:r>
            <a:endParaRPr lang="en-US" sz="1150" dirty="0"/>
          </a:p>
        </p:txBody>
      </p:sp>
      <p:sp>
        <p:nvSpPr>
          <p:cNvPr id="16" name="Text 14"/>
          <p:cNvSpPr/>
          <p:nvPr/>
        </p:nvSpPr>
        <p:spPr>
          <a:xfrm>
            <a:off x="6675120" y="3383280"/>
            <a:ext cx="4434840" cy="457200"/>
          </a:xfrm>
          <a:prstGeom prst="rect">
            <a:avLst/>
          </a:prstGeom>
          <a:noFill/>
          <a:ln/>
        </p:spPr>
        <p:txBody>
          <a:bodyPr wrap="square" lIns="0" tIns="0" rIns="0" bIns="0" rtlCol="0" anchor="ctr"/>
          <a:lstStyle/>
          <a:p>
            <a:pPr indent="0" marL="0">
              <a:buNone/>
            </a:pPr>
            <a:r>
              <a:rPr lang="en-US" sz="1200" b="1" dirty="0">
                <a:solidFill>
                  <a:srgbClr val="B85042"/>
                </a:solidFill>
                <a:latin typeface="Calibri" pitchFamily="34" charset="0"/>
                <a:ea typeface="Calibri" pitchFamily="34" charset="-122"/>
                <a:cs typeface="Calibri" pitchFamily="34" charset="-120"/>
              </a:rPr>
              <a:t>The catalogue is encoded into the interface.</a:t>
            </a:r>
            <a:endParaRPr lang="en-US" sz="1200" dirty="0"/>
          </a:p>
        </p:txBody>
      </p:sp>
      <p:sp>
        <p:nvSpPr>
          <p:cNvPr id="17" name="Text 15"/>
          <p:cNvSpPr/>
          <p:nvPr/>
        </p:nvSpPr>
        <p:spPr>
          <a:xfrm>
            <a:off x="822960" y="4343400"/>
            <a:ext cx="10469880" cy="777240"/>
          </a:xfrm>
          <a:prstGeom prst="rect">
            <a:avLst/>
          </a:prstGeom>
          <a:noFill/>
          <a:ln/>
        </p:spPr>
        <p:txBody>
          <a:bodyPr wrap="square" lIns="0" tIns="0" rIns="0" bIns="0" rtlCol="0" anchor="ctr"/>
          <a:lstStyle/>
          <a:p>
            <a:pPr algn="ctr" indent="0" marL="0">
              <a:buNone/>
            </a:pPr>
            <a:r>
              <a:rPr lang="en-US" sz="1600" dirty="0">
                <a:solidFill>
                  <a:srgbClr val="1A1A1A"/>
                </a:solidFill>
                <a:latin typeface="Cambria" pitchFamily="34" charset="0"/>
                <a:ea typeface="Cambria" pitchFamily="34" charset="-122"/>
                <a:cs typeface="Cambria" pitchFamily="34" charset="-120"/>
              </a:rPr>
              <a:t>Add a seventh product and the baseline’s class is silently incomplete.</a:t>
            </a:r>
            <a:endParaRPr lang="en-US" sz="1600" dirty="0"/>
          </a:p>
          <a:p>
            <a:pPr algn="ctr" indent="0" marL="0">
              <a:buNone/>
            </a:pPr>
            <a:r>
              <a:rPr lang="en-US" sz="1600" dirty="0">
                <a:solidFill>
                  <a:srgbClr val="1A1A1A"/>
                </a:solidFill>
                <a:latin typeface="Cambria" pitchFamily="34" charset="0"/>
                <a:ea typeface="Cambria" pitchFamily="34" charset="-122"/>
                <a:cs typeface="Cambria" pitchFamily="34" charset="-120"/>
              </a:rPr>
              <a:t>Remove one and it has a method that can no longer work.</a:t>
            </a:r>
            <a:endParaRPr lang="en-US" sz="1600" dirty="0"/>
          </a:p>
        </p:txBody>
      </p:sp>
      <p:sp>
        <p:nvSpPr>
          <p:cNvPr id="18" name="Text 16"/>
          <p:cNvSpPr/>
          <p:nvPr/>
        </p:nvSpPr>
        <p:spPr>
          <a:xfrm>
            <a:off x="822960" y="5257800"/>
            <a:ext cx="10469880" cy="411480"/>
          </a:xfrm>
          <a:prstGeom prst="rect">
            <a:avLst/>
          </a:prstGeom>
          <a:noFill/>
          <a:ln/>
        </p:spPr>
        <p:txBody>
          <a:bodyPr wrap="square" lIns="0" tIns="0" rIns="0" bIns="0" rtlCol="0" anchor="ctr"/>
          <a:lstStyle/>
          <a:p>
            <a:pPr algn="ctr" indent="0" marL="0">
              <a:buNone/>
            </a:pPr>
            <a:r>
              <a:rPr lang="en-US" sz="1300" b="1" dirty="0">
                <a:solidFill>
                  <a:srgbClr val="074D83"/>
                </a:solidFill>
                <a:latin typeface="Calibri" pitchFamily="34" charset="0"/>
                <a:ea typeface="Calibri" pitchFamily="34" charset="-122"/>
                <a:cs typeface="Calibri" pitchFamily="34" charset="-120"/>
              </a:rPr>
              <a:t>The functional coverage is comparable. The structural quality is not.</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EXPERIMENTAL EVALUATION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41</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Defects in my own pipeline</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Text 7"/>
          <p:cNvSpPr/>
          <p:nvPr/>
        </p:nvSpPr>
        <p:spPr>
          <a:xfrm>
            <a:off x="822960" y="1572768"/>
            <a:ext cx="10469880" cy="320040"/>
          </a:xfrm>
          <a:prstGeom prst="rect">
            <a:avLst/>
          </a:prstGeom>
          <a:noFill/>
          <a:ln/>
        </p:spPr>
        <p:txBody>
          <a:bodyPr wrap="square" lIns="0" tIns="0" rIns="0" bIns="0" rtlCol="0" anchor="ctr"/>
          <a:lstStyle/>
          <a:p>
            <a:pPr algn="ctr" indent="0" marL="0">
              <a:buNone/>
            </a:pPr>
            <a:r>
              <a:rPr lang="en-US" sz="1200" i="1" dirty="0">
                <a:solidFill>
                  <a:srgbClr val="6E7377"/>
                </a:solidFill>
                <a:latin typeface="Calibri" pitchFamily="34" charset="0"/>
                <a:ea typeface="Calibri" pitchFamily="34" charset="-122"/>
                <a:cs typeface="Calibri" pitchFamily="34" charset="-120"/>
              </a:rPr>
              <a:t>Reporting only the baseline’s defects would make this an advertisement rather than an evaluation.</a:t>
            </a:r>
            <a:endParaRPr lang="en-US" sz="1200" dirty="0"/>
          </a:p>
        </p:txBody>
      </p:sp>
      <p:sp>
        <p:nvSpPr>
          <p:cNvPr id="10" name="Shape 8"/>
          <p:cNvSpPr/>
          <p:nvPr/>
        </p:nvSpPr>
        <p:spPr>
          <a:xfrm>
            <a:off x="822960" y="1965960"/>
            <a:ext cx="10469880" cy="1143000"/>
          </a:xfrm>
          <a:prstGeom prst="roundRect">
            <a:avLst>
              <a:gd name="adj" fmla="val 4800"/>
            </a:avLst>
          </a:prstGeom>
          <a:solidFill>
            <a:srgbClr val="1B2A33"/>
          </a:solidFill>
          <a:ln w="12700">
            <a:solidFill>
              <a:srgbClr val="333333"/>
            </a:solidFill>
            <a:prstDash val="solid"/>
          </a:ln>
        </p:spPr>
      </p:sp>
      <p:sp>
        <p:nvSpPr>
          <p:cNvPr id="11" name="Text 9"/>
          <p:cNvSpPr/>
          <p:nvPr/>
        </p:nvSpPr>
        <p:spPr>
          <a:xfrm>
            <a:off x="1051560" y="1965960"/>
            <a:ext cx="10012680" cy="114300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public void clickAllItems()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WebElement el = root.findElement(By.cssSelector("a.bm-item"));   // root IS the a.bm-item</a:t>
            </a:r>
            <a:endParaRPr lang="en-US" sz="1200" dirty="0"/>
          </a:p>
        </p:txBody>
      </p:sp>
      <p:sp>
        <p:nvSpPr>
          <p:cNvPr id="12" name="Text 10"/>
          <p:cNvSpPr/>
          <p:nvPr/>
        </p:nvSpPr>
        <p:spPr>
          <a:xfrm>
            <a:off x="822960" y="3291840"/>
            <a:ext cx="10469880" cy="411480"/>
          </a:xfrm>
          <a:prstGeom prst="rect">
            <a:avLst/>
          </a:prstGeom>
          <a:noFill/>
          <a:ln/>
        </p:spPr>
        <p:txBody>
          <a:bodyPr wrap="square" lIns="0" tIns="0" rIns="0" bIns="0" rtlCol="0" anchor="ctr"/>
          <a:lstStyle/>
          <a:p>
            <a:pPr algn="ctr" indent="0" marL="0">
              <a:buNone/>
            </a:pPr>
            <a:r>
              <a:rPr lang="en-US" sz="1200" dirty="0">
                <a:solidFill>
                  <a:srgbClr val="6E7377"/>
                </a:solidFill>
                <a:latin typeface="Calibri" pitchFamily="34" charset="0"/>
                <a:ea typeface="Calibri" pitchFamily="34" charset="-122"/>
                <a:cs typeface="Calibri" pitchFamily="34" charset="-120"/>
              </a:rPr>
              <a:t>jsoup’s select() includes the element itself; Selenium’s findElement() searches descendants only. The generated locator searches inside an anchor for another anchor.</a:t>
            </a:r>
            <a:endParaRPr lang="en-US" sz="1200" dirty="0"/>
          </a:p>
        </p:txBody>
      </p:sp>
      <p:sp>
        <p:nvSpPr>
          <p:cNvPr id="13" name="Text 11"/>
          <p:cNvSpPr/>
          <p:nvPr/>
        </p:nvSpPr>
        <p:spPr>
          <a:xfrm>
            <a:off x="822960" y="3840480"/>
            <a:ext cx="2560320" cy="731520"/>
          </a:xfrm>
          <a:prstGeom prst="rect">
            <a:avLst/>
          </a:prstGeom>
          <a:noFill/>
          <a:ln/>
        </p:spPr>
        <p:txBody>
          <a:bodyPr wrap="square" lIns="0" tIns="0" rIns="0" bIns="0" rtlCol="0" anchor="ctr"/>
          <a:lstStyle/>
          <a:p>
            <a:pPr indent="0" marL="0">
              <a:buNone/>
            </a:pPr>
            <a:r>
              <a:rPr lang="en-US" sz="3800" b="1" dirty="0">
                <a:solidFill>
                  <a:srgbClr val="B85042"/>
                </a:solidFill>
                <a:latin typeface="Cambria" pitchFamily="34" charset="0"/>
                <a:ea typeface="Cambria" pitchFamily="34" charset="-122"/>
                <a:cs typeface="Cambria" pitchFamily="34" charset="-120"/>
              </a:rPr>
              <a:t>0 / 4</a:t>
            </a:r>
            <a:endParaRPr lang="en-US" sz="3800" dirty="0"/>
          </a:p>
        </p:txBody>
      </p:sp>
      <p:sp>
        <p:nvSpPr>
          <p:cNvPr id="14" name="Text 12"/>
          <p:cNvSpPr/>
          <p:nvPr/>
        </p:nvSpPr>
        <p:spPr>
          <a:xfrm>
            <a:off x="822960" y="4553712"/>
            <a:ext cx="2560320" cy="50292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instances resolved — every call throws</a:t>
            </a:r>
            <a:endParaRPr lang="en-US" sz="1150" dirty="0"/>
          </a:p>
        </p:txBody>
      </p:sp>
      <p:sp>
        <p:nvSpPr>
          <p:cNvPr id="15" name="Text 13"/>
          <p:cNvSpPr/>
          <p:nvPr/>
        </p:nvSpPr>
        <p:spPr>
          <a:xfrm>
            <a:off x="3657600" y="3840480"/>
            <a:ext cx="3017520" cy="731520"/>
          </a:xfrm>
          <a:prstGeom prst="rect">
            <a:avLst/>
          </a:prstGeom>
          <a:noFill/>
          <a:ln/>
        </p:spPr>
        <p:txBody>
          <a:bodyPr wrap="square" lIns="0" tIns="0" rIns="0" bIns="0" rtlCol="0" anchor="ctr"/>
          <a:lstStyle/>
          <a:p>
            <a:pPr indent="0" marL="0">
              <a:buNone/>
            </a:pPr>
            <a:r>
              <a:rPr lang="en-US" sz="3800" b="1" dirty="0">
                <a:solidFill>
                  <a:srgbClr val="B85042"/>
                </a:solidFill>
                <a:latin typeface="Cambria" pitchFamily="34" charset="0"/>
                <a:ea typeface="Cambria" pitchFamily="34" charset="-122"/>
                <a:cs typeface="Cambria" pitchFamily="34" charset="-120"/>
              </a:rPr>
              <a:t>1 / 6</a:t>
            </a:r>
            <a:endParaRPr lang="en-US" sz="3800" dirty="0"/>
          </a:p>
        </p:txBody>
      </p:sp>
      <p:sp>
        <p:nvSpPr>
          <p:cNvPr id="16" name="Text 14"/>
          <p:cNvSpPr/>
          <p:nvPr/>
        </p:nvSpPr>
        <p:spPr>
          <a:xfrm>
            <a:off x="3657600" y="4553712"/>
            <a:ext cx="3017520" cy="50292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a second defect: a component role named from one card’s product text</a:t>
            </a:r>
            <a:endParaRPr lang="en-US" sz="1150" dirty="0"/>
          </a:p>
        </p:txBody>
      </p:sp>
      <p:sp>
        <p:nvSpPr>
          <p:cNvPr id="17" name="Text 15"/>
          <p:cNvSpPr/>
          <p:nvPr/>
        </p:nvSpPr>
        <p:spPr>
          <a:xfrm>
            <a:off x="6949440" y="3840480"/>
            <a:ext cx="4343400" cy="731520"/>
          </a:xfrm>
          <a:prstGeom prst="rect">
            <a:avLst/>
          </a:prstGeom>
          <a:noFill/>
          <a:ln/>
        </p:spPr>
        <p:txBody>
          <a:bodyPr wrap="square" lIns="0" tIns="0" rIns="0" bIns="0" rtlCol="0" anchor="ctr"/>
          <a:lstStyle/>
          <a:p>
            <a:pPr indent="0" marL="0">
              <a:buNone/>
            </a:pPr>
            <a:r>
              <a:rPr lang="en-US" sz="3800" b="1" dirty="0">
                <a:solidFill>
                  <a:srgbClr val="037C87"/>
                </a:solidFill>
                <a:latin typeface="Cambria" pitchFamily="34" charset="0"/>
                <a:ea typeface="Cambria" pitchFamily="34" charset="-122"/>
                <a:cs typeface="Cambria" pitchFamily="34" charset="-120"/>
              </a:rPr>
              <a:t>19 / 19</a:t>
            </a:r>
            <a:endParaRPr lang="en-US" sz="3800" dirty="0"/>
          </a:p>
        </p:txBody>
      </p:sp>
      <p:sp>
        <p:nvSpPr>
          <p:cNvPr id="18" name="Text 16"/>
          <p:cNvSpPr/>
          <p:nvPr/>
        </p:nvSpPr>
        <p:spPr>
          <a:xfrm>
            <a:off x="6949440" y="4553712"/>
            <a:ext cx="4343400" cy="50292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and the one baseline run that compiled had every locator correct</a:t>
            </a:r>
            <a:endParaRPr lang="en-US" sz="1150" dirty="0"/>
          </a:p>
        </p:txBody>
      </p:sp>
      <p:sp>
        <p:nvSpPr>
          <p:cNvPr id="19" name="Shape 17"/>
          <p:cNvSpPr/>
          <p:nvPr/>
        </p:nvSpPr>
        <p:spPr>
          <a:xfrm>
            <a:off x="822960" y="5440680"/>
            <a:ext cx="10469880" cy="731520"/>
          </a:xfrm>
          <a:prstGeom prst="roundRect">
            <a:avLst>
              <a:gd name="adj" fmla="val 7500"/>
            </a:avLst>
          </a:prstGeom>
          <a:solidFill>
            <a:srgbClr val="F2F5F7"/>
          </a:solidFill>
          <a:ln w="9525">
            <a:solidFill>
              <a:srgbClr val="F2F5F7"/>
            </a:solidFill>
            <a:prstDash val="solid"/>
          </a:ln>
        </p:spPr>
      </p:sp>
      <p:sp>
        <p:nvSpPr>
          <p:cNvPr id="20" name="Text 18"/>
          <p:cNvSpPr/>
          <p:nvPr/>
        </p:nvSpPr>
        <p:spPr>
          <a:xfrm>
            <a:off x="1143000" y="5440680"/>
            <a:ext cx="9875520" cy="73152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It was not caught during the campaign because no test ever executed that component. An artefact that compiles, reads correctly and is never run will not reveal a defect of this kind.</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EXPERIMENTAL EVALUATION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42</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What the measurements support</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828800"/>
            <a:ext cx="4937760" cy="2926080"/>
          </a:xfrm>
          <a:prstGeom prst="roundRect">
            <a:avLst>
              <a:gd name="adj" fmla="val 1875"/>
            </a:avLst>
          </a:prstGeom>
          <a:solidFill>
            <a:srgbClr val="E8F2F3"/>
          </a:solidFill>
          <a:ln w="9525">
            <a:solidFill>
              <a:srgbClr val="E8F2F3"/>
            </a:solidFill>
            <a:prstDash val="solid"/>
          </a:ln>
        </p:spPr>
      </p:sp>
      <p:sp>
        <p:nvSpPr>
          <p:cNvPr id="10" name="Text 8"/>
          <p:cNvSpPr/>
          <p:nvPr/>
        </p:nvSpPr>
        <p:spPr>
          <a:xfrm>
            <a:off x="1143000" y="2029968"/>
            <a:ext cx="4389120" cy="365760"/>
          </a:xfrm>
          <a:prstGeom prst="rect">
            <a:avLst/>
          </a:prstGeom>
          <a:noFill/>
          <a:ln/>
        </p:spPr>
        <p:txBody>
          <a:bodyPr wrap="square" lIns="0" tIns="0" rIns="0" bIns="0" rtlCol="0" anchor="ctr"/>
          <a:lstStyle/>
          <a:p>
            <a:pPr indent="0" marL="0">
              <a:buNone/>
            </a:pPr>
            <a:r>
              <a:rPr lang="en-US" sz="2000" b="1" dirty="0">
                <a:solidFill>
                  <a:srgbClr val="037C87"/>
                </a:solidFill>
                <a:latin typeface="Cambria" pitchFamily="34" charset="0"/>
                <a:ea typeface="Cambria" pitchFamily="34" charset="-122"/>
                <a:cs typeface="Cambria" pitchFamily="34" charset="-120"/>
              </a:rPr>
              <a:t>Structure</a:t>
            </a:r>
            <a:endParaRPr lang="en-US" sz="2000" dirty="0"/>
          </a:p>
        </p:txBody>
      </p:sp>
      <p:sp>
        <p:nvSpPr>
          <p:cNvPr id="11" name="Text 9"/>
          <p:cNvSpPr/>
          <p:nvPr/>
        </p:nvSpPr>
        <p:spPr>
          <a:xfrm>
            <a:off x="1143000" y="2468880"/>
            <a:ext cx="4389120" cy="54864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Which elements exist · how they repeat · how to address them durably</a:t>
            </a:r>
            <a:endParaRPr lang="en-US" sz="1250" dirty="0"/>
          </a:p>
        </p:txBody>
      </p:sp>
      <p:sp>
        <p:nvSpPr>
          <p:cNvPr id="12" name="Text 10"/>
          <p:cNvSpPr/>
          <p:nvPr/>
        </p:nvSpPr>
        <p:spPr>
          <a:xfrm>
            <a:off x="1143000" y="3154680"/>
            <a:ext cx="4389120" cy="86868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Better solved deterministically. Determinism buys reproducibility, traceability and zero marginal cost.</a:t>
            </a:r>
            <a:endParaRPr lang="en-US" sz="1150" dirty="0"/>
          </a:p>
        </p:txBody>
      </p:sp>
      <p:sp>
        <p:nvSpPr>
          <p:cNvPr id="13" name="Text 11"/>
          <p:cNvSpPr/>
          <p:nvPr/>
        </p:nvSpPr>
        <p:spPr>
          <a:xfrm>
            <a:off x="1143000" y="4114800"/>
            <a:ext cx="4389120" cy="365760"/>
          </a:xfrm>
          <a:prstGeom prst="rect">
            <a:avLst/>
          </a:prstGeom>
          <a:noFill/>
          <a:ln/>
        </p:spPr>
        <p:txBody>
          <a:bodyPr wrap="square" lIns="0" tIns="0" rIns="0" bIns="0" rtlCol="0" anchor="ctr"/>
          <a:lstStyle/>
          <a:p>
            <a:pPr indent="0" marL="0">
              <a:buNone/>
            </a:pPr>
            <a:r>
              <a:rPr lang="en-US" sz="1100" dirty="0">
                <a:solidFill>
                  <a:srgbClr val="B85042"/>
                </a:solidFill>
                <a:latin typeface="Courier New" pitchFamily="34" charset="0"/>
                <a:ea typeface="Courier New" pitchFamily="34" charset="-122"/>
                <a:cs typeface="Courier New" pitchFamily="34" charset="-120"/>
              </a:rPr>
              <a:t>click6Polo()   getText5HM()</a:t>
            </a:r>
            <a:endParaRPr lang="en-US" sz="1100" dirty="0"/>
          </a:p>
        </p:txBody>
      </p:sp>
      <p:sp>
        <p:nvSpPr>
          <p:cNvPr id="14" name="Shape 12"/>
          <p:cNvSpPr/>
          <p:nvPr/>
        </p:nvSpPr>
        <p:spPr>
          <a:xfrm>
            <a:off x="6355080" y="1828800"/>
            <a:ext cx="4937760" cy="2926080"/>
          </a:xfrm>
          <a:prstGeom prst="roundRect">
            <a:avLst>
              <a:gd name="adj" fmla="val 1875"/>
            </a:avLst>
          </a:prstGeom>
          <a:solidFill>
            <a:srgbClr val="F7ECEA"/>
          </a:solidFill>
          <a:ln w="9525">
            <a:solidFill>
              <a:srgbClr val="F7ECEA"/>
            </a:solidFill>
            <a:prstDash val="solid"/>
          </a:ln>
        </p:spPr>
      </p:sp>
      <p:sp>
        <p:nvSpPr>
          <p:cNvPr id="15" name="Text 13"/>
          <p:cNvSpPr/>
          <p:nvPr/>
        </p:nvSpPr>
        <p:spPr>
          <a:xfrm>
            <a:off x="6675120" y="2029968"/>
            <a:ext cx="4389120" cy="36576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Semantics</a:t>
            </a:r>
            <a:endParaRPr lang="en-US" sz="2000" dirty="0"/>
          </a:p>
        </p:txBody>
      </p:sp>
      <p:sp>
        <p:nvSpPr>
          <p:cNvPr id="16" name="Text 14"/>
          <p:cNvSpPr/>
          <p:nvPr/>
        </p:nvSpPr>
        <p:spPr>
          <a:xfrm>
            <a:off x="6675120" y="2468880"/>
            <a:ext cx="4389120" cy="54864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What a thing should be called · what an unfamiliar convention means</a:t>
            </a:r>
            <a:endParaRPr lang="en-US" sz="1250" dirty="0"/>
          </a:p>
        </p:txBody>
      </p:sp>
      <p:sp>
        <p:nvSpPr>
          <p:cNvPr id="17" name="Text 15"/>
          <p:cNvSpPr/>
          <p:nvPr/>
        </p:nvSpPr>
        <p:spPr>
          <a:xfrm>
            <a:off x="6675120" y="3154680"/>
            <a:ext cx="4389120" cy="868680"/>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Where a language model contributes something rules cannot supply. It named things well, and inferred a convention unprompted.</a:t>
            </a:r>
            <a:endParaRPr lang="en-US" sz="1150" dirty="0"/>
          </a:p>
        </p:txBody>
      </p:sp>
      <p:sp>
        <p:nvSpPr>
          <p:cNvPr id="18" name="Text 16"/>
          <p:cNvSpPr/>
          <p:nvPr/>
        </p:nvSpPr>
        <p:spPr>
          <a:xfrm>
            <a:off x="6675120" y="4114800"/>
            <a:ext cx="4389120" cy="365760"/>
          </a:xfrm>
          <a:prstGeom prst="rect">
            <a:avLst/>
          </a:prstGeom>
          <a:noFill/>
          <a:ln/>
        </p:spPr>
        <p:txBody>
          <a:bodyPr wrap="square" lIns="0" tIns="0" rIns="0" bIns="0" rtlCol="0" anchor="ctr"/>
          <a:lstStyle/>
          <a:p>
            <a:pPr indent="0" marL="0">
              <a:buNone/>
            </a:pPr>
            <a:r>
              <a:rPr lang="en-US" sz="1100" dirty="0">
                <a:solidFill>
                  <a:srgbClr val="037C87"/>
                </a:solidFill>
                <a:latin typeface="Courier New" pitchFamily="34" charset="0"/>
                <a:ea typeface="Courier New" pitchFamily="34" charset="-122"/>
                <a:cs typeface="Courier New" pitchFamily="34" charset="-120"/>
              </a:rPr>
              <a:t>addBackpackToCart()</a:t>
            </a:r>
            <a:endParaRPr lang="en-US" sz="1100" dirty="0"/>
          </a:p>
        </p:txBody>
      </p:sp>
      <p:sp>
        <p:nvSpPr>
          <p:cNvPr id="19" name="Text 17"/>
          <p:cNvSpPr/>
          <p:nvPr/>
        </p:nvSpPr>
        <p:spPr>
          <a:xfrm>
            <a:off x="822960" y="5120640"/>
            <a:ext cx="10469880" cy="457200"/>
          </a:xfrm>
          <a:prstGeom prst="rect">
            <a:avLst/>
          </a:prstGeom>
          <a:noFill/>
          <a:ln/>
        </p:spPr>
        <p:txBody>
          <a:bodyPr wrap="square" lIns="0" tIns="0" rIns="0" bIns="0" rtlCol="0" anchor="ctr"/>
          <a:lstStyle/>
          <a:p>
            <a:pPr algn="ctr" indent="0" marL="0">
              <a:buNone/>
            </a:pPr>
            <a:r>
              <a:rPr lang="en-US" sz="1600" dirty="0">
                <a:solidFill>
                  <a:srgbClr val="1A1A1A"/>
                </a:solidFill>
                <a:latin typeface="Cambria" pitchFamily="34" charset="0"/>
                <a:ea typeface="Cambria" pitchFamily="34" charset="-122"/>
                <a:cs typeface="Cambria" pitchFamily="34" charset="-120"/>
              </a:rPr>
              <a:t>The two approaches fail in different places. Neither result is a verdict on language models — it is a boundary.</a:t>
            </a:r>
            <a:endParaRPr lang="en-US" sz="1600" dirty="0"/>
          </a:p>
        </p:txBody>
      </p:sp>
      <p:sp>
        <p:nvSpPr>
          <p:cNvPr id="20" name="Text 18"/>
          <p:cNvSpPr/>
          <p:nvPr/>
        </p:nvSpPr>
        <p:spPr>
          <a:xfrm>
            <a:off x="822960" y="5669280"/>
            <a:ext cx="10469880" cy="365760"/>
          </a:xfrm>
          <a:prstGeom prst="rect">
            <a:avLst/>
          </a:prstGeom>
          <a:noFill/>
          <a:ln/>
        </p:spPr>
        <p:txBody>
          <a:bodyPr wrap="square" lIns="0" tIns="0" rIns="0" bIns="0" rtlCol="0" anchor="ctr"/>
          <a:lstStyle/>
          <a:p>
            <a:pPr algn="ctr" indent="0" marL="0">
              <a:buNone/>
            </a:pPr>
            <a:r>
              <a:rPr lang="en-US" sz="1150" dirty="0">
                <a:solidFill>
                  <a:srgbClr val="6E7377"/>
                </a:solidFill>
                <a:latin typeface="Calibri" pitchFamily="34" charset="0"/>
                <a:ea typeface="Calibri" pitchFamily="34" charset="-122"/>
                <a:cs typeface="Calibri" pitchFamily="34" charset="-120"/>
              </a:rPr>
              <a:t>RQ1: yes, with one qualification.   RQ2: decisively, on this page.   RQ3: each dominates on different dimensions.</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PERSONAL ASSESSMENT</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43</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Personal and professional assessment</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783080"/>
            <a:ext cx="10469880" cy="932688"/>
          </a:xfrm>
          <a:prstGeom prst="roundRect">
            <a:avLst>
              <a:gd name="adj" fmla="val 5882"/>
            </a:avLst>
          </a:prstGeom>
          <a:solidFill>
            <a:srgbClr val="F2F5F7"/>
          </a:solidFill>
          <a:ln w="9525">
            <a:solidFill>
              <a:srgbClr val="B9C0C4"/>
            </a:solidFill>
            <a:prstDash val="solid"/>
          </a:ln>
        </p:spPr>
      </p:sp>
      <p:sp>
        <p:nvSpPr>
          <p:cNvPr id="10" name="Text 8"/>
          <p:cNvSpPr/>
          <p:nvPr/>
        </p:nvSpPr>
        <p:spPr>
          <a:xfrm>
            <a:off x="1143000" y="1892808"/>
            <a:ext cx="3017520" cy="713232"/>
          </a:xfrm>
          <a:prstGeom prst="rect">
            <a:avLst/>
          </a:prstGeom>
          <a:noFill/>
          <a:ln/>
        </p:spPr>
        <p:txBody>
          <a:bodyPr wrap="square" lIns="0" tIns="0" rIns="0" bIns="0" rtlCol="0" anchor="ctr"/>
          <a:lstStyle/>
          <a:p>
            <a:pPr indent="0" marL="0">
              <a:buNone/>
            </a:pPr>
            <a:r>
              <a:rPr lang="en-US" sz="1300" b="1" dirty="0">
                <a:solidFill>
                  <a:srgbClr val="074D83"/>
                </a:solidFill>
                <a:latin typeface="Calibri" pitchFamily="34" charset="0"/>
                <a:ea typeface="Calibri" pitchFamily="34" charset="-122"/>
                <a:cs typeface="Calibri" pitchFamily="34" charset="-120"/>
              </a:rPr>
              <a:t>Diagnostic reasoning</a:t>
            </a:r>
            <a:endParaRPr lang="en-US" sz="1300" dirty="0"/>
          </a:p>
        </p:txBody>
      </p:sp>
      <p:sp>
        <p:nvSpPr>
          <p:cNvPr id="11" name="Text 9"/>
          <p:cNvSpPr/>
          <p:nvPr/>
        </p:nvSpPr>
        <p:spPr>
          <a:xfrm>
            <a:off x="4206240" y="1874520"/>
            <a:ext cx="6812280" cy="749808"/>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Every defect in Chapter V was traced to a root cause rather than patched at the symptom — including one where the cause turned out to be outside the DOM entirely.</a:t>
            </a:r>
            <a:endParaRPr lang="en-US" sz="1150" dirty="0"/>
          </a:p>
        </p:txBody>
      </p:sp>
      <p:sp>
        <p:nvSpPr>
          <p:cNvPr id="12" name="Shape 10"/>
          <p:cNvSpPr/>
          <p:nvPr/>
        </p:nvSpPr>
        <p:spPr>
          <a:xfrm>
            <a:off x="822960" y="2834640"/>
            <a:ext cx="10469880" cy="932688"/>
          </a:xfrm>
          <a:prstGeom prst="roundRect">
            <a:avLst>
              <a:gd name="adj" fmla="val 5882"/>
            </a:avLst>
          </a:prstGeom>
          <a:solidFill>
            <a:srgbClr val="F2F5F7"/>
          </a:solidFill>
          <a:ln w="9525">
            <a:solidFill>
              <a:srgbClr val="B9C0C4"/>
            </a:solidFill>
            <a:prstDash val="solid"/>
          </a:ln>
        </p:spPr>
      </p:sp>
      <p:sp>
        <p:nvSpPr>
          <p:cNvPr id="13" name="Text 11"/>
          <p:cNvSpPr/>
          <p:nvPr/>
        </p:nvSpPr>
        <p:spPr>
          <a:xfrm>
            <a:off x="1143000" y="2944368"/>
            <a:ext cx="3017520" cy="713232"/>
          </a:xfrm>
          <a:prstGeom prst="rect">
            <a:avLst/>
          </a:prstGeom>
          <a:noFill/>
          <a:ln/>
        </p:spPr>
        <p:txBody>
          <a:bodyPr wrap="square" lIns="0" tIns="0" rIns="0" bIns="0" rtlCol="0" anchor="ctr"/>
          <a:lstStyle/>
          <a:p>
            <a:pPr indent="0" marL="0">
              <a:buNone/>
            </a:pPr>
            <a:r>
              <a:rPr lang="en-US" sz="1300" b="1" dirty="0">
                <a:solidFill>
                  <a:srgbClr val="074D83"/>
                </a:solidFill>
                <a:latin typeface="Calibri" pitchFamily="34" charset="0"/>
                <a:ea typeface="Calibri" pitchFamily="34" charset="-122"/>
                <a:cs typeface="Calibri" pitchFamily="34" charset="-120"/>
              </a:rPr>
              <a:t>Working against reality</a:t>
            </a:r>
            <a:endParaRPr lang="en-US" sz="1300" dirty="0"/>
          </a:p>
        </p:txBody>
      </p:sp>
      <p:sp>
        <p:nvSpPr>
          <p:cNvPr id="14" name="Text 12"/>
          <p:cNvSpPr/>
          <p:nvPr/>
        </p:nvSpPr>
        <p:spPr>
          <a:xfrm>
            <a:off x="4206240" y="2926080"/>
            <a:ext cx="6812280" cy="749808"/>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Real sites, not fixtures. Every substantive defect was found that way, and none would have appeared on a tutorial page.</a:t>
            </a:r>
            <a:endParaRPr lang="en-US" sz="1150" dirty="0"/>
          </a:p>
        </p:txBody>
      </p:sp>
      <p:sp>
        <p:nvSpPr>
          <p:cNvPr id="15" name="Shape 13"/>
          <p:cNvSpPr/>
          <p:nvPr/>
        </p:nvSpPr>
        <p:spPr>
          <a:xfrm>
            <a:off x="822960" y="3886200"/>
            <a:ext cx="10469880" cy="932688"/>
          </a:xfrm>
          <a:prstGeom prst="roundRect">
            <a:avLst>
              <a:gd name="adj" fmla="val 5882"/>
            </a:avLst>
          </a:prstGeom>
          <a:solidFill>
            <a:srgbClr val="F2F5F7"/>
          </a:solidFill>
          <a:ln w="9525">
            <a:solidFill>
              <a:srgbClr val="B9C0C4"/>
            </a:solidFill>
            <a:prstDash val="solid"/>
          </a:ln>
        </p:spPr>
      </p:sp>
      <p:sp>
        <p:nvSpPr>
          <p:cNvPr id="16" name="Text 14"/>
          <p:cNvSpPr/>
          <p:nvPr/>
        </p:nvSpPr>
        <p:spPr>
          <a:xfrm>
            <a:off x="1143000" y="3995928"/>
            <a:ext cx="3017520" cy="713232"/>
          </a:xfrm>
          <a:prstGeom prst="rect">
            <a:avLst/>
          </a:prstGeom>
          <a:noFill/>
          <a:ln/>
        </p:spPr>
        <p:txBody>
          <a:bodyPr wrap="square" lIns="0" tIns="0" rIns="0" bIns="0" rtlCol="0" anchor="ctr"/>
          <a:lstStyle/>
          <a:p>
            <a:pPr indent="0" marL="0">
              <a:buNone/>
            </a:pPr>
            <a:r>
              <a:rPr lang="en-US" sz="1300" b="1" dirty="0">
                <a:solidFill>
                  <a:srgbClr val="074D83"/>
                </a:solidFill>
                <a:latin typeface="Calibri" pitchFamily="34" charset="0"/>
                <a:ea typeface="Calibri" pitchFamily="34" charset="-122"/>
                <a:cs typeface="Calibri" pitchFamily="34" charset="-120"/>
              </a:rPr>
              <a:t>Measuring rather than asserting</a:t>
            </a:r>
            <a:endParaRPr lang="en-US" sz="1300" dirty="0"/>
          </a:p>
        </p:txBody>
      </p:sp>
      <p:sp>
        <p:nvSpPr>
          <p:cNvPr id="17" name="Text 15"/>
          <p:cNvSpPr/>
          <p:nvPr/>
        </p:nvSpPr>
        <p:spPr>
          <a:xfrm>
            <a:off x="4206240" y="3977640"/>
            <a:ext cx="6812280" cy="749808"/>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Fixing a metric set before measuring, and reporting the results that went against my own system.</a:t>
            </a:r>
            <a:endParaRPr lang="en-US" sz="1150" dirty="0"/>
          </a:p>
        </p:txBody>
      </p:sp>
      <p:sp>
        <p:nvSpPr>
          <p:cNvPr id="18" name="Shape 16"/>
          <p:cNvSpPr/>
          <p:nvPr/>
        </p:nvSpPr>
        <p:spPr>
          <a:xfrm>
            <a:off x="822960" y="4937760"/>
            <a:ext cx="10469880" cy="932688"/>
          </a:xfrm>
          <a:prstGeom prst="roundRect">
            <a:avLst>
              <a:gd name="adj" fmla="val 5882"/>
            </a:avLst>
          </a:prstGeom>
          <a:solidFill>
            <a:srgbClr val="F2F5F7"/>
          </a:solidFill>
          <a:ln w="9525">
            <a:solidFill>
              <a:srgbClr val="B9C0C4"/>
            </a:solidFill>
            <a:prstDash val="solid"/>
          </a:ln>
        </p:spPr>
      </p:sp>
      <p:sp>
        <p:nvSpPr>
          <p:cNvPr id="19" name="Text 17"/>
          <p:cNvSpPr/>
          <p:nvPr/>
        </p:nvSpPr>
        <p:spPr>
          <a:xfrm>
            <a:off x="1143000" y="5047488"/>
            <a:ext cx="3017520" cy="713232"/>
          </a:xfrm>
          <a:prstGeom prst="rect">
            <a:avLst/>
          </a:prstGeom>
          <a:noFill/>
          <a:ln/>
        </p:spPr>
        <p:txBody>
          <a:bodyPr wrap="square" lIns="0" tIns="0" rIns="0" bIns="0" rtlCol="0" anchor="ctr"/>
          <a:lstStyle/>
          <a:p>
            <a:pPr indent="0" marL="0">
              <a:buNone/>
            </a:pPr>
            <a:r>
              <a:rPr lang="en-US" sz="1300" b="1" dirty="0">
                <a:solidFill>
                  <a:srgbClr val="074D83"/>
                </a:solidFill>
                <a:latin typeface="Calibri" pitchFamily="34" charset="0"/>
                <a:ea typeface="Calibri" pitchFamily="34" charset="-122"/>
                <a:cs typeface="Calibri" pitchFamily="34" charset="-120"/>
              </a:rPr>
              <a:t>New technologies</a:t>
            </a:r>
            <a:endParaRPr lang="en-US" sz="1300" dirty="0"/>
          </a:p>
        </p:txBody>
      </p:sp>
      <p:sp>
        <p:nvSpPr>
          <p:cNvPr id="20" name="Text 18"/>
          <p:cNvSpPr/>
          <p:nvPr/>
        </p:nvSpPr>
        <p:spPr>
          <a:xfrm>
            <a:off x="4206240" y="5029200"/>
            <a:ext cx="6812280" cy="749808"/>
          </a:xfrm>
          <a:prstGeom prst="rect">
            <a:avLst/>
          </a:prstGeom>
          <a:noFill/>
          <a:ln/>
        </p:spPr>
        <p:txBody>
          <a:bodyPr wrap="square" lIns="0" tIns="0" rIns="0" bIns="0" rtlCol="0" anchor="ctr"/>
          <a:lstStyle/>
          <a:p>
            <a:pPr indent="0" marL="0">
              <a:buNone/>
            </a:pPr>
            <a:r>
              <a:rPr lang="en-US" sz="1150" dirty="0">
                <a:solidFill>
                  <a:srgbClr val="6E7377"/>
                </a:solidFill>
                <a:latin typeface="Calibri" pitchFamily="34" charset="0"/>
                <a:ea typeface="Calibri" pitchFamily="34" charset="-122"/>
                <a:cs typeface="Calibri" pitchFamily="34" charset="-120"/>
              </a:rPr>
              <a:t>Selenium, TestNG, jsoup, two CI platforms, and two model backends behind one interface.</a:t>
            </a:r>
            <a:endParaRPr lang="en-US" sz="1150" dirty="0"/>
          </a:p>
        </p:txBody>
      </p:sp>
      <p:sp>
        <p:nvSpPr>
          <p:cNvPr id="21" name="Text 19"/>
          <p:cNvSpPr/>
          <p:nvPr/>
        </p:nvSpPr>
        <p:spPr>
          <a:xfrm>
            <a:off x="822960" y="5943600"/>
            <a:ext cx="10469880" cy="320040"/>
          </a:xfrm>
          <a:prstGeom prst="rect">
            <a:avLst/>
          </a:prstGeom>
          <a:noFill/>
          <a:ln/>
        </p:spPr>
        <p:txBody>
          <a:bodyPr wrap="square" lIns="0" tIns="0" rIns="0" bIns="0" rtlCol="0" anchor="ctr"/>
          <a:lstStyle/>
          <a:p>
            <a:pPr algn="ctr" indent="0" marL="0">
              <a:buNone/>
            </a:pPr>
            <a:r>
              <a:rPr lang="en-US" sz="1000" i="1" dirty="0">
                <a:solidFill>
                  <a:srgbClr val="B85042"/>
                </a:solidFill>
                <a:latin typeface="Calibri" pitchFamily="34" charset="0"/>
                <a:ea typeface="Calibri" pitchFamily="34" charset="-122"/>
                <a:cs typeface="Calibri" pitchFamily="34" charset="-120"/>
              </a:rPr>
              <a:t>⟦ Rewrite these four in your own words before the defence — the jury listens closely to this slide, and it must sound like you. ⟧</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PERSPECTIVES</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44</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Perspectives</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Shape 7"/>
          <p:cNvSpPr/>
          <p:nvPr/>
        </p:nvSpPr>
        <p:spPr>
          <a:xfrm>
            <a:off x="822960" y="1737360"/>
            <a:ext cx="10469880" cy="1234440"/>
          </a:xfrm>
          <a:prstGeom prst="roundRect">
            <a:avLst>
              <a:gd name="adj" fmla="val 4444"/>
            </a:avLst>
          </a:prstGeom>
          <a:solidFill>
            <a:srgbClr val="1B2A33"/>
          </a:solidFill>
          <a:ln w="12700">
            <a:solidFill>
              <a:srgbClr val="333333"/>
            </a:solidFill>
            <a:prstDash val="solid"/>
          </a:ln>
        </p:spPr>
      </p:sp>
      <p:sp>
        <p:nvSpPr>
          <p:cNvPr id="10" name="Text 8"/>
          <p:cNvSpPr/>
          <p:nvPr/>
        </p:nvSpPr>
        <p:spPr>
          <a:xfrm>
            <a:off x="1051560" y="1737360"/>
            <a:ext cx="10012680" cy="1234440"/>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Deterministic layer builds the skeleton   →   the model names and prunes it</a:t>
            </a:r>
            <a:endParaRPr lang="en-US" sz="1500" dirty="0"/>
          </a:p>
        </p:txBody>
      </p:sp>
      <p:sp>
        <p:nvSpPr>
          <p:cNvPr id="11" name="Text 9"/>
          <p:cNvSpPr/>
          <p:nvPr/>
        </p:nvSpPr>
        <p:spPr>
          <a:xfrm>
            <a:off x="822960" y="3063240"/>
            <a:ext cx="10469880" cy="320040"/>
          </a:xfrm>
          <a:prstGeom prst="rect">
            <a:avLst/>
          </a:prstGeom>
          <a:noFill/>
          <a:ln/>
        </p:spPr>
        <p:txBody>
          <a:bodyPr wrap="square" lIns="0" tIns="0" rIns="0" bIns="0" rtlCol="0" anchor="ctr"/>
          <a:lstStyle/>
          <a:p>
            <a:pPr algn="ctr" indent="0" marL="0">
              <a:buNone/>
            </a:pPr>
            <a:r>
              <a:rPr lang="en-US" sz="1200" i="1" dirty="0">
                <a:solidFill>
                  <a:srgbClr val="6E7377"/>
                </a:solidFill>
                <a:latin typeface="Calibri" pitchFamily="34" charset="0"/>
                <a:ea typeface="Calibri" pitchFamily="34" charset="-122"/>
                <a:cs typeface="Calibri" pitchFamily="34" charset="-120"/>
              </a:rPr>
              <a:t>The architecture neither pipeline implements — and the principal recommendation of this work</a:t>
            </a:r>
            <a:endParaRPr lang="en-US" sz="1200" dirty="0"/>
          </a:p>
        </p:txBody>
      </p:sp>
      <p:sp>
        <p:nvSpPr>
          <p:cNvPr id="12" name="Text 10"/>
          <p:cNvSpPr/>
          <p:nvPr/>
        </p:nvSpPr>
        <p:spPr>
          <a:xfrm>
            <a:off x="822960" y="3520440"/>
            <a:ext cx="4937760" cy="274320"/>
          </a:xfrm>
          <a:prstGeom prst="rect">
            <a:avLst/>
          </a:prstGeom>
          <a:noFill/>
          <a:ln/>
        </p:spPr>
        <p:txBody>
          <a:bodyPr wrap="square" lIns="0" tIns="0" rIns="0" bIns="0" rtlCol="0" anchor="ctr"/>
          <a:lstStyle/>
          <a:p>
            <a:pPr indent="0" marL="0">
              <a:buNone/>
            </a:pPr>
            <a:r>
              <a:rPr lang="en-US" sz="1250" b="1" dirty="0">
                <a:solidFill>
                  <a:srgbClr val="074D83"/>
                </a:solidFill>
                <a:latin typeface="Calibri" pitchFamily="34" charset="0"/>
                <a:ea typeface="Calibri" pitchFamily="34" charset="-122"/>
                <a:cs typeface="Calibri" pitchFamily="34" charset="-120"/>
              </a:rPr>
              <a:t>Why this is the right shape</a:t>
            </a:r>
            <a:endParaRPr lang="en-US" sz="1250" dirty="0"/>
          </a:p>
        </p:txBody>
      </p:sp>
      <p:sp>
        <p:nvSpPr>
          <p:cNvPr id="13" name="Text 11"/>
          <p:cNvSpPr/>
          <p:nvPr/>
        </p:nvSpPr>
        <p:spPr>
          <a:xfrm>
            <a:off x="822960" y="3886200"/>
            <a:ext cx="5029200" cy="2011680"/>
          </a:xfrm>
          <a:prstGeom prst="rect">
            <a:avLst/>
          </a:prstGeom>
          <a:noFill/>
          <a:ln/>
        </p:spPr>
        <p:txBody>
          <a:bodyPr wrap="square" lIns="0" tIns="0" rIns="0" bIns="0" rtlCol="0" anchor="ctr"/>
          <a:lstStyle/>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The model receives a compact structured description, not raw markup — a fraction of the token cost.</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Its output is names, not code — so a hallucinated method cannot enter the artefact at all.</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The pipeline already knows exactly which names it could not derive.</a:t>
            </a:r>
            <a:endParaRPr lang="en-US" sz="1150" dirty="0"/>
          </a:p>
        </p:txBody>
      </p:sp>
      <p:sp>
        <p:nvSpPr>
          <p:cNvPr id="14" name="Text 12"/>
          <p:cNvSpPr/>
          <p:nvPr/>
        </p:nvSpPr>
        <p:spPr>
          <a:xfrm>
            <a:off x="6355080" y="3520440"/>
            <a:ext cx="4937760" cy="274320"/>
          </a:xfrm>
          <a:prstGeom prst="rect">
            <a:avLst/>
          </a:prstGeom>
          <a:noFill/>
          <a:ln/>
        </p:spPr>
        <p:txBody>
          <a:bodyPr wrap="square" lIns="0" tIns="0" rIns="0" bIns="0" rtlCol="0" anchor="ctr"/>
          <a:lstStyle/>
          <a:p>
            <a:pPr indent="0" marL="0">
              <a:buNone/>
            </a:pPr>
            <a:r>
              <a:rPr lang="en-US" sz="1250" b="1" dirty="0">
                <a:solidFill>
                  <a:srgbClr val="074D83"/>
                </a:solidFill>
                <a:latin typeface="Calibri" pitchFamily="34" charset="0"/>
                <a:ea typeface="Calibri" pitchFamily="34" charset="-122"/>
                <a:cs typeface="Calibri" pitchFamily="34" charset="-120"/>
              </a:rPr>
              <a:t>Also next</a:t>
            </a:r>
            <a:endParaRPr lang="en-US" sz="1250" dirty="0"/>
          </a:p>
        </p:txBody>
      </p:sp>
      <p:sp>
        <p:nvSpPr>
          <p:cNvPr id="15" name="Text 13"/>
          <p:cNvSpPr/>
          <p:nvPr/>
        </p:nvSpPr>
        <p:spPr>
          <a:xfrm>
            <a:off x="6355080" y="3886200"/>
            <a:ext cx="4937760" cy="2011680"/>
          </a:xfrm>
          <a:prstGeom prst="rect">
            <a:avLst/>
          </a:prstGeom>
          <a:noFill/>
          <a:ln/>
        </p:spPr>
        <p:txBody>
          <a:bodyPr wrap="square" lIns="0" tIns="0" rIns="0" bIns="0" rtlCol="0" anchor="ctr"/>
          <a:lstStyle/>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Extend the campaign to the full six-page set, enabling quantitative rather than categorical claims.</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Golden-file tests over whole saved pages.</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Support for &lt;select&gt; through Selenium’s Select class — the one dimension where the baseline had broader coverage.</a:t>
            </a:r>
            <a:endParaRPr lang="en-US" sz="1150" dirty="0"/>
          </a:p>
          <a:p>
            <a:pPr marL="342900" indent="-342900">
              <a:spcAft>
                <a:spcPts val="1000"/>
              </a:spcAft>
              <a:buSzPct val="100000"/>
              <a:buChar char="•"/>
            </a:pPr>
            <a:r>
              <a:rPr lang="en-US" sz="1150" dirty="0">
                <a:solidFill>
                  <a:srgbClr val="1A1A1A"/>
                </a:solidFill>
                <a:latin typeface="Calibri" pitchFamily="34" charset="0"/>
                <a:ea typeface="Calibri" pitchFamily="34" charset="-122"/>
                <a:cs typeface="Calibri" pitchFamily="34" charset="-120"/>
              </a:rPr>
              <a:t>Self-healing locators at runtime.</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CONCLUSION</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45</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Conclusion</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sp>
        <p:nvSpPr>
          <p:cNvPr id="9" name="Text 7"/>
          <p:cNvSpPr/>
          <p:nvPr/>
        </p:nvSpPr>
        <p:spPr>
          <a:xfrm>
            <a:off x="822960" y="1874520"/>
            <a:ext cx="10469880" cy="1005840"/>
          </a:xfrm>
          <a:prstGeom prst="rect">
            <a:avLst/>
          </a:prstGeom>
          <a:noFill/>
          <a:ln/>
        </p:spPr>
        <p:txBody>
          <a:bodyPr wrap="square" lIns="0" tIns="0" rIns="0" bIns="0" rtlCol="0" anchor="ctr"/>
          <a:lstStyle/>
          <a:p>
            <a:pPr algn="ctr" indent="0" marL="0">
              <a:buNone/>
            </a:pPr>
            <a:r>
              <a:rPr lang="en-US" sz="2200" b="1" dirty="0">
                <a:solidFill>
                  <a:srgbClr val="1A1A1A"/>
                </a:solidFill>
                <a:latin typeface="Cambria" pitchFamily="34" charset="0"/>
                <a:ea typeface="Cambria" pitchFamily="34" charset="-122"/>
                <a:cs typeface="Cambria" pitchFamily="34" charset="-120"/>
              </a:rPr>
              <a:t>The boundary between the two approaches is the boundary</a:t>
            </a:r>
            <a:endParaRPr lang="en-US" sz="2200" dirty="0"/>
          </a:p>
          <a:p>
            <a:pPr algn="ctr" indent="0" marL="0">
              <a:buNone/>
            </a:pPr>
            <a:r>
              <a:rPr lang="en-US" sz="2200" b="1" dirty="0">
                <a:solidFill>
                  <a:srgbClr val="1A1A1A"/>
                </a:solidFill>
                <a:latin typeface="Cambria" pitchFamily="34" charset="0"/>
                <a:ea typeface="Cambria" pitchFamily="34" charset="-122"/>
                <a:cs typeface="Cambria" pitchFamily="34" charset="-120"/>
              </a:rPr>
              <a:t>between structure and semantics.</a:t>
            </a:r>
            <a:endParaRPr lang="en-US" sz="2200" dirty="0"/>
          </a:p>
        </p:txBody>
      </p:sp>
      <p:sp>
        <p:nvSpPr>
          <p:cNvPr id="10" name="Text 8"/>
          <p:cNvSpPr/>
          <p:nvPr/>
        </p:nvSpPr>
        <p:spPr>
          <a:xfrm>
            <a:off x="1463040" y="2971800"/>
            <a:ext cx="9235440" cy="685800"/>
          </a:xfrm>
          <a:prstGeom prst="rect">
            <a:avLst/>
          </a:prstGeom>
          <a:noFill/>
          <a:ln/>
        </p:spPr>
        <p:txBody>
          <a:bodyPr wrap="square" lIns="0" tIns="0" rIns="0" bIns="0" rtlCol="0" anchor="ctr"/>
          <a:lstStyle/>
          <a:p>
            <a:pPr algn="ctr" indent="0" marL="0">
              <a:buNone/>
            </a:pPr>
            <a:r>
              <a:rPr lang="en-US" sz="1300" dirty="0">
                <a:solidFill>
                  <a:srgbClr val="6E7377"/>
                </a:solidFill>
                <a:latin typeface="Calibri" pitchFamily="34" charset="0"/>
                <a:ea typeface="Calibri" pitchFamily="34" charset="-122"/>
                <a:cs typeface="Calibri" pitchFamily="34" charset="-120"/>
              </a:rPr>
              <a:t>A system that respects that boundary is better than either pure approach. Identifying where it falls — with measurements rather than assertion — was the objective of this work.</a:t>
            </a:r>
            <a:endParaRPr lang="en-US" sz="1300" dirty="0"/>
          </a:p>
        </p:txBody>
      </p:sp>
      <p:sp>
        <p:nvSpPr>
          <p:cNvPr id="11" name="Shape 9"/>
          <p:cNvSpPr/>
          <p:nvPr/>
        </p:nvSpPr>
        <p:spPr>
          <a:xfrm>
            <a:off x="822960" y="3886200"/>
            <a:ext cx="4937760" cy="1463040"/>
          </a:xfrm>
          <a:prstGeom prst="roundRect">
            <a:avLst>
              <a:gd name="adj" fmla="val 3750"/>
            </a:avLst>
          </a:prstGeom>
          <a:solidFill>
            <a:srgbClr val="E8F2F3"/>
          </a:solidFill>
          <a:ln w="9525">
            <a:solidFill>
              <a:srgbClr val="E8F2F3"/>
            </a:solidFill>
            <a:prstDash val="solid"/>
          </a:ln>
        </p:spPr>
      </p:sp>
      <p:sp>
        <p:nvSpPr>
          <p:cNvPr id="12" name="Text 10"/>
          <p:cNvSpPr/>
          <p:nvPr/>
        </p:nvSpPr>
        <p:spPr>
          <a:xfrm>
            <a:off x="1143000" y="4069080"/>
            <a:ext cx="4389120" cy="274320"/>
          </a:xfrm>
          <a:prstGeom prst="rect">
            <a:avLst/>
          </a:prstGeom>
          <a:noFill/>
          <a:ln/>
        </p:spPr>
        <p:txBody>
          <a:bodyPr wrap="square" lIns="0" tIns="0" rIns="0" bIns="0" rtlCol="0" anchor="ctr"/>
          <a:lstStyle/>
          <a:p>
            <a:pPr indent="0" marL="0">
              <a:buNone/>
            </a:pPr>
            <a:r>
              <a:rPr lang="en-US" sz="1200" b="1" dirty="0">
                <a:solidFill>
                  <a:srgbClr val="037C87"/>
                </a:solidFill>
                <a:latin typeface="Calibri" pitchFamily="34" charset="0"/>
                <a:ea typeface="Calibri" pitchFamily="34" charset="-122"/>
                <a:cs typeface="Calibri" pitchFamily="34" charset="-120"/>
              </a:rPr>
              <a:t>Pipeline A wins on</a:t>
            </a:r>
            <a:endParaRPr lang="en-US" sz="1200" dirty="0"/>
          </a:p>
        </p:txBody>
      </p:sp>
      <p:sp>
        <p:nvSpPr>
          <p:cNvPr id="13" name="Text 11"/>
          <p:cNvSpPr/>
          <p:nvPr/>
        </p:nvSpPr>
        <p:spPr>
          <a:xfrm>
            <a:off x="1143000" y="4389120"/>
            <a:ext cx="4389120" cy="77724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Determinism · cost · reliability · traceability · structural abstraction</a:t>
            </a:r>
            <a:endParaRPr lang="en-US" sz="1250" dirty="0"/>
          </a:p>
        </p:txBody>
      </p:sp>
      <p:sp>
        <p:nvSpPr>
          <p:cNvPr id="14" name="Shape 12"/>
          <p:cNvSpPr/>
          <p:nvPr/>
        </p:nvSpPr>
        <p:spPr>
          <a:xfrm>
            <a:off x="6355080" y="3886200"/>
            <a:ext cx="4937760" cy="1463040"/>
          </a:xfrm>
          <a:prstGeom prst="roundRect">
            <a:avLst>
              <a:gd name="adj" fmla="val 3750"/>
            </a:avLst>
          </a:prstGeom>
          <a:solidFill>
            <a:srgbClr val="F7ECEA"/>
          </a:solidFill>
          <a:ln w="9525">
            <a:solidFill>
              <a:srgbClr val="F7ECEA"/>
            </a:solidFill>
            <a:prstDash val="solid"/>
          </a:ln>
        </p:spPr>
      </p:sp>
      <p:sp>
        <p:nvSpPr>
          <p:cNvPr id="15" name="Text 13"/>
          <p:cNvSpPr/>
          <p:nvPr/>
        </p:nvSpPr>
        <p:spPr>
          <a:xfrm>
            <a:off x="6675120" y="4069080"/>
            <a:ext cx="4389120" cy="274320"/>
          </a:xfrm>
          <a:prstGeom prst="rect">
            <a:avLst/>
          </a:prstGeom>
          <a:noFill/>
          <a:ln/>
        </p:spPr>
        <p:txBody>
          <a:bodyPr wrap="square" lIns="0" tIns="0" rIns="0" bIns="0" rtlCol="0" anchor="ctr"/>
          <a:lstStyle/>
          <a:p>
            <a:pPr indent="0" marL="0">
              <a:buNone/>
            </a:pPr>
            <a:r>
              <a:rPr lang="en-US" sz="1200" b="1" dirty="0">
                <a:solidFill>
                  <a:srgbClr val="B85042"/>
                </a:solidFill>
                <a:latin typeface="Calibri" pitchFamily="34" charset="0"/>
                <a:ea typeface="Calibri" pitchFamily="34" charset="-122"/>
                <a:cs typeface="Calibri" pitchFamily="34" charset="-120"/>
              </a:rPr>
              <a:t>Pipeline B wins on</a:t>
            </a:r>
            <a:endParaRPr lang="en-US" sz="1200" dirty="0"/>
          </a:p>
        </p:txBody>
      </p:sp>
      <p:sp>
        <p:nvSpPr>
          <p:cNvPr id="16" name="Text 14"/>
          <p:cNvSpPr/>
          <p:nvPr/>
        </p:nvSpPr>
        <p:spPr>
          <a:xfrm>
            <a:off x="6675120" y="4389120"/>
            <a:ext cx="4389120" cy="77724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Method naming · inferring an unfamiliar convention unprompted</a:t>
            </a:r>
            <a:endParaRPr lang="en-US" sz="1250" dirty="0"/>
          </a:p>
        </p:txBody>
      </p:sp>
      <p:sp>
        <p:nvSpPr>
          <p:cNvPr id="17" name="Text 15"/>
          <p:cNvSpPr/>
          <p:nvPr/>
        </p:nvSpPr>
        <p:spPr>
          <a:xfrm>
            <a:off x="822960" y="5577840"/>
            <a:ext cx="10469880" cy="411480"/>
          </a:xfrm>
          <a:prstGeom prst="rect">
            <a:avLst/>
          </a:prstGeom>
          <a:noFill/>
          <a:ln/>
        </p:spPr>
        <p:txBody>
          <a:bodyPr wrap="square" lIns="0" tIns="0" rIns="0" bIns="0" rtlCol="0" anchor="ctr"/>
          <a:lstStyle/>
          <a:p>
            <a:pPr algn="ctr" indent="0" marL="0">
              <a:buNone/>
            </a:pPr>
            <a:r>
              <a:rPr lang="en-US" sz="1300" b="1" dirty="0">
                <a:solidFill>
                  <a:srgbClr val="074D83"/>
                </a:solidFill>
                <a:latin typeface="Calibri" pitchFamily="34" charset="0"/>
                <a:ea typeface="Calibri" pitchFamily="34" charset="-122"/>
                <a:cs typeface="Calibri" pitchFamily="34" charset="-120"/>
              </a:rPr>
              <a:t>Both produced defects. Both are reported.</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pic>
        <p:nvPicPr>
          <p:cNvPr id="2" name="Image 0" descr="img/enset-logo.png">    </p:cNvPr>
          <p:cNvPicPr>
            <a:picLocks noChangeAspect="1"/>
          </p:cNvPicPr>
          <p:nvPr/>
        </p:nvPicPr>
        <p:blipFill>
          <a:blip r:embed="rId1"/>
          <a:stretch>
            <a:fillRect/>
          </a:stretch>
        </p:blipFill>
        <p:spPr>
          <a:xfrm>
            <a:off x="5330952" y="1965960"/>
            <a:ext cx="1527048" cy="356616"/>
          </a:xfrm>
          <a:prstGeom prst="rect">
            <a:avLst/>
          </a:prstGeom>
        </p:spPr>
      </p:pic>
      <p:sp>
        <p:nvSpPr>
          <p:cNvPr id="3" name="Text 0"/>
          <p:cNvSpPr/>
          <p:nvPr/>
        </p:nvSpPr>
        <p:spPr>
          <a:xfrm>
            <a:off x="822960" y="2834640"/>
            <a:ext cx="10515600" cy="731520"/>
          </a:xfrm>
          <a:prstGeom prst="rect">
            <a:avLst/>
          </a:prstGeom>
          <a:noFill/>
          <a:ln/>
        </p:spPr>
        <p:txBody>
          <a:bodyPr wrap="square" lIns="0" tIns="0" rIns="0" bIns="0" rtlCol="0" anchor="ctr"/>
          <a:lstStyle/>
          <a:p>
            <a:pPr algn="ctr" indent="0" marL="0">
              <a:buNone/>
            </a:pPr>
            <a:r>
              <a:rPr lang="en-US" sz="3400" b="1" dirty="0">
                <a:solidFill>
                  <a:srgbClr val="1A1A1A"/>
                </a:solidFill>
                <a:latin typeface="Cambria" pitchFamily="34" charset="0"/>
                <a:ea typeface="Cambria" pitchFamily="34" charset="-122"/>
                <a:cs typeface="Cambria" pitchFamily="34" charset="-120"/>
              </a:rPr>
              <a:t>Merci pour votre attention</a:t>
            </a:r>
            <a:endParaRPr lang="en-US" sz="3400" dirty="0"/>
          </a:p>
        </p:txBody>
      </p:sp>
      <p:sp>
        <p:nvSpPr>
          <p:cNvPr id="4" name="Text 1"/>
          <p:cNvSpPr/>
          <p:nvPr/>
        </p:nvSpPr>
        <p:spPr>
          <a:xfrm>
            <a:off x="822960" y="3611880"/>
            <a:ext cx="10515600" cy="457200"/>
          </a:xfrm>
          <a:prstGeom prst="rect">
            <a:avLst/>
          </a:prstGeom>
          <a:noFill/>
          <a:ln/>
        </p:spPr>
        <p:txBody>
          <a:bodyPr wrap="square" lIns="0" tIns="0" rIns="0" bIns="0" rtlCol="0" anchor="ctr"/>
          <a:lstStyle/>
          <a:p>
            <a:pPr algn="ctr" indent="0" marL="0">
              <a:buNone/>
            </a:pPr>
            <a:r>
              <a:rPr lang="en-US" sz="1700" dirty="0">
                <a:solidFill>
                  <a:srgbClr val="074D83"/>
                </a:solidFill>
                <a:latin typeface="Calibri" pitchFamily="34" charset="0"/>
                <a:ea typeface="Calibri" pitchFamily="34" charset="-122"/>
                <a:cs typeface="Calibri" pitchFamily="34" charset="-120"/>
              </a:rPr>
              <a:t>Questions</a:t>
            </a:r>
            <a:endParaRPr lang="en-US" sz="1700" dirty="0"/>
          </a:p>
        </p:txBody>
      </p:sp>
      <p:sp>
        <p:nvSpPr>
          <p:cNvPr id="5" name="Shape 2"/>
          <p:cNvSpPr/>
          <p:nvPr/>
        </p:nvSpPr>
        <p:spPr>
          <a:xfrm>
            <a:off x="4754880" y="4343400"/>
            <a:ext cx="2651760" cy="0"/>
          </a:xfrm>
          <a:prstGeom prst="line">
            <a:avLst/>
          </a:prstGeom>
          <a:noFill/>
          <a:ln w="12700">
            <a:solidFill>
              <a:srgbClr val="B9C0C4"/>
            </a:solidFill>
            <a:prstDash val="solid"/>
          </a:ln>
        </p:spPr>
      </p:sp>
      <p:sp>
        <p:nvSpPr>
          <p:cNvPr id="6" name="Text 3"/>
          <p:cNvSpPr/>
          <p:nvPr/>
        </p:nvSpPr>
        <p:spPr>
          <a:xfrm>
            <a:off x="822960" y="4526280"/>
            <a:ext cx="10515600" cy="731520"/>
          </a:xfrm>
          <a:prstGeom prst="rect">
            <a:avLst/>
          </a:prstGeom>
          <a:noFill/>
          <a:ln/>
        </p:spPr>
        <p:txBody>
          <a:bodyPr wrap="square" lIns="0" tIns="0" rIns="0" bIns="0" rtlCol="0" anchor="ctr"/>
          <a:lstStyle/>
          <a:p>
            <a:pPr algn="ctr" indent="0" marL="0">
              <a:buNone/>
            </a:pPr>
            <a:r>
              <a:rPr lang="en-US" sz="1150" dirty="0">
                <a:solidFill>
                  <a:srgbClr val="6E7377"/>
                </a:solidFill>
                <a:latin typeface="Calibri" pitchFamily="34" charset="0"/>
                <a:ea typeface="Calibri" pitchFamily="34" charset="-122"/>
                <a:cs typeface="Calibri" pitchFamily="34" charset="-120"/>
              </a:rPr>
              <a:t>All artefacts, the measurement scripts and the evaluation workbook accompany the report.</a:t>
            </a:r>
            <a:endParaRPr lang="en-US" sz="1150" dirty="0"/>
          </a:p>
          <a:p>
            <a:pPr algn="ctr" indent="0" marL="0">
              <a:buNone/>
            </a:pPr>
            <a:r>
              <a:rPr lang="en-US" sz="1150" dirty="0">
                <a:solidFill>
                  <a:srgbClr val="6E7377"/>
                </a:solidFill>
                <a:latin typeface="Calibri" pitchFamily="34" charset="0"/>
                <a:ea typeface="Calibri" pitchFamily="34" charset="-122"/>
                <a:cs typeface="Calibri" pitchFamily="34" charset="-120"/>
              </a:rPr>
              <a:t>Every figure in Chapter VI can be recomputed offline from the retained files.</a:t>
            </a:r>
            <a:endParaRPr lang="en-US" sz="1150" dirty="0"/>
          </a:p>
        </p:txBody>
      </p:sp>
      <p:sp>
        <p:nvSpPr>
          <p:cNvPr id="7" name="Text 4"/>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BACKUP — DETAIL SLIDES FOR QUESTIONS</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46</a:t>
            </a:r>
            <a:endParaRPr lang="en-US" sz="900" dirty="0"/>
          </a:p>
        </p:txBody>
      </p:sp>
      <p:sp>
        <p:nvSpPr>
          <p:cNvPr id="7" name="Shape 5"/>
          <p:cNvSpPr/>
          <p:nvPr/>
        </p:nvSpPr>
        <p:spPr>
          <a:xfrm>
            <a:off x="3108960" y="3310128"/>
            <a:ext cx="5943600" cy="0"/>
          </a:xfrm>
          <a:prstGeom prst="line">
            <a:avLst/>
          </a:prstGeom>
          <a:noFill/>
          <a:ln w="12700">
            <a:solidFill>
              <a:srgbClr val="B9C0C4"/>
            </a:solidFill>
            <a:prstDash val="solid"/>
          </a:ln>
        </p:spPr>
      </p:sp>
      <p:sp>
        <p:nvSpPr>
          <p:cNvPr id="8" name="Text 6"/>
          <p:cNvSpPr/>
          <p:nvPr/>
        </p:nvSpPr>
        <p:spPr>
          <a:xfrm>
            <a:off x="1280160" y="3429000"/>
            <a:ext cx="9601200" cy="685800"/>
          </a:xfrm>
          <a:prstGeom prst="rect">
            <a:avLst/>
          </a:prstGeom>
          <a:noFill/>
          <a:ln/>
        </p:spPr>
        <p:txBody>
          <a:bodyPr wrap="square" lIns="0" tIns="0" rIns="0" bIns="0" rtlCol="0" anchor="ctr"/>
          <a:lstStyle/>
          <a:p>
            <a:pPr algn="ctr" indent="0" marL="0">
              <a:buNone/>
            </a:pPr>
            <a:r>
              <a:rPr lang="en-US" sz="2600" dirty="0">
                <a:solidFill>
                  <a:srgbClr val="1A1A1A"/>
                </a:solidFill>
                <a:latin typeface="Calibri" pitchFamily="34" charset="0"/>
                <a:ea typeface="Calibri" pitchFamily="34" charset="-122"/>
                <a:cs typeface="Calibri" pitchFamily="34" charset="-120"/>
              </a:rPr>
              <a:t>BACKUP — DETAIL SLIDES FOR QUESTIONS</a:t>
            </a:r>
            <a:endParaRPr lang="en-US" sz="2600" dirty="0"/>
          </a:p>
        </p:txBody>
      </p:sp>
      <p:sp>
        <p:nvSpPr>
          <p:cNvPr id="9" name="Shape 7"/>
          <p:cNvSpPr/>
          <p:nvPr/>
        </p:nvSpPr>
        <p:spPr>
          <a:xfrm>
            <a:off x="3108960" y="4206240"/>
            <a:ext cx="5943600" cy="0"/>
          </a:xfrm>
          <a:prstGeom prst="line">
            <a:avLst/>
          </a:prstGeom>
          <a:noFill/>
          <a:ln w="12700">
            <a:solidFill>
              <a:srgbClr val="B9C0C4"/>
            </a:solidFill>
            <a:prstDash val="solid"/>
          </a:ln>
        </p:spPr>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BACKUP</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47</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All measurements, page P1</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822960" y="1691640"/>
          <a:ext cx="10469880" cy="914400"/>
        </p:xfrm>
        <a:graphic>
          <a:graphicData uri="http://schemas.openxmlformats.org/drawingml/2006/table">
            <a:tbl>
              <a:tblPr/>
              <a:tblGrid>
                <a:gridCol w="4160520"/>
                <a:gridCol w="3154680"/>
                <a:gridCol w="3154680"/>
              </a:tblGrid>
              <a:tr h="36576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b="1" dirty="0">
                          <a:solidFill>
                            <a:srgbClr val="037C87"/>
                          </a:solidFill>
                          <a:latin typeface="Calibri" pitchFamily="34" charset="0"/>
                          <a:ea typeface="Calibri" pitchFamily="34" charset="-122"/>
                          <a:cs typeface="Calibri" pitchFamily="34" charset="-120"/>
                        </a:rPr>
                        <a:t>Pipeline A</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b="1" dirty="0">
                          <a:solidFill>
                            <a:srgbClr val="B85042"/>
                          </a:solidFill>
                          <a:latin typeface="Calibri" pitchFamily="34" charset="0"/>
                          <a:ea typeface="Calibri" pitchFamily="34" charset="-122"/>
                          <a:cs typeface="Calibri" pitchFamily="34" charset="-120"/>
                        </a:rPr>
                        <a:t>Pipeline B</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Determinism (3 runs)</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byte-identical</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all three differ</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Compiles unmodified</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3 / 3</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 / 3</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Prompt tokens</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13,115 per run</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Output tokens</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617 / 772 / 847</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Latency</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no model call</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3,125 / 3,342 / 2,918 ms</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Cost, 3 runs</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$0.00</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$0.0132</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Elements addressed (body scope)</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25 / 25</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Locators resolving</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 / 7 → 7 / 7 after fixes</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run 3: 19 / 19</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API calls</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 per run</a:t>
                      </a:r>
                      <a:endParaRPr lang="en-US" sz="1200" dirty="0">
                        <a:latin typeface="Calibri" charset="0"/>
                        <a:ea typeface="Calibri" charset="0"/>
                        <a:cs typeface="Calibri" charset="0"/>
                      </a:endParaRPr>
                    </a:p>
                  </a:txBody>
                  <a:tcPr marL="88900" marR="88900" marT="88900" marB="889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bl>
          </a:graphicData>
        </a:graphic>
      </p:graphicFrame>
      <p:sp>
        <p:nvSpPr>
          <p:cNvPr id="10" name="Text 7"/>
          <p:cNvSpPr/>
          <p:nvPr/>
        </p:nvSpPr>
        <p:spPr>
          <a:xfrm>
            <a:off x="822960" y="5760720"/>
            <a:ext cx="10469880" cy="365760"/>
          </a:xfrm>
          <a:prstGeom prst="rect">
            <a:avLst/>
          </a:prstGeom>
          <a:noFill/>
          <a:ln/>
        </p:spPr>
        <p:txBody>
          <a:bodyPr wrap="square" lIns="0" tIns="0" rIns="0" bIns="0" rtlCol="0" anchor="ctr"/>
          <a:lstStyle/>
          <a:p>
            <a:pPr indent="0" marL="0">
              <a:buNone/>
            </a:pPr>
            <a:r>
              <a:rPr lang="en-US" sz="1050" i="1" dirty="0">
                <a:solidFill>
                  <a:srgbClr val="6E7377"/>
                </a:solidFill>
                <a:latin typeface="Calibri" pitchFamily="34" charset="0"/>
                <a:ea typeface="Calibri" pitchFamily="34" charset="-122"/>
                <a:cs typeface="Calibri" pitchFamily="34" charset="-120"/>
              </a:rPr>
              <a:t>Ground truth: 29 interactive elements page-wide; 26 in the body region, of which 25 are of the kinds the parser collects.</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BACKUP</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48</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Defect log — both pipelines, same severity scale</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822960" y="1645920"/>
          <a:ext cx="10469880" cy="914400"/>
        </p:xfrm>
        <a:graphic>
          <a:graphicData uri="http://schemas.openxmlformats.org/drawingml/2006/table">
            <a:tbl>
              <a:tblPr/>
              <a:tblGrid>
                <a:gridCol w="731520"/>
                <a:gridCol w="1051560"/>
                <a:gridCol w="8686800"/>
              </a:tblGrid>
              <a:tr h="36576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Pipeline</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Defect</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D1</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Hallucinated By.dataTest — 11× run 1, 15× run 2. Neither compiles.</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D2</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Non-deterministic output from identical input; three different digests.</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D3</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type() called on a &lt;select&gt;; all three runs. A systematic error, not sampling noise.</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D4</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Fabricated a locator and documented the guess in a comment.</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D5</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 503 from the model service destroyed a complete run, including the manual login.</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D6</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Component role named from one card’s product text: 1 of 6 instances resolve.</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D8</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Card that IS the interactive element searched inside itself: 0 of 4 resolve.</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D9</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data-qa element emitted a [data-test=…] locator. Latent — never fired on either site.</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D11</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No escaping of quotes in emitted XPath / Java literals. Latent.</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r h="36576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D12</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When it compiled, all 19 of its locators were correct.</a:t>
                      </a:r>
                      <a:endParaRPr lang="en-US" sz="1100" dirty="0">
                        <a:latin typeface="Calibri" charset="0"/>
                        <a:ea typeface="Calibri" charset="0"/>
                        <a:cs typeface="Calibri" charset="0"/>
                      </a:endParaRPr>
                    </a:p>
                  </a:txBody>
                  <a:tcPr marL="76200" marR="76200" marT="76200" marB="76200" anchor="ctr">
                    <a:lnL w="9525" cap="flat" cmpd="sng" algn="ctr">
                      <a:solidFill>
                        <a:srgbClr val="B9C0C4"/>
                      </a:solidFill>
                      <a:prstDash val="solid"/>
                      <a:round/>
                      <a:headEnd type="none" w="med" len="med"/>
                      <a:tailEnd type="none" w="med" len="med"/>
                    </a:lnL>
                    <a:lnR w="9525" cap="flat" cmpd="sng" algn="ctr">
                      <a:solidFill>
                        <a:srgbClr val="B9C0C4"/>
                      </a:solidFill>
                      <a:prstDash val="solid"/>
                      <a:round/>
                      <a:headEnd type="none" w="med" len="med"/>
                      <a:tailEnd type="none" w="med" len="med"/>
                    </a:lnR>
                    <a:lnT w="9525" cap="flat" cmpd="sng" algn="ctr">
                      <a:solidFill>
                        <a:srgbClr val="B9C0C4"/>
                      </a:solidFill>
                      <a:prstDash val="solid"/>
                      <a:round/>
                      <a:headEnd type="none" w="med" len="med"/>
                      <a:tailEnd type="none" w="med" len="med"/>
                    </a:lnT>
                    <a:lnB w="9525" cap="flat" cmpd="sng" algn="ctr">
                      <a:solidFill>
                        <a:srgbClr val="B9C0C4"/>
                      </a:solidFill>
                      <a:prstDash val="solid"/>
                      <a:round/>
                      <a:headEnd type="none" w="med" len="med"/>
                      <a:tailEnd type="none" w="med" len="med"/>
                    </a:lnB>
                  </a:tcPr>
                </a:tc>
              </a:tr>
            </a:tbl>
          </a:graphicData>
        </a:graphic>
      </p:graphicFrame>
      <p:sp>
        <p:nvSpPr>
          <p:cNvPr id="10" name="Text 7"/>
          <p:cNvSpPr/>
          <p:nvPr/>
        </p:nvSpPr>
        <p:spPr>
          <a:xfrm>
            <a:off x="822960" y="5806440"/>
            <a:ext cx="10469880" cy="365760"/>
          </a:xfrm>
          <a:prstGeom prst="rect">
            <a:avLst/>
          </a:prstGeom>
          <a:noFill/>
          <a:ln/>
        </p:spPr>
        <p:txBody>
          <a:bodyPr wrap="square" lIns="0" tIns="0" rIns="0" bIns="0" rtlCol="0" anchor="ctr"/>
          <a:lstStyle/>
          <a:p>
            <a:pPr indent="0" marL="0">
              <a:buNone/>
            </a:pPr>
            <a:r>
              <a:rPr lang="en-US" sz="1050" i="1" dirty="0">
                <a:solidFill>
                  <a:srgbClr val="6E7377"/>
                </a:solidFill>
                <a:latin typeface="Calibri" pitchFamily="34" charset="0"/>
                <a:ea typeface="Calibri" pitchFamily="34" charset="-122"/>
                <a:cs typeface="Calibri" pitchFamily="34" charset="-120"/>
              </a:rPr>
              <a:t>D8–D12 were found in a systematic post-campaign audit. All four Pipeline A defects have since been fixed, each with a regression test.</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2024" y="118872"/>
            <a:ext cx="9966960" cy="310896"/>
          </a:xfrm>
          <a:prstGeom prst="rect">
            <a:avLst/>
          </a:prstGeom>
          <a:noFill/>
          <a:ln/>
        </p:spPr>
        <p:txBody>
          <a:bodyPr wrap="square" lIns="0" tIns="0" rIns="0" bIns="0" rtlCol="0" anchor="ctr"/>
          <a:lstStyle/>
          <a:p>
            <a:pPr indent="0" marL="0">
              <a:buNone/>
            </a:pPr>
            <a:r>
              <a:rPr lang="en-US" sz="1100" b="1" spc="60" kern="0" dirty="0">
                <a:solidFill>
                  <a:srgbClr val="6E7377"/>
                </a:solidFill>
                <a:latin typeface="Calibri" pitchFamily="34" charset="0"/>
                <a:ea typeface="Calibri" pitchFamily="34" charset="-122"/>
                <a:cs typeface="Calibri" pitchFamily="34" charset="-120"/>
              </a:rPr>
              <a:t>BACKUP</a:t>
            </a:r>
            <a:endParaRPr lang="en-US" sz="1100" dirty="0"/>
          </a:p>
        </p:txBody>
      </p:sp>
      <p:sp>
        <p:nvSpPr>
          <p:cNvPr id="3" name="Shape 1"/>
          <p:cNvSpPr/>
          <p:nvPr/>
        </p:nvSpPr>
        <p:spPr>
          <a:xfrm>
            <a:off x="192024" y="566928"/>
            <a:ext cx="11795760" cy="0"/>
          </a:xfrm>
          <a:prstGeom prst="line">
            <a:avLst/>
          </a:prstGeom>
          <a:noFill/>
          <a:ln w="9525">
            <a:solidFill>
              <a:srgbClr val="B9C0C4"/>
            </a:solidFill>
            <a:prstDash val="solid"/>
          </a:ln>
        </p:spPr>
      </p:sp>
      <p:sp>
        <p:nvSpPr>
          <p:cNvPr id="4" name="Shape 2"/>
          <p:cNvSpPr/>
          <p:nvPr/>
        </p:nvSpPr>
        <p:spPr>
          <a:xfrm>
            <a:off x="192024" y="6400800"/>
            <a:ext cx="11795760" cy="0"/>
          </a:xfrm>
          <a:prstGeom prst="line">
            <a:avLst/>
          </a:prstGeom>
          <a:noFill/>
          <a:ln w="9525">
            <a:solidFill>
              <a:srgbClr val="B9C0C4"/>
            </a:solidFill>
            <a:prstDash val="solid"/>
          </a:ln>
        </p:spPr>
      </p:sp>
      <p:sp>
        <p:nvSpPr>
          <p:cNvPr id="5" name="Text 3"/>
          <p:cNvSpPr/>
          <p:nvPr/>
        </p:nvSpPr>
        <p:spPr>
          <a:xfrm>
            <a:off x="192024" y="6455664"/>
            <a:ext cx="7315200" cy="274320"/>
          </a:xfrm>
          <a:prstGeom prst="rect">
            <a:avLst/>
          </a:prstGeom>
          <a:noFill/>
          <a:ln/>
        </p:spPr>
        <p:txBody>
          <a:bodyPr wrap="square" lIns="0" tIns="0" rIns="0" bIns="0" rtlCol="0" anchor="ctr"/>
          <a:lstStyle/>
          <a:p>
            <a:pPr indent="0" marL="0">
              <a:buNone/>
            </a:pPr>
            <a:r>
              <a:rPr lang="en-US" sz="850" dirty="0">
                <a:solidFill>
                  <a:srgbClr val="6E7377"/>
                </a:solidFill>
                <a:latin typeface="Calibri" pitchFamily="34" charset="0"/>
                <a:ea typeface="Calibri" pitchFamily="34" charset="-122"/>
                <a:cs typeface="Calibri" pitchFamily="34" charset="-120"/>
              </a:rPr>
              <a:t>SOUTENANCE DE PROJET DE FIN D’ÉTUDES – [ YOUR NAME ]</a:t>
            </a:r>
            <a:endParaRPr lang="en-US" sz="850" dirty="0"/>
          </a:p>
        </p:txBody>
      </p:sp>
      <p:sp>
        <p:nvSpPr>
          <p:cNvPr id="6" name="Text 4"/>
          <p:cNvSpPr/>
          <p:nvPr/>
        </p:nvSpPr>
        <p:spPr>
          <a:xfrm>
            <a:off x="11292840" y="6455664"/>
            <a:ext cx="694944" cy="274320"/>
          </a:xfrm>
          <a:prstGeom prst="rect">
            <a:avLst/>
          </a:prstGeom>
          <a:noFill/>
          <a:ln/>
        </p:spPr>
        <p:txBody>
          <a:bodyPr wrap="square" lIns="0" tIns="0" rIns="0" bIns="0" rtlCol="0" anchor="ctr"/>
          <a:lstStyle/>
          <a:p>
            <a:pPr algn="r" indent="0" marL="0">
              <a:buNone/>
            </a:pPr>
            <a:r>
              <a:rPr lang="en-US" sz="900" dirty="0">
                <a:solidFill>
                  <a:srgbClr val="6E7377"/>
                </a:solidFill>
                <a:latin typeface="Calibri" pitchFamily="34" charset="0"/>
                <a:ea typeface="Calibri" pitchFamily="34" charset="-122"/>
                <a:cs typeface="Calibri" pitchFamily="34" charset="-120"/>
              </a:rPr>
              <a:t>49</a:t>
            </a:r>
            <a:endParaRPr lang="en-US" sz="900" dirty="0"/>
          </a:p>
        </p:txBody>
      </p:sp>
      <p:sp>
        <p:nvSpPr>
          <p:cNvPr id="7" name="Text 5"/>
          <p:cNvSpPr/>
          <p:nvPr/>
        </p:nvSpPr>
        <p:spPr>
          <a:xfrm>
            <a:off x="1280160" y="786384"/>
            <a:ext cx="9601200" cy="402336"/>
          </a:xfrm>
          <a:prstGeom prst="rect">
            <a:avLst/>
          </a:prstGeom>
          <a:noFill/>
          <a:ln/>
        </p:spPr>
        <p:txBody>
          <a:bodyPr wrap="square" lIns="0" tIns="0" rIns="0" bIns="0" rtlCol="0" anchor="ctr"/>
          <a:lstStyle/>
          <a:p>
            <a:pPr algn="ctr" indent="0" marL="0">
              <a:buNone/>
            </a:pPr>
            <a:r>
              <a:rPr lang="en-US" sz="1900" b="1" dirty="0">
                <a:solidFill>
                  <a:srgbClr val="1A1A1A"/>
                </a:solidFill>
                <a:latin typeface="Calibri" pitchFamily="34" charset="0"/>
                <a:ea typeface="Calibri" pitchFamily="34" charset="-122"/>
                <a:cs typeface="Calibri" pitchFamily="34" charset="-120"/>
              </a:rPr>
              <a:t>Repeated-component detection — activity diagram</a:t>
            </a:r>
            <a:endParaRPr lang="en-US" sz="1900" dirty="0"/>
          </a:p>
        </p:txBody>
      </p:sp>
      <p:sp>
        <p:nvSpPr>
          <p:cNvPr id="8" name="Shape 6"/>
          <p:cNvSpPr/>
          <p:nvPr/>
        </p:nvSpPr>
        <p:spPr>
          <a:xfrm>
            <a:off x="3657600" y="1207008"/>
            <a:ext cx="4846320" cy="0"/>
          </a:xfrm>
          <a:prstGeom prst="line">
            <a:avLst/>
          </a:prstGeom>
          <a:noFill/>
          <a:ln w="12700">
            <a:solidFill>
              <a:srgbClr val="1A1A1A"/>
            </a:solidFill>
            <a:prstDash val="solid"/>
          </a:ln>
        </p:spPr>
      </p:sp>
      <p:pic>
        <p:nvPicPr>
          <p:cNvPr id="9" name="Image 0" descr="img/fig07.png">    </p:cNvPr>
          <p:cNvPicPr>
            <a:picLocks noChangeAspect="1"/>
          </p:cNvPicPr>
          <p:nvPr/>
        </p:nvPicPr>
        <p:blipFill>
          <a:blip r:embed="rId1"/>
          <a:stretch>
            <a:fillRect/>
          </a:stretch>
        </p:blipFill>
        <p:spPr>
          <a:xfrm>
            <a:off x="4160520" y="1600200"/>
            <a:ext cx="3840480" cy="4251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AI-Assisted Generation of Selenium Page Objects</dc:title>
  <dc:subject>PptxGenJS Presentation</dc:subject>
  <dc:creator>PptxGenJS</dc:creator>
  <cp:lastModifiedBy>PptxGenJS</cp:lastModifiedBy>
  <cp:revision>1</cp:revision>
  <dcterms:created xsi:type="dcterms:W3CDTF">2026-08-08T19:54:48Z</dcterms:created>
  <dcterms:modified xsi:type="dcterms:W3CDTF">2026-08-08T19:54:48Z</dcterms:modified>
</cp:coreProperties>
</file>